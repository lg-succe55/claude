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ketch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0"/>
            <a:ext cx="2712567" cy="3383280"/>
          </a:xfrm>
          <a:prstGeom prst="rect">
            <a:avLst/>
          </a:prstGeom>
        </p:spPr>
      </p:pic>
      <p:pic>
        <p:nvPicPr>
          <p:cNvPr id="4" name="Picture 3" descr="clean_render_blue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127" y="0"/>
            <a:ext cx="2712567" cy="3383280"/>
          </a:xfrm>
          <a:prstGeom prst="rect">
            <a:avLst/>
          </a:prstGeom>
        </p:spPr>
      </p:pic>
      <p:pic>
        <p:nvPicPr>
          <p:cNvPr id="5" name="Picture 4" descr="ar_studio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474720"/>
            <a:ext cx="2712567" cy="3383280"/>
          </a:xfrm>
          <a:prstGeom prst="rect">
            <a:avLst/>
          </a:prstGeom>
        </p:spPr>
      </p:pic>
      <p:pic>
        <p:nvPicPr>
          <p:cNvPr id="6" name="Picture 5" descr="motion_city_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9127" y="3474720"/>
            <a:ext cx="2712567" cy="3383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75120" y="3383280"/>
            <a:ext cx="5516575" cy="9144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87687" y="0"/>
            <a:ext cx="91440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80">
                <a:solidFill>
                  <a:srgbClr val="F4F4F5"/>
                </a:solidFill>
                <a:latin typeface="Calibri"/>
              </a:rPr>
              <a:t>SKETCH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2007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80">
                <a:solidFill>
                  <a:srgbClr val="F4F4F5"/>
                </a:solidFill>
                <a:latin typeface="Calibri"/>
              </a:rPr>
              <a:t>VIZCOM 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657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80">
                <a:solidFill>
                  <a:srgbClr val="F4F4F5"/>
                </a:solidFill>
                <a:latin typeface="Calibri"/>
              </a:rPr>
              <a:t>AR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2007" y="3657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80">
                <a:solidFill>
                  <a:srgbClr val="F4F4F5"/>
                </a:solidFill>
                <a:latin typeface="Calibri"/>
              </a:rPr>
              <a:t>AI VIDEO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F4F4F5"/>
                </a:solidFill>
                <a:latin typeface="Calibri"/>
              </a:rPr>
              <a:t>STELLANTIS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132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80">
                <a:solidFill>
                  <a:srgbClr val="6F6F7A"/>
                </a:solidFill>
                <a:latin typeface="Calibri"/>
              </a:rPr>
              <a:t>EXECUTIVE UPDATE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34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AI IN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5468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i="0" b="0">
                <a:solidFill>
                  <a:srgbClr val="F4F4F5"/>
                </a:solidFill>
                <a:latin typeface="Georgia"/>
              </a:rPr>
              <a:t>From experimentation
to </a:t>
            </a:r>
            <a:r>
              <a:rPr sz="4400" i="1" b="0">
                <a:solidFill>
                  <a:srgbClr val="E8A87C"/>
                </a:solidFill>
                <a:latin typeface="Georgia"/>
              </a:rPr>
              <a:t>deployment.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4BB"/>
                </a:solidFill>
                <a:latin typeface="Calibri"/>
              </a:rPr>
              <a:t>Where Design has built operational AI capability today — and the direction we are heading next.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989320"/>
            <a:ext cx="5486400" cy="635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80">
                <a:solidFill>
                  <a:srgbClr val="6F6F7A"/>
                </a:solidFill>
                <a:latin typeface="Calibri"/>
              </a:rPr>
              <a:t>PREPARED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367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F4F5"/>
                </a:solidFill>
                <a:latin typeface="Calibri"/>
              </a:rPr>
              <a:t>Lou Gasevski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4B4BB"/>
                </a:solidFill>
                <a:latin typeface="Calibri"/>
              </a:rPr>
              <a:t>Director · Chrysler Design Exterior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126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80">
                <a:solidFill>
                  <a:srgbClr val="6F6F7A"/>
                </a:solidFill>
                <a:latin typeface="Calibri"/>
              </a:rPr>
              <a:t>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63367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F4F5"/>
                </a:solidFill>
                <a:latin typeface="Calibri"/>
              </a:rPr>
              <a:t>Design Leadership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537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4B4BB"/>
                </a:solidFill>
                <a:latin typeface="Calibri"/>
              </a:rPr>
              <a:t>Thiele · Gilles · Krugger · Jones · Zuehlke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01 · THE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02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457200" cy="1905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HOW VEHICLE DESIGN TRADITIONALLY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i="0" b="0">
                <a:solidFill>
                  <a:srgbClr val="F4F4F5"/>
                </a:solidFill>
                <a:latin typeface="Georgia"/>
              </a:rPr>
              <a:t>A sequence of specialist stages — each
delivering value, each </a:t>
            </a:r>
            <a:r>
              <a:rPr sz="2800" i="1" b="0">
                <a:solidFill>
                  <a:srgbClr val="E8A87C"/>
                </a:solidFill>
                <a:latin typeface="Georgia"/>
              </a:rPr>
              <a:t>adding handoff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4BB"/>
                </a:solidFill>
                <a:latin typeface="Calibri"/>
              </a:rPr>
              <a:t>Designer intent moves through many hands before it reaches a leadership decision. Every transition translates the work into a new medium — and a new opportunity for drift.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11880"/>
            <a:ext cx="2194560" cy="384048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25400" cy="384048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758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850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4F5"/>
                </a:solidFill>
                <a:latin typeface="Calibri"/>
              </a:rPr>
              <a:t>Sketch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700784" y="3977640"/>
            <a:ext cx="73152" cy="87782"/>
          </a:xfrm>
          <a:prstGeom prst="downArrow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2194560" cy="384048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25400" cy="384048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33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42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4F5"/>
                </a:solidFill>
                <a:latin typeface="Calibri"/>
              </a:rPr>
              <a:t>Surfacing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700784" y="4434840"/>
            <a:ext cx="73152" cy="87782"/>
          </a:xfrm>
          <a:prstGeom prst="downArrow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526280"/>
            <a:ext cx="2194560" cy="384048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526280"/>
            <a:ext cx="25400" cy="384048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902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5994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4F5"/>
                </a:solidFill>
                <a:latin typeface="Calibri"/>
              </a:rPr>
              <a:t>Clay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700784" y="4892040"/>
            <a:ext cx="73152" cy="87782"/>
          </a:xfrm>
          <a:prstGeom prst="downArrow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983480"/>
            <a:ext cx="2194560" cy="384048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983480"/>
            <a:ext cx="25400" cy="384048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474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566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4F5"/>
                </a:solidFill>
                <a:latin typeface="Calibri"/>
              </a:rPr>
              <a:t>Visualization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700784" y="5349240"/>
            <a:ext cx="73152" cy="87782"/>
          </a:xfrm>
          <a:prstGeom prst="downArrow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440680"/>
            <a:ext cx="2194560" cy="384048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440680"/>
            <a:ext cx="25400" cy="384048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5046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513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4F5"/>
                </a:solidFill>
                <a:latin typeface="Calibri"/>
              </a:rPr>
              <a:t>Animation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700784" y="5806440"/>
            <a:ext cx="73152" cy="87782"/>
          </a:xfrm>
          <a:prstGeom prst="downArrow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897880"/>
            <a:ext cx="2194560" cy="384048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897880"/>
            <a:ext cx="25400" cy="384048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9618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9710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4F5"/>
                </a:solidFill>
                <a:latin typeface="Calibri"/>
              </a:rPr>
              <a:t>Leadership Review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1700784" y="6263640"/>
            <a:ext cx="73152" cy="87782"/>
          </a:xfrm>
          <a:prstGeom prst="downArrow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6355080"/>
            <a:ext cx="2194560" cy="384048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6355080"/>
            <a:ext cx="25400" cy="384048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4F5"/>
                </a:solidFill>
                <a:latin typeface="Calibri"/>
              </a:rPr>
              <a:t>Iteration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3611880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6F6F7A"/>
                </a:solidFill>
                <a:latin typeface="Calibri"/>
              </a:rPr>
              <a:t>WHERE TIME GOES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3977640"/>
            <a:ext cx="7589520" cy="86868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0" y="411480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F4F5"/>
                </a:solidFill>
                <a:latin typeface="Calibri"/>
              </a:rPr>
              <a:t>Specialists in series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38912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B4B4BB"/>
                </a:solidFill>
                <a:latin typeface="Calibri"/>
              </a:rPr>
              <a:t>Each stage depends on the prior one. Designers, CDD, clay modelers, Unreal/VRED teams, animation studios, and external suppliers each take their turn.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31920" y="4937760"/>
            <a:ext cx="7589520" cy="86868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507492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F4F5"/>
                </a:solidFill>
                <a:latin typeface="Calibri"/>
              </a:rPr>
              <a:t>Intent in translation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534924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B4B4BB"/>
                </a:solidFill>
                <a:latin typeface="Calibri"/>
              </a:rPr>
              <a:t>Sketches become surfaces. Surfaces become clay. Clay becomes renders. Each translation absorbs hours and risks losing the original design intent.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5897880"/>
            <a:ext cx="7589520" cy="86868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0" y="603504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F4F5"/>
                </a:solidFill>
                <a:latin typeface="Calibri"/>
              </a:rPr>
              <a:t>Late visibility for leadership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63093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B4B4BB"/>
                </a:solidFill>
                <a:latin typeface="Calibri"/>
              </a:rPr>
              <a:t>Reviews happen after the program has traveled a long way. Course correction is expensive once clay is cut, supplier work is in flight, and animation is rendered.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02 · THE NEW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03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457200" cy="1905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HOW AI + AR CHANGES THE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i="0" b="0">
                <a:solidFill>
                  <a:srgbClr val="F4F4F5"/>
                </a:solidFill>
                <a:latin typeface="Georgia"/>
              </a:rPr>
              <a:t>Fewer hands. Less translation.
</a:t>
            </a:r>
            <a:r>
              <a:rPr sz="2800" i="1" b="0">
                <a:solidFill>
                  <a:srgbClr val="E8A87C"/>
                </a:solidFill>
                <a:latin typeface="Georgia"/>
              </a:rPr>
              <a:t>Earlier, better-informed decisions.</a:t>
            </a:r>
          </a:p>
        </p:txBody>
      </p:sp>
      <p:pic>
        <p:nvPicPr>
          <p:cNvPr id="9" name="Picture 8" descr="sketch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91840"/>
            <a:ext cx="2121408" cy="12801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4572000"/>
            <a:ext cx="2121408" cy="91440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2121408" cy="2540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19472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80">
                <a:solidFill>
                  <a:srgbClr val="F4F4F5"/>
                </a:solidFill>
                <a:latin typeface="Calibri"/>
              </a:rPr>
              <a:t>SKETCH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E8A87C"/>
                </a:solidFill>
                <a:latin typeface="Calibri"/>
              </a:rPr>
              <a:t>Designer intent</a:t>
            </a:r>
          </a:p>
        </p:txBody>
      </p:sp>
      <p:pic>
        <p:nvPicPr>
          <p:cNvPr id="15" name="Picture 14" descr="viz_step4_final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96" y="3291840"/>
            <a:ext cx="2121408" cy="12801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825496" y="4572000"/>
            <a:ext cx="2121408" cy="91440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25496" y="4572000"/>
            <a:ext cx="2121408" cy="2540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8376" y="466344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4919472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80">
                <a:solidFill>
                  <a:srgbClr val="F4F4F5"/>
                </a:solidFill>
                <a:latin typeface="Calibri"/>
              </a:rPr>
              <a:t>VIZCOM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8376" y="521208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E8A87C"/>
                </a:solidFill>
                <a:latin typeface="Calibri"/>
              </a:rPr>
              <a:t>AI render</a:t>
            </a:r>
          </a:p>
        </p:txBody>
      </p:sp>
      <p:pic>
        <p:nvPicPr>
          <p:cNvPr id="21" name="Picture 20" descr="3d_mesh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291840"/>
            <a:ext cx="2121408" cy="128016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010912" y="4572000"/>
            <a:ext cx="2121408" cy="91440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10912" y="4572000"/>
            <a:ext cx="2121408" cy="2540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466344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4919472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80">
                <a:solidFill>
                  <a:srgbClr val="F4F4F5"/>
                </a:solidFill>
                <a:latin typeface="Calibri"/>
              </a:rPr>
              <a:t>3D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521208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E8A87C"/>
                </a:solidFill>
                <a:latin typeface="Calibri"/>
              </a:rPr>
              <a:t>Geometry</a:t>
            </a:r>
          </a:p>
        </p:txBody>
      </p:sp>
      <p:pic>
        <p:nvPicPr>
          <p:cNvPr id="27" name="Picture 26" descr="ar_studio_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3291840"/>
            <a:ext cx="2121408" cy="128016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196328" y="4572000"/>
            <a:ext cx="2121408" cy="91440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96328" y="4572000"/>
            <a:ext cx="2121408" cy="2540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9208" y="466344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Georgia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9208" y="4919472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80">
                <a:solidFill>
                  <a:srgbClr val="F4F4F5"/>
                </a:solidFill>
                <a:latin typeface="Calibri"/>
              </a:rPr>
              <a:t>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9208" y="521208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E8A87C"/>
                </a:solidFill>
                <a:latin typeface="Calibri"/>
              </a:rPr>
              <a:t>Full-scale review</a:t>
            </a:r>
          </a:p>
        </p:txBody>
      </p:sp>
      <p:pic>
        <p:nvPicPr>
          <p:cNvPr id="33" name="Picture 32" descr="motion_city_cro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744" y="3291840"/>
            <a:ext cx="2121408" cy="128016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9381744" y="4572000"/>
            <a:ext cx="2121408" cy="91440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81744" y="4572000"/>
            <a:ext cx="2121408" cy="2540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4624" y="466344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Georgia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64624" y="4919472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80">
                <a:solidFill>
                  <a:srgbClr val="F4F4F5"/>
                </a:solidFill>
                <a:latin typeface="Calibri"/>
              </a:rPr>
              <a:t>AI VIDEO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64624" y="521208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E8A87C"/>
                </a:solidFill>
                <a:latin typeface="Calibri"/>
              </a:rPr>
              <a:t>Story + context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908792" cy="77724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38100" cy="777240"/>
          </a:xfrm>
          <a:prstGeom prst="rect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71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E8A87C"/>
                </a:solidFill>
                <a:latin typeface="Calibri"/>
              </a:rPr>
              <a:t>FEEDS DIRECTLY INTO LEADERSHIP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172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F4F4F5"/>
                </a:solidFill>
                <a:latin typeface="Georgia"/>
              </a:rPr>
              <a:t>Designers carry intent further into the process — leadership sees richer artifacts earlier, when course corrections are still inexpensive.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03 · WHAT WE HAVE ACCOMPLISHED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04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457200" cy="1905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WHAT WE HAVE ACCOMPLISHED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i="0" b="0">
                <a:solidFill>
                  <a:srgbClr val="F4F4F5"/>
                </a:solidFill>
                <a:latin typeface="Georgia"/>
              </a:rPr>
              <a:t>Not experimentation. </a:t>
            </a:r>
            <a:r>
              <a:rPr sz="3000" i="1" b="0">
                <a:solidFill>
                  <a:srgbClr val="E8A87C"/>
                </a:solidFill>
                <a:latin typeface="Georgia"/>
              </a:rPr>
              <a:t>Operational deployment
</a:t>
            </a:r>
            <a:r>
              <a:rPr sz="3000" i="0" b="0">
                <a:solidFill>
                  <a:srgbClr val="F4F4F5"/>
                </a:solidFill>
                <a:latin typeface="Georgia"/>
              </a:rPr>
              <a:t>across the design organization.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6F6F7A"/>
                </a:solidFill>
                <a:latin typeface="Calibri"/>
              </a:rPr>
              <a:t>DEPLOYMENT · ADOPTION ·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0440"/>
            <a:ext cx="2697480" cy="210312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31750" cy="210312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D94B2B"/>
                </a:solidFill>
                <a:latin typeface="Calibri"/>
              </a:rPr>
              <a:t>VIZCOM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0" i="0">
                <a:solidFill>
                  <a:srgbClr val="E8A87C"/>
                </a:solidFill>
                <a:latin typeface="Georgia"/>
              </a:rPr>
              <a:t>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F4F5"/>
                </a:solidFill>
                <a:latin typeface="Calibri"/>
              </a:rPr>
              <a:t>Global licenses approved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B4B4BB"/>
                </a:solidFill>
                <a:latin typeface="Calibri"/>
              </a:rPr>
              <a:t>Visualization platform deployed across all design regions.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520440"/>
            <a:ext cx="2697480" cy="210312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3520440"/>
            <a:ext cx="31750" cy="210312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7490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D94B2B"/>
                </a:solidFill>
                <a:latin typeface="Calibri"/>
              </a:rPr>
              <a:t>VIZCOM · NA PDO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233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0" i="0">
                <a:solidFill>
                  <a:srgbClr val="E8A87C"/>
                </a:solidFill>
                <a:latin typeface="Georgia"/>
              </a:rP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846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F4F5"/>
                </a:solidFill>
                <a:latin typeface="Calibri"/>
              </a:rPr>
              <a:t>North America PDO licenses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206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B4B4BB"/>
                </a:solidFill>
                <a:latin typeface="Calibri"/>
              </a:rPr>
              <a:t>Production design organization fully equipped.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520440"/>
            <a:ext cx="2697480" cy="210312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520440"/>
            <a:ext cx="31750" cy="210312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7490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D94B2B"/>
                </a:solidFill>
                <a:latin typeface="Calibri"/>
              </a:rPr>
              <a:t>RUNWAY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E8A87C"/>
                </a:solidFill>
                <a:latin typeface="Georgia"/>
              </a:rPr>
              <a:t>50+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46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F4F5"/>
                </a:solidFill>
                <a:latin typeface="Calibri"/>
              </a:rPr>
              <a:t>Global licenses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206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B4B4BB"/>
                </a:solidFill>
                <a:latin typeface="Calibri"/>
              </a:rPr>
              <a:t>AI motion and video deployed across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3520440"/>
            <a:ext cx="2697480" cy="210312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3520440"/>
            <a:ext cx="31750" cy="210312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37490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D94B2B"/>
                </a:solidFill>
                <a:latin typeface="Calibri"/>
              </a:rPr>
              <a:t>GRAVITY SKETCH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0233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E8A87C"/>
                </a:solidFill>
                <a:latin typeface="Georgia"/>
              </a:rPr>
              <a:t>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846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F4F5"/>
                </a:solidFill>
                <a:latin typeface="Calibri"/>
              </a:rPr>
              <a:t>AR studio 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1206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B4B4BB"/>
                </a:solidFill>
                <a:latin typeface="Calibri"/>
              </a:rPr>
              <a:t>Full-scale review and 3D sketch active in studios.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52160"/>
            <a:ext cx="10908792" cy="68580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852160"/>
            <a:ext cx="38100" cy="68580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9710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6F6F7A"/>
                </a:solidFill>
                <a:latin typeface="Calibri"/>
              </a:rPr>
              <a:t>TRAINING · GLOBAL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618134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4F4F5"/>
                </a:solidFill>
                <a:latin typeface="Georgia"/>
              </a:rPr>
              <a:t>Structured training delivered across Exteriors, Interiors, and Advanced teams — across regions. Designers are self-sufficient for the majority of early visualization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04 · AI ACCELERATED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05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457200" cy="1905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AI ACCELERATED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i="0" b="0">
                <a:solidFill>
                  <a:srgbClr val="F4F4F5"/>
                </a:solidFill>
                <a:latin typeface="Georgia"/>
              </a:rPr>
              <a:t>Sketch to refined render — </a:t>
            </a:r>
            <a:r>
              <a:rPr sz="2800" i="1" b="0">
                <a:solidFill>
                  <a:srgbClr val="E8A87C"/>
                </a:solidFill>
                <a:latin typeface="Georgia"/>
              </a:rPr>
              <a:t>in a single working session,
</a:t>
            </a:r>
            <a:r>
              <a:rPr sz="2800" i="0" b="0">
                <a:solidFill>
                  <a:srgbClr val="F4F4F5"/>
                </a:solidFill>
                <a:latin typeface="Georgia"/>
              </a:rPr>
              <a:t>owned entirely by the designer.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4BB"/>
                </a:solidFill>
                <a:latin typeface="Calibri"/>
              </a:rPr>
              <a:t>Real work from a current PDO program. The designer's intent is preserved at every step — AI compresses execution time, not creative judgement.</a:t>
            </a:r>
          </a:p>
        </p:txBody>
      </p:sp>
      <p:pic>
        <p:nvPicPr>
          <p:cNvPr id="10" name="Picture 9" descr="viz_step1_sketch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11880"/>
            <a:ext cx="2697480" cy="1371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4983480"/>
            <a:ext cx="2697480" cy="8229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983480"/>
            <a:ext cx="2697480" cy="25400"/>
          </a:xfrm>
          <a:prstGeom prst="rect">
            <a:avLst/>
          </a:prstGeom>
          <a:solidFill>
            <a:srgbClr val="6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56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4F4F5"/>
                </a:solidFill>
                <a:latin typeface="Calibri"/>
              </a:rPr>
              <a:t>SKETCH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5955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E8A87C"/>
                </a:solidFill>
                <a:latin typeface="Calibri"/>
              </a:rPr>
              <a:t>Designer captures intent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23844" y="4229100"/>
            <a:ext cx="228600" cy="137160"/>
          </a:xfrm>
          <a:prstGeom prst="rightArrow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z_step2_refine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3611880"/>
            <a:ext cx="2697480" cy="1371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401568" y="4983480"/>
            <a:ext cx="2697480" cy="8229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4983480"/>
            <a:ext cx="2697480" cy="2540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4448" y="5056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Georgia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53035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4F4F5"/>
                </a:solidFill>
                <a:latin typeface="Calibri"/>
              </a:rPr>
              <a:t>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555955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E8A87C"/>
                </a:solidFill>
                <a:latin typeface="Calibri"/>
              </a:rPr>
              <a:t>AI lifts to photoreal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85332" y="4229100"/>
            <a:ext cx="228600" cy="137160"/>
          </a:xfrm>
          <a:prstGeom prst="rightArrow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iz_step3_silver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3611880"/>
            <a:ext cx="2697480" cy="1371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163056" y="4983480"/>
            <a:ext cx="2697480" cy="8229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3056" y="4983480"/>
            <a:ext cx="2697480" cy="2540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5056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53035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4F4F5"/>
                </a:solidFill>
                <a:latin typeface="Calibri"/>
              </a:rPr>
              <a:t>REFINEMENT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555955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E8A87C"/>
                </a:solidFill>
                <a:latin typeface="Calibri"/>
              </a:rPr>
              <a:t>Material, surface, light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846820" y="4229100"/>
            <a:ext cx="228600" cy="137160"/>
          </a:xfrm>
          <a:prstGeom prst="rightArrow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viz_step4_final_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3611880"/>
            <a:ext cx="2697480" cy="13716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924544" y="4983480"/>
            <a:ext cx="2697480" cy="8229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24544" y="4983480"/>
            <a:ext cx="2697480" cy="2540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5056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Georgia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7424" y="53035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4F4F5"/>
                </a:solidFill>
                <a:latin typeface="Calibri"/>
              </a:rPr>
              <a:t>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07424" y="555955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E8A87C"/>
                </a:solidFill>
                <a:latin typeface="Calibri"/>
              </a:rPr>
              <a:t>Final theme exploration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E8A87C"/>
                </a:solidFill>
                <a:latin typeface="Georgia"/>
              </a:rPr>
              <a:t>Compressed from days of back-and-forth into a single working session — without leaving the designer's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05 · RAPID THEME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06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457200" cy="1905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RAPID THEME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i="0" b="0">
                <a:solidFill>
                  <a:srgbClr val="F4F4F5"/>
                </a:solidFill>
                <a:latin typeface="Georgia"/>
              </a:rPr>
              <a:t>One sketch. Four directions. </a:t>
            </a:r>
            <a:r>
              <a:rPr sz="2800" i="1" b="0">
                <a:solidFill>
                  <a:srgbClr val="E8A87C"/>
                </a:solidFill>
                <a:latin typeface="Georgia"/>
              </a:rPr>
              <a:t>More ideas
before commitment.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4BB"/>
                </a:solidFill>
                <a:latin typeface="Calibri"/>
              </a:rPr>
              <a:t>Theme exploration that previously required serial review now happens in parallel — letting leadership see the design space, not just a single direction.</a:t>
            </a:r>
          </a:p>
        </p:txBody>
      </p:sp>
      <p:pic>
        <p:nvPicPr>
          <p:cNvPr id="10" name="Picture 9" descr="beach_family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11880"/>
            <a:ext cx="2697480" cy="2194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349240"/>
            <a:ext cx="2697480" cy="4572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413248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D94B2B"/>
                </a:solidFill>
                <a:latin typeface="Calibri"/>
              </a:rPr>
              <a:t>THEME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0527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4F4F5"/>
                </a:solidFill>
                <a:latin typeface="Georgia"/>
              </a:rPr>
              <a:t>Heritage blue</a:t>
            </a:r>
          </a:p>
        </p:txBody>
      </p:sp>
      <p:pic>
        <p:nvPicPr>
          <p:cNvPr id="14" name="Picture 13" descr="theme_yellow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3611880"/>
            <a:ext cx="2697480" cy="21945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401568" y="5349240"/>
            <a:ext cx="2697480" cy="4572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5413248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D94B2B"/>
                </a:solidFill>
                <a:latin typeface="Calibri"/>
              </a:rPr>
              <a:t>THEME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560527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4F4F5"/>
                </a:solidFill>
                <a:latin typeface="Georgia"/>
              </a:rPr>
              <a:t>Adventure yellow</a:t>
            </a:r>
          </a:p>
        </p:txBody>
      </p:sp>
      <p:pic>
        <p:nvPicPr>
          <p:cNvPr id="18" name="Picture 17" descr="theme_red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3611880"/>
            <a:ext cx="2697480" cy="21945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163056" y="5349240"/>
            <a:ext cx="2697480" cy="4572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5413248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D94B2B"/>
                </a:solidFill>
                <a:latin typeface="Calibri"/>
              </a:rPr>
              <a:t>THEME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560527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4F4F5"/>
                </a:solidFill>
                <a:latin typeface="Georgia"/>
              </a:rPr>
              <a:t>Performance red</a:t>
            </a:r>
          </a:p>
        </p:txBody>
      </p:sp>
      <p:pic>
        <p:nvPicPr>
          <p:cNvPr id="22" name="Picture 21" descr="theme_camo_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3611880"/>
            <a:ext cx="2697480" cy="21945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924544" y="5349240"/>
            <a:ext cx="2697480" cy="4572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424" y="5413248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D94B2B"/>
                </a:solidFill>
                <a:latin typeface="Calibri"/>
              </a:rPr>
              <a:t>THEME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560527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4F4F5"/>
                </a:solidFill>
                <a:latin typeface="Georgia"/>
              </a:rPr>
              <a:t>Off-road camo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B4B4BB"/>
                </a:solidFill>
                <a:latin typeface="Georgia"/>
              </a:rPr>
              <a:t>Same scene, same proportions, multiple directions — explored in hours, not weeks. Leadership sees the option space before a direction is locked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studio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206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A0A0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solidFill>
            <a:srgbClr val="0A0A0B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06 · FROM 2D TO FULL-SCALE 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07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FROM 2D TO FULL-SCALE 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i="1" b="0">
                <a:solidFill>
                  <a:srgbClr val="B4B4BB"/>
                </a:solidFill>
                <a:latin typeface="Georgia"/>
              </a:rPr>
              <a:t>This is not AI imagery.
</a:t>
            </a:r>
            <a:r>
              <a:rPr sz="2600" i="0" b="0">
                <a:solidFill>
                  <a:srgbClr val="F4F4F5"/>
                </a:solidFill>
                <a:latin typeface="Georgia"/>
              </a:rPr>
              <a:t>This is AI influencing
</a:t>
            </a:r>
            <a:r>
              <a:rPr sz="3800" i="1" b="0">
                <a:solidFill>
                  <a:srgbClr val="E8A87C"/>
                </a:solidFill>
                <a:latin typeface="Georgia"/>
              </a:rPr>
              <a:t>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4F4F5"/>
                </a:solidFill>
                <a:latin typeface="Calibri"/>
              </a:rPr>
              <a:t>Designers and leadership review themes at full scale in AR — evaluating proportion the way customers will experience the vehicle, before specialists invest weeks in geometry.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6F6F7A"/>
                </a:solidFill>
                <a:latin typeface="Calibri"/>
              </a:rPr>
              <a:t>GRAVITY SKETCH · AR REVIEW IN STUDIO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00600"/>
            <a:ext cx="3611880" cy="15087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31750" cy="150876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20">
                <a:solidFill>
                  <a:srgbClr val="E8A87C"/>
                </a:solidFill>
                <a:latin typeface="Calibri"/>
              </a:rPr>
              <a:t>EARLIER PROPORTION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B4B4BB"/>
                </a:solidFill>
                <a:latin typeface="Calibri"/>
              </a:rPr>
              <a:t>Walk around a full-size virtual model. Proportions are evaluated in space — not implied from a poster.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4800600"/>
            <a:ext cx="3611880" cy="15087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4800600"/>
            <a:ext cx="31750" cy="150876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20">
                <a:solidFill>
                  <a:srgbClr val="E8A87C"/>
                </a:solidFill>
                <a:latin typeface="Calibri"/>
              </a:rPr>
              <a:t>EARLIER DECISION MAKING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534924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B4B4BB"/>
                </a:solidFill>
                <a:latin typeface="Calibri"/>
              </a:rPr>
              <a:t>Leadership reviews themes that look and feel like vehicles. Decisions move forward at sketch-stage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1856" y="4800600"/>
            <a:ext cx="3611880" cy="15087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1856" y="4800600"/>
            <a:ext cx="31750" cy="150876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20">
                <a:solidFill>
                  <a:srgbClr val="E8A87C"/>
                </a:solidFill>
                <a:latin typeface="Calibri"/>
              </a:rPr>
              <a:t>EARLIER GLOBAL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534924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B4B4BB"/>
                </a:solidFill>
                <a:latin typeface="Calibri"/>
              </a:rPr>
              <a:t>Studios across regions stand around the same model — virtually. Interpretation drift between sites collapses.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A87C"/>
                </a:solidFill>
                <a:latin typeface="Georgia"/>
              </a:rPr>
              <a:t>AI extending into 3D and AR — not just image generation.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07 · AI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08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457200" cy="1905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AI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i="0" b="0">
                <a:solidFill>
                  <a:srgbClr val="F4F4F5"/>
                </a:solidFill>
                <a:latin typeface="Georgia"/>
              </a:rPr>
              <a:t>Design intent — delivered as </a:t>
            </a:r>
            <a:r>
              <a:rPr sz="2800" i="1" b="0">
                <a:solidFill>
                  <a:srgbClr val="E8A87C"/>
                </a:solidFill>
                <a:latin typeface="Georgia"/>
              </a:rPr>
              <a:t>cinematic story,
</a:t>
            </a:r>
            <a:r>
              <a:rPr sz="2800" i="0" b="0">
                <a:solidFill>
                  <a:srgbClr val="F4F4F5"/>
                </a:solidFill>
                <a:latin typeface="Georgia"/>
              </a:rPr>
              <a:t>by the design team itself.</a:t>
            </a:r>
          </a:p>
        </p:txBody>
      </p:sp>
      <p:pic>
        <p:nvPicPr>
          <p:cNvPr id="9" name="Picture 8" descr="clean_render_blue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80360"/>
            <a:ext cx="2697480" cy="1645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4069080"/>
            <a:ext cx="2697480" cy="4572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D94B2B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1480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60">
                <a:solidFill>
                  <a:srgbClr val="F4F4F5"/>
                </a:solidFill>
                <a:latin typeface="Calibri"/>
              </a:rPr>
              <a:t>STILL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2511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A87C"/>
                </a:solidFill>
                <a:latin typeface="Calibri"/>
              </a:rPr>
              <a:t>Designer render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23844" y="3634740"/>
            <a:ext cx="228600" cy="137160"/>
          </a:xfrm>
          <a:prstGeom prst="rightArrow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otion_city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2880360"/>
            <a:ext cx="2697480" cy="16459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401568" y="4069080"/>
            <a:ext cx="2697480" cy="4572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4133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D94B2B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411480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60">
                <a:solidFill>
                  <a:srgbClr val="F4F4F5"/>
                </a:solidFill>
                <a:latin typeface="Calibri"/>
              </a:rPr>
              <a:t>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432511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A87C"/>
                </a:solidFill>
                <a:latin typeface="Calibri"/>
              </a:rPr>
              <a:t>Vehicle in motion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85332" y="3634740"/>
            <a:ext cx="228600" cy="137160"/>
          </a:xfrm>
          <a:prstGeom prst="rightArrow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ory_couple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880360"/>
            <a:ext cx="2697480" cy="164592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163056" y="4069080"/>
            <a:ext cx="2697480" cy="4572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4133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D94B2B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411480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60">
                <a:solidFill>
                  <a:srgbClr val="F4F4F5"/>
                </a:solidFill>
                <a:latin typeface="Calibri"/>
              </a:rPr>
              <a:t>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32511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A87C"/>
                </a:solidFill>
                <a:latin typeface="Calibri"/>
              </a:rPr>
              <a:t>Character, place, emotion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46820" y="3634740"/>
            <a:ext cx="228600" cy="137160"/>
          </a:xfrm>
          <a:prstGeom prst="rightArrow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tory_nyc_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2880360"/>
            <a:ext cx="2697480" cy="164592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924544" y="4069080"/>
            <a:ext cx="2697480" cy="4572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424" y="4133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D94B2B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411480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60">
                <a:solidFill>
                  <a:srgbClr val="F4F4F5"/>
                </a:solidFill>
                <a:latin typeface="Calibri"/>
              </a:rPr>
              <a:t>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7424" y="432511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A87C"/>
                </a:solidFill>
                <a:latin typeface="Calibri"/>
              </a:rPr>
              <a:t>Leadership-ready narrative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00600"/>
            <a:ext cx="5349240" cy="169164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800600"/>
            <a:ext cx="38100" cy="1691640"/>
          </a:xfrm>
          <a:prstGeom prst="rect">
            <a:avLst/>
          </a:prstGeom>
          <a:solidFill>
            <a:srgbClr val="6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937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6F6F7A"/>
                </a:solidFill>
                <a:latin typeface="Calibri"/>
              </a:rPr>
              <a:t>BEFORE · TRADITIONAL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663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F4F5"/>
                </a:solidFill>
                <a:latin typeface="Calibri"/>
              </a:rPr>
              <a:t>Designers · CDD · Unreal · VRED · Animation · Suppliers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577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20">
                <a:solidFill>
                  <a:srgbClr val="6F6F7A"/>
                </a:solidFill>
                <a:latin typeface="Calibri"/>
              </a:rPr>
              <a:t>TYPICAL DURATION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760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4F5"/>
                </a:solidFill>
                <a:latin typeface="Georgia"/>
              </a:rPr>
              <a:t>8 – 12 weeks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577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20">
                <a:solidFill>
                  <a:srgbClr val="6F6F7A"/>
                </a:solidFill>
                <a:latin typeface="Calibri"/>
              </a:rPr>
              <a:t>OWNERSHIP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760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4F5"/>
                </a:solidFill>
                <a:latin typeface="Georgia"/>
              </a:rPr>
              <a:t>External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800600"/>
            <a:ext cx="5349240" cy="169164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4800600"/>
            <a:ext cx="38100" cy="169164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937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D94B2B"/>
                </a:solidFill>
                <a:latin typeface="Calibri"/>
              </a:rPr>
              <a:t>AFTER · AI-ENABLED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1663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87C"/>
                </a:solidFill>
                <a:latin typeface="Calibri"/>
              </a:rPr>
              <a:t>1 – 2 designers using Vizcom · Runway · Veo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577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20">
                <a:solidFill>
                  <a:srgbClr val="6F6F7A"/>
                </a:solidFill>
                <a:latin typeface="Calibri"/>
              </a:rPr>
              <a:t>TYPICAL DURATION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760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A87C"/>
                </a:solidFill>
                <a:latin typeface="Georgia"/>
              </a:rPr>
              <a:t>2 – 5 days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5577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20">
                <a:solidFill>
                  <a:srgbClr val="6F6F7A"/>
                </a:solidFill>
                <a:latin typeface="Calibri"/>
              </a:rPr>
              <a:t>OWNERSHIP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5760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A87C"/>
                </a:solidFill>
                <a:latin typeface="Georgia"/>
              </a:rPr>
              <a:t>Internal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653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8A87C"/>
                </a:solidFill>
                <a:latin typeface="Georgia"/>
              </a:rPr>
              <a:t>Stories produced by the design team — in days, not weeks.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08 ·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09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457200" cy="1905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i="0" b="0">
                <a:solidFill>
                  <a:srgbClr val="F4F4F5"/>
                </a:solidFill>
                <a:latin typeface="Georgia"/>
              </a:rPr>
              <a:t>Four outcomes leadership can </a:t>
            </a:r>
            <a:r>
              <a:rPr sz="3000" i="1" b="0">
                <a:solidFill>
                  <a:srgbClr val="E8A87C"/>
                </a:solidFill>
                <a:latin typeface="Georgia"/>
              </a:rPr>
              <a:t>feel today.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2697480" cy="329184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31750" cy="329184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D94B2B"/>
                </a:solidFill>
                <a:latin typeface="Calibri"/>
              </a:rPr>
              <a:t>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4F4F5"/>
                </a:solidFill>
                <a:latin typeface="Georgia"/>
              </a:rPr>
              <a:t>Sketch to render in minutes. Theme exploration in days. Storytelling in less than a week.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394960"/>
            <a:ext cx="2148840" cy="635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1">
                <a:solidFill>
                  <a:srgbClr val="B4B4BB"/>
                </a:solidFill>
                <a:latin typeface="Calibri"/>
              </a:rPr>
              <a:t>Designer judgement spends less time waiting and more time deciding.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017520"/>
            <a:ext cx="2697480" cy="329184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3017520"/>
            <a:ext cx="31750" cy="329184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3291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D94B2B"/>
                </a:solidFill>
                <a:latin typeface="Calibri"/>
              </a:rPr>
              <a:t>PRODUCTIVITY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88620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4F4F5"/>
                </a:solidFill>
                <a:latin typeface="Georgia"/>
              </a:rPr>
              <a:t>Designers handle visualization and narrative work that previously required external teams.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5394960"/>
            <a:ext cx="2148840" cy="635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55321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1">
                <a:solidFill>
                  <a:srgbClr val="B4B4BB"/>
                </a:solidFill>
                <a:latin typeface="Calibri"/>
              </a:rPr>
              <a:t>Studio capacity expands without expanding headcount.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017520"/>
            <a:ext cx="2697480" cy="329184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017520"/>
            <a:ext cx="31750" cy="329184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91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D94B2B"/>
                </a:solidFill>
                <a:latin typeface="Calibri"/>
              </a:rPr>
              <a:t>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8620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4F4F5"/>
                </a:solidFill>
                <a:latin typeface="Georgia"/>
              </a:rPr>
              <a:t>Design intent travels with motion, context, and emotion — not just static frames.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394960"/>
            <a:ext cx="2148840" cy="635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5321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1">
                <a:solidFill>
                  <a:srgbClr val="B4B4BB"/>
                </a:solidFill>
                <a:latin typeface="Calibri"/>
              </a:rPr>
              <a:t>Leadership and stakeholders align on what the vehicle is meant to be.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3017520"/>
            <a:ext cx="2697480" cy="329184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3017520"/>
            <a:ext cx="31750" cy="329184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3291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D94B2B"/>
                </a:solidFill>
                <a:latin typeface="Calibri"/>
              </a:rPr>
              <a:t>COLLABORATION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88620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4F4F5"/>
                </a:solidFill>
                <a:latin typeface="Georgia"/>
              </a:rPr>
              <a:t>Global studios share live 3D and AR data. Regions iterate on the same model in real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5394960"/>
            <a:ext cx="2148840" cy="635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55321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1">
                <a:solidFill>
                  <a:srgbClr val="B4B4BB"/>
                </a:solidFill>
                <a:latin typeface="Calibri"/>
              </a:rPr>
              <a:t>Distance and timezone are no longer constraints on the studio.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E8A87C"/>
                </a:solidFill>
                <a:latin typeface="Georgia"/>
              </a:rPr>
              <a:t>Real outcomes the studios feel weekly — measured, not promised.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09 · WHAT WE ARE EXPLORING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457200" cy="1905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WHAT WE ARE EXPLORING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i="0" b="0">
                <a:solidFill>
                  <a:srgbClr val="F4F4F5"/>
                </a:solidFill>
                <a:latin typeface="Georgia"/>
              </a:rPr>
              <a:t>From tools to </a:t>
            </a:r>
            <a:r>
              <a:rPr sz="3000" i="1" b="0">
                <a:solidFill>
                  <a:srgbClr val="E8A87C"/>
                </a:solidFill>
                <a:latin typeface="Georgia"/>
              </a:rPr>
              <a:t>capabilities</a:t>
            </a:r>
            <a:r>
              <a:rPr sz="3000" i="0" b="0">
                <a:solidFill>
                  <a:srgbClr val="F4F4F5"/>
                </a:solidFill>
                <a:latin typeface="Georgia"/>
              </a:rPr>
              <a:t> —
owned by Design.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3611880" cy="15087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31750" cy="150876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F4F4F5"/>
                </a:solidFill>
                <a:latin typeface="Calibri"/>
              </a:rPr>
              <a:t>DESIGN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B4B4BB"/>
                </a:solidFill>
                <a:latin typeface="Calibri"/>
              </a:rPr>
              <a:t>Connected institutional memory across the design organization.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3246120"/>
            <a:ext cx="3611880" cy="15087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3246120"/>
            <a:ext cx="31750" cy="150876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3429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7033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F4F4F5"/>
                </a:solidFill>
                <a:latin typeface="Calibri"/>
              </a:rPr>
              <a:t>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4114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B4B4BB"/>
                </a:solidFill>
                <a:latin typeface="Calibri"/>
              </a:rPr>
              <a:t>Repetitive studio operations moved into reliable systems.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1856" y="3246120"/>
            <a:ext cx="3611880" cy="15087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1856" y="3246120"/>
            <a:ext cx="31750" cy="150876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3429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37033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F4F4F5"/>
                </a:solidFill>
                <a:latin typeface="Calibri"/>
              </a:rPr>
              <a:t>AGENTIC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4114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B4B4BB"/>
                </a:solidFill>
                <a:latin typeface="Calibri"/>
              </a:rPr>
              <a:t>AI collaborators that analyze, suggest, and iterate with designers.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18888"/>
            <a:ext cx="3611880" cy="15087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017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7608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F4F4F5"/>
                </a:solidFill>
                <a:latin typeface="Calibri"/>
              </a:rPr>
              <a:t>ENGINEERING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87568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B4B4BB"/>
                </a:solidFill>
                <a:latin typeface="Calibri"/>
              </a:rPr>
              <a:t>Design intent connected to engineering constraints, earlier.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4818888"/>
            <a:ext cx="3611880" cy="15087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50017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527608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F4F4F5"/>
                </a:solidFill>
                <a:latin typeface="Calibri"/>
              </a:rPr>
              <a:t>KNOWLEDGE 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5687568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B4B4BB"/>
                </a:solidFill>
                <a:latin typeface="Calibri"/>
              </a:rPr>
              <a:t>Customer insight, rationale, and decisions retained as memory.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91856" y="4818888"/>
            <a:ext cx="3611880" cy="15087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6" y="50017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4B2B"/>
                </a:solidFill>
                <a:latin typeface="Georgia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527608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F4F4F5"/>
                </a:solidFill>
                <a:latin typeface="Calibri"/>
              </a:rPr>
              <a:t>DIGITAL EXPERIENCES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5687568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B4B4BB"/>
                </a:solidFill>
                <a:latin typeface="Calibri"/>
              </a:rPr>
              <a:t>Design extending into the digital touchpoints customers live with.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E8A87C"/>
                </a:solidFill>
                <a:latin typeface="Georgia"/>
              </a:rPr>
              <a:t>These are not tool categories. They are capability categories that compound with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10 · AUTOMATION +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457200" cy="1905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AUTOMATION + 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i="0" b="0">
                <a:solidFill>
                  <a:srgbClr val="F4F4F5"/>
                </a:solidFill>
                <a:latin typeface="Georgia"/>
              </a:rPr>
              <a:t>AI that </a:t>
            </a:r>
            <a:r>
              <a:rPr sz="3000" i="1" b="0">
                <a:solidFill>
                  <a:srgbClr val="E8A87C"/>
                </a:solidFill>
                <a:latin typeface="Georgia"/>
              </a:rPr>
              <a:t>supports</a:t>
            </a:r>
            <a:r>
              <a:rPr sz="3000" i="0" b="0">
                <a:solidFill>
                  <a:srgbClr val="F4F4F5"/>
                </a:solidFill>
                <a:latin typeface="Georgia"/>
              </a:rPr>
              <a:t> the work of
designers — with designers in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4BB"/>
                </a:solidFill>
                <a:latin typeface="Calibri"/>
              </a:rPr>
              <a:t>Move the predictable, repeatable work off designers. Return their time to the work only designers can 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11880"/>
            <a:ext cx="2240280" cy="237744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31750" cy="237744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84048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E8A87C"/>
                </a:solidFill>
                <a:latin typeface="Calibri"/>
              </a:rPr>
              <a:t>KNOWLEDGE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526280"/>
            <a:ext cx="1874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B4B4BB"/>
                </a:solidFill>
                <a:latin typeface="Calibri"/>
              </a:rPr>
              <a:t>Find prior work, prior decisions, and prior rationale without searching across folders and inboxes.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16936" y="3611880"/>
            <a:ext cx="2240280" cy="237744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16936" y="3611880"/>
            <a:ext cx="31750" cy="237744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8104" y="384048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E8A87C"/>
                </a:solidFill>
                <a:latin typeface="Calibri"/>
              </a:rPr>
              <a:t>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4" y="4526280"/>
            <a:ext cx="1874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B4B4BB"/>
                </a:solidFill>
                <a:latin typeface="Calibri"/>
              </a:rPr>
              <a:t>Customer, competitor, and trend signal gathered and synthesized continuously.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3792" y="3611880"/>
            <a:ext cx="2240280" cy="237744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93792" y="3611880"/>
            <a:ext cx="31750" cy="237744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384048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E8A87C"/>
                </a:solidFill>
                <a:latin typeface="Calibri"/>
              </a:rPr>
              <a:t>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526280"/>
            <a:ext cx="1874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B4B4BB"/>
                </a:solidFill>
                <a:latin typeface="Calibri"/>
              </a:rPr>
              <a:t>Meetings captured. Decisions logged. Design rationale preserved as institutional memory.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0648" y="3611880"/>
            <a:ext cx="2240280" cy="237744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70648" y="3611880"/>
            <a:ext cx="31750" cy="237744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384048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E8A87C"/>
                </a:solidFill>
                <a:latin typeface="Calibri"/>
              </a:rPr>
              <a:t>WORKFLOW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6" y="4526280"/>
            <a:ext cx="1874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B4B4BB"/>
                </a:solidFill>
                <a:latin typeface="Calibri"/>
              </a:rPr>
              <a:t>Coordinate routine handoffs between people, tools, and disciplines without ticket-pushing.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47504" y="3611880"/>
            <a:ext cx="2240280" cy="237744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47504" y="3611880"/>
            <a:ext cx="31750" cy="237744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384048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E8A87C"/>
                </a:solidFill>
                <a:latin typeface="Calibri"/>
              </a:rPr>
              <a:t>DESIGN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4526280"/>
            <a:ext cx="1874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B4B4BB"/>
                </a:solidFill>
                <a:latin typeface="Calibri"/>
              </a:rPr>
              <a:t>Surface relevant references, package constraints, and prior themes — at the moment they are needed.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E8A87C"/>
                </a:solidFill>
                <a:latin typeface="Georgia"/>
              </a:rPr>
              <a:t>Designers remain in authorship. AI handles the work that distracts from authorship.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11 · DESIGN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457200" cy="1905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DESIGN INTELLIGENCE — THE CONNECTED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i="0" b="0">
                <a:solidFill>
                  <a:srgbClr val="F4F4F5"/>
                </a:solidFill>
                <a:latin typeface="Georgia"/>
              </a:rPr>
              <a:t>Five domains of intelligence —
</a:t>
            </a:r>
            <a:r>
              <a:rPr sz="2800" i="1" b="0">
                <a:solidFill>
                  <a:srgbClr val="E8A87C"/>
                </a:solidFill>
                <a:latin typeface="Georgia"/>
              </a:rPr>
              <a:t>connected into a single learning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4BB"/>
                </a:solidFill>
                <a:latin typeface="Calibri"/>
              </a:rPr>
              <a:t>Customer insight, planning logic, design rationale, engineering trade-offs, and manufacturing reality — today held separately, connected so every program contributes to the next.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0440"/>
            <a:ext cx="2121408" cy="21945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4B2B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F4F5"/>
                </a:solidFill>
                <a:latin typeface="Calibri"/>
              </a:rPr>
              <a:t>Customer
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37760"/>
            <a:ext cx="1664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B4B4BB"/>
                </a:solidFill>
                <a:latin typeface="Calibri"/>
              </a:rPr>
              <a:t>Research, segmentation, voice-of-customer.</a:t>
            </a:r>
          </a:p>
        </p:txBody>
      </p:sp>
      <p:sp>
        <p:nvSpPr>
          <p:cNvPr id="14" name="Oval 13"/>
          <p:cNvSpPr/>
          <p:nvPr/>
        </p:nvSpPr>
        <p:spPr>
          <a:xfrm>
            <a:off x="2715768" y="5897880"/>
            <a:ext cx="73152" cy="73152"/>
          </a:xfrm>
          <a:prstGeom prst="ellipse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5496" y="3520440"/>
            <a:ext cx="2121408" cy="21945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4096" y="3703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4B2B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402336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F4F5"/>
                </a:solidFill>
                <a:latin typeface="Calibri"/>
              </a:rPr>
              <a:t>Planning
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4937760"/>
            <a:ext cx="1664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B4B4BB"/>
                </a:solidFill>
                <a:latin typeface="Calibri"/>
              </a:rPr>
              <a:t>Portfolio strategy, segment opportunity, timing.</a:t>
            </a:r>
          </a:p>
        </p:txBody>
      </p:sp>
      <p:sp>
        <p:nvSpPr>
          <p:cNvPr id="19" name="Oval 18"/>
          <p:cNvSpPr/>
          <p:nvPr/>
        </p:nvSpPr>
        <p:spPr>
          <a:xfrm>
            <a:off x="4901184" y="5897880"/>
            <a:ext cx="73152" cy="73152"/>
          </a:xfrm>
          <a:prstGeom prst="ellipse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0912" y="3520440"/>
            <a:ext cx="2121408" cy="21945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3703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4B2B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402336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F4F5"/>
                </a:solidFill>
                <a:latin typeface="Calibri"/>
              </a:rPr>
              <a:t>Design
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2" y="4937760"/>
            <a:ext cx="1664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B4B4BB"/>
                </a:solidFill>
                <a:latin typeface="Calibri"/>
              </a:rPr>
              <a:t>Theme decisions, review rationale, brand DNA.</a:t>
            </a:r>
          </a:p>
        </p:txBody>
      </p:sp>
      <p:sp>
        <p:nvSpPr>
          <p:cNvPr id="24" name="Oval 23"/>
          <p:cNvSpPr/>
          <p:nvPr/>
        </p:nvSpPr>
        <p:spPr>
          <a:xfrm>
            <a:off x="7086600" y="5897880"/>
            <a:ext cx="73152" cy="73152"/>
          </a:xfrm>
          <a:prstGeom prst="ellipse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96328" y="3520440"/>
            <a:ext cx="2121408" cy="21945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8" y="3703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4B2B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2336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F4F5"/>
                </a:solidFill>
                <a:latin typeface="Calibri"/>
              </a:rPr>
              <a:t>Engineering
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4937760"/>
            <a:ext cx="1664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B4B4BB"/>
                </a:solidFill>
                <a:latin typeface="Calibri"/>
              </a:rPr>
              <a:t>Package constraints, trade-offs, lessons learned.</a:t>
            </a:r>
          </a:p>
        </p:txBody>
      </p:sp>
      <p:sp>
        <p:nvSpPr>
          <p:cNvPr id="29" name="Oval 28"/>
          <p:cNvSpPr/>
          <p:nvPr/>
        </p:nvSpPr>
        <p:spPr>
          <a:xfrm>
            <a:off x="9272016" y="5897880"/>
            <a:ext cx="73152" cy="73152"/>
          </a:xfrm>
          <a:prstGeom prst="ellipse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81744" y="3520440"/>
            <a:ext cx="2121408" cy="21945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0344" y="3703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4B2B"/>
                </a:solidFill>
                <a:latin typeface="Georgi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0344" y="402336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F4F5"/>
                </a:solidFill>
                <a:latin typeface="Calibri"/>
              </a:rPr>
              <a:t>Manufacturing
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0344" y="4937760"/>
            <a:ext cx="1664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B4B4BB"/>
                </a:solidFill>
                <a:latin typeface="Calibri"/>
              </a:rPr>
              <a:t>Producibility, supplier capability, launch realities.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97880"/>
            <a:ext cx="10908792" cy="73152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897880"/>
            <a:ext cx="38100" cy="73152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6044184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F4F4F5"/>
                </a:solidFill>
                <a:latin typeface="Georgia"/>
              </a:rPr>
              <a:t>Reduce the distance between insight and action. Transform information into understanding.
Transform understanding into better products.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12 · THE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457200" cy="1905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20">
                <a:solidFill>
                  <a:srgbClr val="D94B2B"/>
                </a:solidFill>
                <a:latin typeface="Calibri"/>
              </a:rPr>
              <a:t>THE PATH 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i="0" b="0">
                <a:solidFill>
                  <a:srgbClr val="F4F4F5"/>
                </a:solidFill>
                <a:latin typeface="Georgia"/>
              </a:rPr>
              <a:t>Each step builds on the last.
</a:t>
            </a:r>
            <a:r>
              <a:rPr sz="2800" i="1" b="0">
                <a:solidFill>
                  <a:srgbClr val="E8A87C"/>
                </a:solidFill>
                <a:latin typeface="Georgia"/>
              </a:rPr>
              <a:t>Every project makes the next project better.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486400"/>
            <a:ext cx="1965960" cy="82296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5486400"/>
            <a:ext cx="1965960" cy="25400"/>
          </a:xfrm>
          <a:prstGeom prst="rect">
            <a:avLst/>
          </a:prstGeom>
          <a:solidFill>
            <a:srgbClr val="6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5623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F6F7A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89788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F6F7A"/>
                </a:solidFill>
                <a:latin typeface="Calibri"/>
              </a:rPr>
              <a:t>Traditional
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983480"/>
            <a:ext cx="1965960" cy="132588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4983480"/>
            <a:ext cx="1965960" cy="25400"/>
          </a:xfrm>
          <a:prstGeom prst="rect">
            <a:avLst/>
          </a:prstGeom>
          <a:solidFill>
            <a:srgbClr val="6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5120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F6F7A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3949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B4B4BB"/>
                </a:solidFill>
                <a:latin typeface="Calibri"/>
              </a:rPr>
              <a:t>AI Assisted
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4480560"/>
            <a:ext cx="1965960" cy="182880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94960" y="4480560"/>
            <a:ext cx="1965960" cy="25400"/>
          </a:xfrm>
          <a:prstGeom prst="rect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46177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F6F7A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89204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4F4F5"/>
                </a:solidFill>
                <a:latin typeface="Calibri"/>
              </a:rPr>
              <a:t>Workflow
Transformation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3977640"/>
            <a:ext cx="1965960" cy="2331720"/>
          </a:xfrm>
          <a:prstGeom prst="rect">
            <a:avLst/>
          </a:prstGeom>
          <a:solidFill>
            <a:srgbClr val="1C1C22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3977640"/>
            <a:ext cx="1965960" cy="2540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4114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38912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8A87C"/>
                </a:solidFill>
                <a:latin typeface="Calibri"/>
              </a:rPr>
              <a:t>Automation +
Agentic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474720"/>
            <a:ext cx="1965960" cy="2834640"/>
          </a:xfrm>
          <a:prstGeom prst="rect">
            <a:avLst/>
          </a:prstGeom>
          <a:solidFill>
            <a:srgbClr val="1C1C22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18320" y="3474720"/>
            <a:ext cx="1965960" cy="2540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3611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8862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8A87C"/>
                </a:solidFill>
                <a:latin typeface="Calibri"/>
              </a:rPr>
              <a:t>Design
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44652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B4B4BB"/>
                </a:solidFill>
                <a:latin typeface="Calibri"/>
              </a:rPr>
              <a:t>Specialist-driven, sequential, physical.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644652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B4B4BB"/>
                </a:solidFill>
                <a:latin typeface="Calibri"/>
              </a:rPr>
              <a:t>Tools accelerate individual tasks.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644652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B4B4BB"/>
                </a:solidFill>
                <a:latin typeface="Calibri"/>
              </a:rPr>
              <a:t>Process compressed across studios.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644652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B4B4BB"/>
                </a:solidFill>
                <a:latin typeface="Calibri"/>
              </a:rPr>
              <a:t>Capability operating with designers.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644652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B4B4BB"/>
                </a:solidFill>
                <a:latin typeface="Calibri"/>
              </a:rPr>
              <a:t>Organization-wide learning system.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2004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6F6F7A"/>
                </a:solidFill>
                <a:latin typeface="Calibri"/>
              </a:rPr>
              <a:t>CAPABILITY OVER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4290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0" i="1">
                <a:solidFill>
                  <a:srgbClr val="E8A87C"/>
                </a:solidFill>
                <a:latin typeface="Georgia"/>
              </a:rPr>
              <a:t>A staircase, not a leap.
Each phase builds the next.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nset_lifestyle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4B2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00" b="1" i="0" spc="280">
                <a:solidFill>
                  <a:srgbClr val="F4F4F5"/>
                </a:solidFill>
                <a:latin typeface="Calibri"/>
              </a:rP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260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40">
                <a:solidFill>
                  <a:srgbClr val="B4B4BB"/>
                </a:solidFill>
                <a:latin typeface="Calibri"/>
              </a:rPr>
              <a:t>13 ·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4F4F5"/>
                </a:solidFill>
                <a:latin typeface="Georgia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6F6F7A"/>
                </a:solidFill>
                <a:latin typeface="Calibri"/>
              </a:rPr>
              <a:t>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1340967" y="1371600"/>
            <a:ext cx="2331720" cy="91440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3847" y="15361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 spc="300">
                <a:solidFill>
                  <a:srgbClr val="6F6F7A"/>
                </a:solidFill>
                <a:latin typeface="Calibri"/>
              </a:rPr>
              <a:t>FROM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3847" y="1783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6F6F7A"/>
                </a:solidFill>
                <a:latin typeface="Georgia"/>
              </a:rPr>
              <a:t>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18407" y="1371600"/>
            <a:ext cx="2331720" cy="91440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1287" y="15361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 spc="300">
                <a:solidFill>
                  <a:srgbClr val="6F6F7A"/>
                </a:solidFill>
                <a:latin typeface="Calibri"/>
              </a:rPr>
              <a:t>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1287" y="1783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F4F4F5"/>
                </a:solidFill>
                <a:latin typeface="Georgia"/>
              </a:rPr>
              <a:t>Workflows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1371600"/>
            <a:ext cx="2331720" cy="91440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15361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 spc="300">
                <a:solidFill>
                  <a:srgbClr val="6F6F7A"/>
                </a:solidFill>
                <a:latin typeface="Calibri"/>
              </a:rPr>
              <a:t>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783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F4F4F5"/>
                </a:solidFill>
                <a:latin typeface="Georgia"/>
              </a:rPr>
              <a:t>Capabilities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3287" y="1371600"/>
            <a:ext cx="2331720" cy="914400"/>
          </a:xfrm>
          <a:prstGeom prst="rect">
            <a:avLst/>
          </a:prstGeom>
          <a:solidFill>
            <a:srgbClr val="16161B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73287" y="1371600"/>
            <a:ext cx="2331720" cy="25400"/>
          </a:xfrm>
          <a:prstGeom prst="rect">
            <a:avLst/>
          </a:prstGeom>
          <a:solidFill>
            <a:srgbClr val="D9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6167" y="15361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 spc="300">
                <a:solidFill>
                  <a:srgbClr val="6F6F7A"/>
                </a:solidFill>
                <a:latin typeface="Calibri"/>
              </a:rPr>
              <a:t>TOWARD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6167" y="1783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E8A87C"/>
                </a:solidFill>
                <a:latin typeface="Georgia"/>
              </a:rPr>
              <a:t>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31089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20">
                <a:solidFill>
                  <a:srgbClr val="D94B2B"/>
                </a:solidFill>
                <a:latin typeface="Calibri"/>
              </a:rPr>
              <a:t>THE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520440"/>
            <a:ext cx="94457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i="0" b="0">
                <a:solidFill>
                  <a:srgbClr val="F4F4F5"/>
                </a:solidFill>
                <a:latin typeface="Georgia"/>
              </a:rPr>
              <a:t>Over the past year, Design has proven that AI can
</a:t>
            </a:r>
            <a:r>
              <a:rPr sz="2200" i="1" b="0">
                <a:solidFill>
                  <a:srgbClr val="E8A87C"/>
                </a:solidFill>
                <a:latin typeface="Georgia"/>
              </a:rPr>
              <a:t>accelerate workflows and improve decisions.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09160"/>
            <a:ext cx="94457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i="0" b="0">
                <a:solidFill>
                  <a:srgbClr val="F4F4F5"/>
                </a:solidFill>
                <a:latin typeface="Georgia"/>
              </a:rPr>
              <a:t>The next opportunity is using automation, agentic systems,
and connected knowledge to build a </a:t>
            </a:r>
            <a:r>
              <a:rPr sz="2200" i="1" b="0">
                <a:solidFill>
                  <a:srgbClr val="E8A87C"/>
                </a:solidFill>
                <a:latin typeface="Georgia"/>
              </a:rPr>
              <a:t>smarter, faster,
more capable design organization.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20">
                <a:solidFill>
                  <a:srgbClr val="6F6F7A"/>
                </a:solidFill>
                <a:latin typeface="Calibri"/>
              </a:rPr>
              <a:t>LOU GASEVSKI · CHRYSLER DESIGN EXTERIOR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