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tion_city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0"/>
            <a:ext cx="62480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0" y="0"/>
            <a:ext cx="2743200" cy="6858000"/>
          </a:xfrm>
          <a:prstGeom prst="rect">
            <a:avLst/>
          </a:prstGeom>
          <a:solidFill>
            <a:srgbClr val="0A0A0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0A0A0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F4F4F5"/>
                </a:solidFill>
                <a:latin typeface="Calibri"/>
              </a:rPr>
              <a:t>STELLANTIS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132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80">
                <a:solidFill>
                  <a:srgbClr val="6F6F7A"/>
                </a:solidFill>
                <a:latin typeface="Calibri"/>
              </a:rPr>
              <a:t>EXECUTIVE BRIEFING · 30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AI IN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63240"/>
            <a:ext cx="56692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i="0" b="0">
                <a:solidFill>
                  <a:srgbClr val="F4F4F5"/>
                </a:solidFill>
                <a:latin typeface="Georgia"/>
              </a:rPr>
              <a:t>From workflow acceleration
to </a:t>
            </a:r>
            <a:r>
              <a:rPr sz="4200" i="1" b="0">
                <a:solidFill>
                  <a:srgbClr val="E8A87C"/>
                </a:solidFill>
                <a:latin typeface="Georgia"/>
              </a:rPr>
              <a:t>Design Intelligence.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4B4BB"/>
                </a:solidFill>
                <a:latin typeface="Calibri"/>
              </a:rPr>
              <a:t>Where Design has built operational AI capability today — and the direction we are heading next.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989320"/>
            <a:ext cx="530352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80">
                <a:solidFill>
                  <a:srgbClr val="6F6F7A"/>
                </a:solidFill>
                <a:latin typeface="Calibri"/>
              </a:rPr>
              <a:t>PREPARED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367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F4F5"/>
                </a:solidFill>
                <a:latin typeface="Calibri"/>
              </a:rPr>
              <a:t>Lou Gasevski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37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Director · Chrysler Design Exterior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6126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80">
                <a:solidFill>
                  <a:srgbClr val="6F6F7A"/>
                </a:solidFill>
                <a:latin typeface="Calibri"/>
              </a:rPr>
              <a:t>FOR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63367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F4F5"/>
                </a:solidFill>
                <a:latin typeface="Calibri"/>
              </a:rPr>
              <a:t>Design Leadership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537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Thiele · Gilles · Krugger · Jones · Zuehlke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01 · THE STRATEGIC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02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WHY THIS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i="0" b="0">
                <a:solidFill>
                  <a:srgbClr val="F4F4F5"/>
                </a:solidFill>
                <a:latin typeface="Georgia"/>
              </a:rPr>
              <a:t>Designing vehicles is getting more complex. Customer
expectations are rising. The pace of decisions must </a:t>
            </a:r>
            <a:r>
              <a:rPr sz="2800" i="1" b="0">
                <a:solidFill>
                  <a:srgbClr val="E8A87C"/>
                </a:solidFill>
                <a:latin typeface="Georgia"/>
              </a:rPr>
              <a:t>rise with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4B4BB"/>
                </a:solidFill>
                <a:latin typeface="Calibri"/>
              </a:rPr>
              <a:t>This is not a technology conversation. It is a question of how Design adapts as an organization — how we learn faster, decide faster, and protect institutional capability.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40480"/>
            <a:ext cx="2688336" cy="23774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PRODUCT COMPLEXITY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120640"/>
            <a:ext cx="223113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More variants, more powertrains, more software, more regulatory environments. Every program now carries more decisions than the last.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2424" y="3840480"/>
            <a:ext cx="2688336" cy="23774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6744" y="40690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6744" y="4709160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CUSTOMER EXPECTATIONS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6744" y="5120640"/>
            <a:ext cx="223113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Tastes evolve faster. New segments emerge between cycles. Programs that look right at SOP must still feel right years later.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3840480"/>
            <a:ext cx="2688336" cy="23774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3840480"/>
            <a:ext cx="31750" cy="237744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40690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709160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FASTER LEARNING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5120640"/>
            <a:ext cx="223113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Decisions made earlier — with better context — cost less and produce better outcomes. Learning speed is becoming a structural advantage.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97112" y="3840480"/>
            <a:ext cx="2688336" cy="23774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7112" y="3840480"/>
            <a:ext cx="31750" cy="237744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40690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4709160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FASTER DECISIONS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5120640"/>
            <a:ext cx="223113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The teams that compress the distance between insight and action will define the next era of automotive design.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E8A87C"/>
                </a:solidFill>
                <a:latin typeface="Georgia"/>
              </a:rPr>
              <a:t>The answer is organizational capability — not new tools.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02 ·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03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HOW VEHICLES ARE DEVELOPED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Seven stages. Many specialists. Each handoff a moment
where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intent can be lost.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4B4BB"/>
                </a:solidFill>
                <a:latin typeface="Calibri"/>
              </a:rPr>
              <a:t>The path from designer intent to leadership decision crosses many disciplines. Every step adds value — and every handoff adds latency, interpretation, and rework.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57600"/>
            <a:ext cx="1508760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Sketch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0916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Designers</a:t>
            </a:r>
          </a:p>
        </p:txBody>
      </p:sp>
      <p:sp>
        <p:nvSpPr>
          <p:cNvPr id="14" name="Right Triangle 13"/>
          <p:cNvSpPr/>
          <p:nvPr/>
        </p:nvSpPr>
        <p:spPr>
          <a:xfrm rot="1800000">
            <a:off x="2153412" y="4370832"/>
            <a:ext cx="54864" cy="109728"/>
          </a:xfrm>
          <a:prstGeom prst="rtTriangl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12848" y="3657600"/>
            <a:ext cx="1508760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50008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416052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Surfacing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0008" y="470916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CDD specialists</a:t>
            </a:r>
          </a:p>
        </p:txBody>
      </p:sp>
      <p:sp>
        <p:nvSpPr>
          <p:cNvPr id="19" name="Right Triangle 18"/>
          <p:cNvSpPr/>
          <p:nvPr/>
        </p:nvSpPr>
        <p:spPr>
          <a:xfrm rot="1800000">
            <a:off x="3726180" y="4370832"/>
            <a:ext cx="54864" cy="109728"/>
          </a:xfrm>
          <a:prstGeom prst="rtTriangl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85616" y="3657600"/>
            <a:ext cx="1508760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2776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2776" y="416052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Clay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2776" y="470916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Modeling studio</a:t>
            </a:r>
          </a:p>
        </p:txBody>
      </p:sp>
      <p:sp>
        <p:nvSpPr>
          <p:cNvPr id="24" name="Right Triangle 23"/>
          <p:cNvSpPr/>
          <p:nvPr/>
        </p:nvSpPr>
        <p:spPr>
          <a:xfrm rot="1800000">
            <a:off x="5298948" y="4370832"/>
            <a:ext cx="54864" cy="109728"/>
          </a:xfrm>
          <a:prstGeom prst="rtTriangl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58384" y="3657600"/>
            <a:ext cx="1508760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95544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5544" y="416052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Physical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5544" y="470916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Studio + leadership</a:t>
            </a:r>
          </a:p>
        </p:txBody>
      </p:sp>
      <p:sp>
        <p:nvSpPr>
          <p:cNvPr id="29" name="Right Triangle 28"/>
          <p:cNvSpPr/>
          <p:nvPr/>
        </p:nvSpPr>
        <p:spPr>
          <a:xfrm rot="1800000">
            <a:off x="6871716" y="4370832"/>
            <a:ext cx="54864" cy="109728"/>
          </a:xfrm>
          <a:prstGeom prst="rtTriangl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31152" y="3657600"/>
            <a:ext cx="1508760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68312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16052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Visualization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470916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Unreal · VRED teams</a:t>
            </a:r>
          </a:p>
        </p:txBody>
      </p:sp>
      <p:sp>
        <p:nvSpPr>
          <p:cNvPr id="34" name="Right Triangle 33"/>
          <p:cNvSpPr/>
          <p:nvPr/>
        </p:nvSpPr>
        <p:spPr>
          <a:xfrm rot="1800000">
            <a:off x="8444484" y="4370832"/>
            <a:ext cx="54864" cy="109728"/>
          </a:xfrm>
          <a:prstGeom prst="rtTriangl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3920" y="3657600"/>
            <a:ext cx="1508760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1080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416052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Animation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470916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Motion suppliers</a:t>
            </a:r>
          </a:p>
        </p:txBody>
      </p:sp>
      <p:sp>
        <p:nvSpPr>
          <p:cNvPr id="39" name="Right Triangle 38"/>
          <p:cNvSpPr/>
          <p:nvPr/>
        </p:nvSpPr>
        <p:spPr>
          <a:xfrm rot="1800000">
            <a:off x="10017252" y="4370832"/>
            <a:ext cx="54864" cy="109728"/>
          </a:xfrm>
          <a:prstGeom prst="rtTriangl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76688" y="3657600"/>
            <a:ext cx="1508760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13848" y="38404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3848" y="416052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Leadership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13848" y="470916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Decision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486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40">
                <a:solidFill>
                  <a:srgbClr val="6F6F7A"/>
                </a:solidFill>
                <a:latin typeface="Calibri"/>
              </a:rPr>
              <a:t>WHERE FRICTION ACCUMULATES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806440"/>
            <a:ext cx="25400" cy="73152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58064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F4F5"/>
                </a:solidFill>
                <a:latin typeface="Calibri"/>
              </a:rPr>
              <a:t>Interpretation gaps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08076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Each handoff translates intent into a new medium — sketches into surfaces, surfaces into clay, clay into renders.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15968" y="5806440"/>
            <a:ext cx="25400" cy="73152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53128" y="58064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F4F5"/>
                </a:solidFill>
                <a:latin typeface="Calibri"/>
              </a:rPr>
              <a:t>Sequential dependencies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53128" y="608076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Each stage typically waits for the prior one to complete. Parallel exploration is expensive and rare.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91856" y="5806440"/>
            <a:ext cx="25400" cy="73152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9016" y="58064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F4F5"/>
                </a:solidFill>
                <a:latin typeface="Calibri"/>
              </a:rPr>
              <a:t>Late visibility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29016" y="608076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Leadership sees finished artifacts. Course correction is costly the further the project has traveled.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03 · THE NEW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04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HOW AI AND AR COMPRESS THE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Fewer handoffs. Faster understanding.
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Earlier decisions.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4B4BB"/>
                </a:solidFill>
                <a:latin typeface="Calibri"/>
              </a:rPr>
              <a:t>AI and AR don't replace the stages — they collapse the time between them. Designers carry intent further into the process before specialists are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57600"/>
            <a:ext cx="1773936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840480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6052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Sketch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0916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Designer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78024" y="3657600"/>
            <a:ext cx="1773936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78024" y="3657600"/>
            <a:ext cx="31750" cy="155448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0904" y="3840480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0904" y="416052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Vizcom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0904" y="470916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E8A87C"/>
                </a:solidFill>
                <a:latin typeface="Calibri"/>
              </a:rPr>
              <a:t>AI rendering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1773936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3657600"/>
            <a:ext cx="31750" cy="155448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3840480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416052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3D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470916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E8A87C"/>
                </a:solidFill>
                <a:latin typeface="Calibri"/>
              </a:rPr>
              <a:t>Geometry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3912" y="3657600"/>
            <a:ext cx="1773936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3912" y="3657600"/>
            <a:ext cx="31750" cy="155448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6792" y="3840480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16052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Gravity Sketch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70916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E8A87C"/>
                </a:solidFill>
                <a:latin typeface="Calibri"/>
              </a:rPr>
              <a:t>AR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1856" y="3657600"/>
            <a:ext cx="1773936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91856" y="3657600"/>
            <a:ext cx="31750" cy="155448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4736" y="3840480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6" y="416052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AI Storytelling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4736" y="470916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E8A87C"/>
                </a:solidFill>
                <a:latin typeface="Calibri"/>
              </a:rPr>
              <a:t>Motion + context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29800" y="3657600"/>
            <a:ext cx="1773936" cy="15544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80" y="3840480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Georgia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416052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F4F5"/>
                </a:solidFill>
                <a:latin typeface="Calibri"/>
              </a:rPr>
              <a:t>Leadership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12680" y="4709160"/>
            <a:ext cx="1408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Earlier · informed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486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40">
                <a:solidFill>
                  <a:srgbClr val="6F6F7A"/>
                </a:solidFill>
                <a:latin typeface="Calibri"/>
              </a:rPr>
              <a:t>WHAT IT BUYS 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25400" cy="731520"/>
          </a:xfrm>
          <a:prstGeom prst="rect">
            <a:avLst/>
          </a:prstGeom>
          <a:solidFill>
            <a:srgbClr val="E8A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8064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F4F5"/>
                </a:solidFill>
                <a:latin typeface="Calibri"/>
              </a:rPr>
              <a:t>Earlier understanding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08076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Designers see their intent in render, motion, and AR before downstream specialists invest weeks.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5968" y="5806440"/>
            <a:ext cx="25400" cy="731520"/>
          </a:xfrm>
          <a:prstGeom prst="rect">
            <a:avLst/>
          </a:prstGeom>
          <a:solidFill>
            <a:srgbClr val="E8A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53128" y="58064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F4F5"/>
                </a:solidFill>
                <a:latin typeface="Calibri"/>
              </a:rPr>
              <a:t>Earlier decisions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53128" y="608076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Leadership reviews richer artifacts earlier — when course corrections are still inexpensive.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91856" y="5806440"/>
            <a:ext cx="25400" cy="731520"/>
          </a:xfrm>
          <a:prstGeom prst="rect">
            <a:avLst/>
          </a:prstGeom>
          <a:solidFill>
            <a:srgbClr val="E8A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9016" y="58064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F4F5"/>
                </a:solidFill>
                <a:latin typeface="Calibri"/>
              </a:rPr>
              <a:t>Earlier alignment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9016" y="608076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Engineering, planning, and design see the same vehicle at the same time, in the same medium.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04 · STATUS OF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05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WHAT WE HAVE ACCOMPLISHED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This is not experimentation. AI is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deployed</a:t>
            </a:r>
            <a:r>
              <a:rPr sz="2600" i="0" b="0">
                <a:solidFill>
                  <a:srgbClr val="F4F4F5"/>
                </a:solidFill>
                <a:latin typeface="Georgia"/>
              </a:rPr>
              <a:t>
inside the daily work of the studios.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08960"/>
            <a:ext cx="2697480" cy="21945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08960"/>
            <a:ext cx="31750" cy="219456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40">
                <a:solidFill>
                  <a:srgbClr val="D94B2B"/>
                </a:solidFill>
                <a:latin typeface="Calibri"/>
              </a:rPr>
              <a:t>VIZCOM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0" i="0">
                <a:solidFill>
                  <a:srgbClr val="E8A87C"/>
                </a:solidFill>
                <a:latin typeface="Georgia"/>
              </a:rPr>
              <a:t>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05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F4F5"/>
                </a:solidFill>
                <a:latin typeface="Calibri"/>
              </a:rPr>
              <a:t>Global licenses approved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Visualization platform deployed across all design regions.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3108960"/>
            <a:ext cx="2697480" cy="21945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3108960"/>
            <a:ext cx="31750" cy="219456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3337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40">
                <a:solidFill>
                  <a:srgbClr val="D94B2B"/>
                </a:solidFill>
                <a:latin typeface="Calibri"/>
              </a:rPr>
              <a:t>VIZCOM · NA PDO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361188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0" i="0">
                <a:solidFill>
                  <a:srgbClr val="E8A87C"/>
                </a:solidFill>
                <a:latin typeface="Georgia"/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8" y="44805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F4F5"/>
                </a:solidFill>
                <a:latin typeface="Calibri"/>
              </a:rPr>
              <a:t>North America PDO licenses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47548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Production design organization fully equipped.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63056" y="3108960"/>
            <a:ext cx="2697480" cy="21945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3056" y="3108960"/>
            <a:ext cx="31750" cy="219456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3337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40">
                <a:solidFill>
                  <a:srgbClr val="D94B2B"/>
                </a:solidFill>
                <a:latin typeface="Calibri"/>
              </a:rPr>
              <a:t>RUNWAY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61188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 i="0">
                <a:solidFill>
                  <a:srgbClr val="E8A87C"/>
                </a:solidFill>
                <a:latin typeface="Georgia"/>
              </a:rPr>
              <a:t>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4805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F4F5"/>
                </a:solidFill>
                <a:latin typeface="Calibri"/>
              </a:rPr>
              <a:t>Global licenses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7376" y="47548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AI motion and video deployed across regions.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24544" y="3108960"/>
            <a:ext cx="2697480" cy="21945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8864" y="3337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40">
                <a:solidFill>
                  <a:srgbClr val="D94B2B"/>
                </a:solidFill>
                <a:latin typeface="Calibri"/>
              </a:rPr>
              <a:t>GRAVITY SKETCH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361188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E8A87C"/>
                </a:solidFill>
                <a:latin typeface="Georgia"/>
              </a:rPr>
              <a:t>Live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44805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F4F5"/>
                </a:solidFill>
                <a:latin typeface="Calibri"/>
              </a:rPr>
              <a:t>Studio 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47548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AR review and 3D sketch active in studios.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32120"/>
            <a:ext cx="10908792" cy="9601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532120"/>
            <a:ext cx="38100" cy="96012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669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40">
                <a:solidFill>
                  <a:srgbClr val="6F6F7A"/>
                </a:solidFill>
                <a:latin typeface="Calibri"/>
              </a:rPr>
              <a:t>TRAINING ACROSS STUDIOS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897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4F4F5"/>
                </a:solidFill>
                <a:latin typeface="Georgia"/>
              </a:rPr>
              <a:t>Structured training delivered across Exteriors, Interiors, and Advanced teams — across regions.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6217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B4B4BB"/>
                </a:solidFill>
                <a:latin typeface="Calibri"/>
              </a:rPr>
              <a:t>Designers are now self-sufficient for the majority of early rendering and visualization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05 · WHAT IT LOOKS LIKE — VISUALIZATION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06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AI-ACCELERATED VISUALIZATION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A four-step workflow — entirely owned by the designer,
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from sketch to theme exploration.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80"/>
            <a:ext cx="25400" cy="685800"/>
          </a:xfrm>
          <a:prstGeom prst="rect">
            <a:avLst/>
          </a:prstGeom>
          <a:solidFill>
            <a:srgbClr val="6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9077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120">
                <a:solidFill>
                  <a:srgbClr val="F4F4F5"/>
                </a:solidFill>
                <a:latin typeface="Calibri"/>
              </a:rPr>
              <a:t>SKETCH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Designer captures intent in a loose sketch — no change to the craft of the studio.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03320"/>
            <a:ext cx="25400" cy="6858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033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6850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120">
                <a:solidFill>
                  <a:srgbClr val="F4F4F5"/>
                </a:solidFill>
                <a:latin typeface="Calibri"/>
              </a:rPr>
              <a:t>RENDER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77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Sketch lifted to a photoreal render in minutes. Material, lighting, environment — all live.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80560"/>
            <a:ext cx="25400" cy="6858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805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4622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120">
                <a:solidFill>
                  <a:srgbClr val="F4F4F5"/>
                </a:solidFill>
                <a:latin typeface="Calibri"/>
              </a:rPr>
              <a:t>REFINEMENT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7548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Iterate on proportion, surfacing, color and trim without leaving the working file.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257800"/>
            <a:ext cx="25400" cy="6858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578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239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120">
                <a:solidFill>
                  <a:srgbClr val="F4F4F5"/>
                </a:solidFill>
                <a:latin typeface="Calibri"/>
              </a:rPr>
              <a:t>THEME EXPLORATION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532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Multiple themes carried in parallel — same effort that previously produced one direction.</a:t>
            </a:r>
          </a:p>
        </p:txBody>
      </p:sp>
      <p:pic>
        <p:nvPicPr>
          <p:cNvPr id="25" name="Picture 24" descr="vizcom_grid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743200"/>
            <a:ext cx="5239512" cy="3291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09360" y="6126480"/>
            <a:ext cx="52395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VIZCOM AI WORKBENCH · Live interior workflow from a current program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00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E8A87C"/>
                </a:solidFill>
                <a:latin typeface="Georgia"/>
              </a:rPr>
              <a:t>Designers stay in authorship throughout. AI compresses execution time — not creative judgement.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_studio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2960"/>
            <a:ext cx="12191695" cy="32918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22960"/>
            <a:ext cx="6400800" cy="3291840"/>
          </a:xfrm>
          <a:prstGeom prst="rect">
            <a:avLst/>
          </a:prstGeom>
          <a:solidFill>
            <a:srgbClr val="0A0A0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06 · WHAT IT LOOKS LIKE — 3D +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07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FROM 2D TO 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6400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i="0" b="0">
                <a:solidFill>
                  <a:srgbClr val="F4F4F5"/>
                </a:solidFill>
                <a:latin typeface="Georgia"/>
              </a:rPr>
              <a:t>Designers and leadership review themes at
</a:t>
            </a:r>
            <a:r>
              <a:rPr sz="2200" i="1" b="0">
                <a:solidFill>
                  <a:srgbClr val="E8A87C"/>
                </a:solidFill>
                <a:latin typeface="Georgia"/>
              </a:rPr>
              <a:t>full scale</a:t>
            </a:r>
            <a:r>
              <a:rPr sz="2200" i="0" b="0">
                <a:solidFill>
                  <a:srgbClr val="F4F4F5"/>
                </a:solidFill>
                <a:latin typeface="Georgia"/>
              </a:rPr>
              <a:t> — before specialists invest weeks in geometry.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703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40">
                <a:solidFill>
                  <a:srgbClr val="F4F4F5"/>
                </a:solidFill>
                <a:latin typeface="Calibri"/>
              </a:rPr>
              <a:t>GRAVITY SKETCH · AR REVIEW IN STUDIO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26280"/>
            <a:ext cx="3611880" cy="17830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526280"/>
            <a:ext cx="31750" cy="178308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E8A87C"/>
                </a:solidFill>
                <a:latin typeface="Calibri"/>
              </a:rPr>
              <a:t>EARLIER PROPORTION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663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Walk around a full-size virtual model. Proportions are evaluated in space — the way customers will actually experience the vehicle.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4526280"/>
            <a:ext cx="3611880" cy="17830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4526280"/>
            <a:ext cx="31750" cy="178308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4754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E8A87C"/>
                </a:solidFill>
                <a:latin typeface="Calibri"/>
              </a:rPr>
              <a:t>EARLIER DECISION MAKING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51663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Leadership engages with themes that look and feel like vehicles, not posters. Decisions move forward at sketch-stage cost.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1856" y="4526280"/>
            <a:ext cx="3611880" cy="178308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1856" y="4526280"/>
            <a:ext cx="31750" cy="178308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6" y="4754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E8A87C"/>
                </a:solidFill>
                <a:latin typeface="Calibri"/>
              </a:rPr>
              <a:t>EARLIER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51663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Studios across regions stand around the same model — virtually. Interpretation drift between sites is dramatically reduced.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4B4BB"/>
                </a:solidFill>
                <a:latin typeface="Calibri"/>
              </a:rPr>
              <a:t>AI is not limited to image generation. It now extends into how the studio works in three dimensions.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07 · WHAT IT LOOKS LIKE — STORYTELLING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08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AI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i="0" b="0">
                <a:solidFill>
                  <a:srgbClr val="F4F4F5"/>
                </a:solidFill>
                <a:latin typeface="Georgia"/>
              </a:rPr>
              <a:t>Design intent — communicated in motion, in context — </a:t>
            </a:r>
            <a:r>
              <a:rPr sz="2400" i="1" b="0">
                <a:solidFill>
                  <a:srgbClr val="E8A87C"/>
                </a:solidFill>
                <a:latin typeface="Georgia"/>
              </a:rPr>
              <a:t>by
the design team itself.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5349240" cy="27432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38100" cy="2743200"/>
          </a:xfrm>
          <a:prstGeom prst="rect">
            <a:avLst/>
          </a:prstGeom>
          <a:solidFill>
            <a:srgbClr val="6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17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6F6F7A"/>
                </a:solidFill>
                <a:latin typeface="Calibri"/>
              </a:rPr>
              <a:t>TRADITIONAL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9184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4F4F5"/>
                </a:solidFill>
                <a:latin typeface="Georgia"/>
              </a:rPr>
              <a:t>Many teams. Many handoffs.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404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20">
                <a:solidFill>
                  <a:srgbClr val="6F6F7A"/>
                </a:solidFill>
                <a:latin typeface="Calibri"/>
              </a:rPr>
              <a:t>TEAMS INVOLVED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Designers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069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CDD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3434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Unreal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3434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VRED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17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Animation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617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External suppliers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937760"/>
            <a:ext cx="493776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20">
                <a:solidFill>
                  <a:srgbClr val="6F6F7A"/>
                </a:solidFill>
                <a:latin typeface="Calibri"/>
              </a:rPr>
              <a:t>TYPICAL DURATION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12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4F5"/>
                </a:solidFill>
                <a:latin typeface="Georgia"/>
              </a:rPr>
              <a:t>8 – 12 weeks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834640"/>
            <a:ext cx="5349240" cy="27432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834640"/>
            <a:ext cx="38100" cy="27432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017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D94B2B"/>
                </a:solidFill>
                <a:latin typeface="Calibri"/>
              </a:rPr>
              <a:t>AI-ENABLED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29184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A87C"/>
                </a:solidFill>
                <a:latin typeface="Georgia"/>
              </a:rPr>
              <a:t>Small team. Internal ownership.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404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20">
                <a:solidFill>
                  <a:srgbClr val="6F6F7A"/>
                </a:solidFill>
                <a:latin typeface="Calibri"/>
              </a:rPr>
              <a:t>TEAMS INVOLVED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069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1 – 2 designers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Vizcom · Runway · Veo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3434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Internal authorship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3434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4B4BB"/>
                </a:solidFill>
                <a:latin typeface="Calibri"/>
              </a:rPr>
              <a:t>— Rapid iteration loop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4937760"/>
            <a:ext cx="493776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5029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20">
                <a:solidFill>
                  <a:srgbClr val="6F6F7A"/>
                </a:solidFill>
                <a:latin typeface="Calibri"/>
              </a:rPr>
              <a:t>TYPICAL DURATION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212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A87C"/>
                </a:solidFill>
                <a:latin typeface="Georgia"/>
              </a:rPr>
              <a:t>2 – 5 days</a:t>
            </a:r>
          </a:p>
        </p:txBody>
      </p:sp>
      <p:pic>
        <p:nvPicPr>
          <p:cNvPr id="35" name="Picture 34" descr="tailgate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" y="5852160"/>
            <a:ext cx="1764792" cy="640080"/>
          </a:xfrm>
          <a:prstGeom prst="rect">
            <a:avLst/>
          </a:prstGeom>
        </p:spPr>
      </p:pic>
      <p:pic>
        <p:nvPicPr>
          <p:cNvPr id="36" name="Picture 35" descr="times_square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683" y="5852160"/>
            <a:ext cx="1764792" cy="640080"/>
          </a:xfrm>
          <a:prstGeom prst="rect">
            <a:avLst/>
          </a:prstGeom>
        </p:spPr>
      </p:pic>
      <p:pic>
        <p:nvPicPr>
          <p:cNvPr id="37" name="Picture 36" descr="desert_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8195" y="5852160"/>
            <a:ext cx="1764792" cy="640080"/>
          </a:xfrm>
          <a:prstGeom prst="rect">
            <a:avLst/>
          </a:prstGeom>
        </p:spPr>
      </p:pic>
      <p:pic>
        <p:nvPicPr>
          <p:cNvPr id="38" name="Picture 37" descr="campus_cr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8707" y="5852160"/>
            <a:ext cx="1764792" cy="640080"/>
          </a:xfrm>
          <a:prstGeom prst="rect">
            <a:avLst/>
          </a:prstGeom>
        </p:spPr>
      </p:pic>
      <p:pic>
        <p:nvPicPr>
          <p:cNvPr id="39" name="Picture 38" descr="beach_family_cro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9219" y="5852160"/>
            <a:ext cx="1764792" cy="640080"/>
          </a:xfrm>
          <a:prstGeom prst="rect">
            <a:avLst/>
          </a:prstGeom>
        </p:spPr>
      </p:pic>
      <p:pic>
        <p:nvPicPr>
          <p:cNvPr id="40" name="Picture 39" descr="winter_city_cr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9731" y="5852160"/>
            <a:ext cx="1764792" cy="6400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40080" y="65653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240">
                <a:solidFill>
                  <a:srgbClr val="6F6F7A"/>
                </a:solidFill>
                <a:latin typeface="Calibri"/>
              </a:rPr>
              <a:t>EVIDENCE · Stories produced by the design team in days, not weeks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08 ·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09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BUSINESS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Four outcomes leadership can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feel today —
</a:t>
            </a:r>
            <a:r>
              <a:rPr sz="2600" i="0" b="0">
                <a:solidFill>
                  <a:srgbClr val="F4F4F5"/>
                </a:solidFill>
                <a:latin typeface="Georgia"/>
              </a:rPr>
              <a:t>without exaggerated claims.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17520"/>
            <a:ext cx="2697480" cy="32004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17520"/>
            <a:ext cx="31750" cy="32004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D94B2B"/>
                </a:solidFill>
                <a:latin typeface="Calibri"/>
              </a:rPr>
              <a:t>SPEED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4F4F5"/>
                </a:solidFill>
                <a:latin typeface="Georgia"/>
              </a:rPr>
              <a:t>Sketch to render in minutes. Theme exploration in days. Storytelling in less than a week.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394960"/>
            <a:ext cx="214884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4864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B4B4BB"/>
                </a:solidFill>
                <a:latin typeface="Calibri"/>
              </a:rPr>
              <a:t>Designer judgement spends less time waiting and more time deciding.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3017520"/>
            <a:ext cx="2697480" cy="32004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3017520"/>
            <a:ext cx="31750" cy="32004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246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D94B2B"/>
                </a:solidFill>
                <a:latin typeface="Calibri"/>
              </a:rPr>
              <a:t>PRODUCTIVITY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79476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4F4F5"/>
                </a:solidFill>
                <a:latin typeface="Georgia"/>
              </a:rPr>
              <a:t>Designers handle visualization and narrative work that previously required external teams.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5394960"/>
            <a:ext cx="214884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54864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B4B4BB"/>
                </a:solidFill>
                <a:latin typeface="Calibri"/>
              </a:rPr>
              <a:t>Studio capacity expands without expanding headcount.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3017520"/>
            <a:ext cx="2697480" cy="32004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3017520"/>
            <a:ext cx="31750" cy="32004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246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D94B2B"/>
                </a:solidFill>
                <a:latin typeface="Calibri"/>
              </a:rPr>
              <a:t>COMMUNICATION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79476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4F4F5"/>
                </a:solidFill>
                <a:latin typeface="Georgia"/>
              </a:rPr>
              <a:t>Design intent travels with motion, context, and emotion — not just static frames.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394960"/>
            <a:ext cx="214884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4864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B4B4BB"/>
                </a:solidFill>
                <a:latin typeface="Calibri"/>
              </a:rPr>
              <a:t>Leadership and stakeholders align on what the vehicle is meant to be.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9680" y="3017520"/>
            <a:ext cx="2697480" cy="32004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69680" y="3017520"/>
            <a:ext cx="31750" cy="32004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3246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D94B2B"/>
                </a:solidFill>
                <a:latin typeface="Calibri"/>
              </a:rPr>
              <a:t>COLLABORATION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79476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4F4F5"/>
                </a:solidFill>
                <a:latin typeface="Georgia"/>
              </a:rPr>
              <a:t>Global studios share live 3D and AR data. Regions iterate on the same model in real time.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5394960"/>
            <a:ext cx="2148840" cy="635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54864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B4B4BB"/>
                </a:solidFill>
                <a:latin typeface="Calibri"/>
              </a:rPr>
              <a:t>Distance and timezone are no longer constraints on the studio.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E8A87C"/>
                </a:solidFill>
                <a:latin typeface="Georgia"/>
              </a:rPr>
              <a:t>Real outcomes the studios feel weekly — measured, not promised.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09 · WHERE WE GO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EMERGING CAPABILITY AREAS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The next horizon is not more tools.
It is 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broader organizational capability.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0896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4B2B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DESIGN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Connected institutional memory across the design organization.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1568" y="310896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3291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4B2B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35661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AUTOMATION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39319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Studio operations and repetitive workflow handled by reliable systems.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6" y="310896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3291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4B2B"/>
                </a:solidFill>
                <a:latin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35661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9319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AI co-creators that analyze, suggest, and iterate alongside designers.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24544" y="310896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3144" y="3291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4B2B"/>
                </a:solidFill>
                <a:latin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3144" y="356616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3D DEVELOPMENT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39319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Continued acceleration of geometry, surfacing, and spatial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85619" y="466344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14219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4B2B"/>
                </a:solidFill>
                <a:latin typeface="Georgia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14219" y="51206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ENGINEERING INTEGRATION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4219" y="548640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Connection between design intent and engineering constraints, earlier.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47107" y="466344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5707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4B2B"/>
                </a:solidFill>
                <a:latin typeface="Georgia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5707" y="51206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KNOWLEDGE SYSTEMS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5707" y="548640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Customer insight, decisions, and rationale captured as queryable memory.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08595" y="4663440"/>
            <a:ext cx="2697480" cy="14630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37195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4B2B"/>
                </a:solidFill>
                <a:latin typeface="Georgia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37195" y="51206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F4F4F5"/>
                </a:solidFill>
                <a:latin typeface="Calibri"/>
              </a:rPr>
              <a:t>DIGITAL EXPERIENCES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37195" y="548640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Design extending into the digital touchpoints customers will live with.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008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E8A87C"/>
                </a:solidFill>
                <a:latin typeface="Georgia"/>
              </a:rPr>
              <a:t>These are not tool categories. They are capability categories — owned by Design.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10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Move the predictable work off designers.
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Return time to creative judgement.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4B4BB"/>
                </a:solidFill>
                <a:latin typeface="Calibri"/>
              </a:rPr>
              <a:t>Most studio hours are not spent designing. They are spent gathering, formatting, summarizing, and chasing. Automation reclaims that time at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46120"/>
            <a:ext cx="3611880" cy="15087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4290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E8A87C"/>
                </a:solidFill>
                <a:latin typeface="Calibri"/>
              </a:rPr>
              <a:t>MEETING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4048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Reviews captured, transcribed, and summarized. Decisions and action items surfaced automatically.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5968" y="3246120"/>
            <a:ext cx="3611880" cy="15087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34290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E8A87C"/>
                </a:solidFill>
                <a:latin typeface="Calibri"/>
              </a:rPr>
              <a:t>DOCUMENTATION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84048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Design rationale, review minutes, and program records captured as searchable institutional memory.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3246120"/>
            <a:ext cx="3611880" cy="15087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34290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E8A87C"/>
                </a:solidFill>
                <a:latin typeface="Calibri"/>
              </a:rPr>
              <a:t>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84048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Customer, competitor, and trend signal gathered and synthesized continuously across the organization.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818888"/>
            <a:ext cx="3611880" cy="15087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017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E8A87C"/>
                </a:solidFill>
                <a:latin typeface="Calibri"/>
              </a:rPr>
              <a:t>WORKFLOW AUTOMATION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413248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Asset preparation, exports, format conversion, naming, versioning — moved off humans.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4818888"/>
            <a:ext cx="3611880" cy="15087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50017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E8A87C"/>
                </a:solidFill>
                <a:latin typeface="Calibri"/>
              </a:rPr>
              <a:t>KNOWLEDGE CAPTURE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5413248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Design decisions, theme rationale, and lessons learned retained beyond the people who made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1856" y="4818888"/>
            <a:ext cx="3611880" cy="150876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0456" y="50017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20">
                <a:solidFill>
                  <a:srgbClr val="E8A87C"/>
                </a:solidFill>
                <a:latin typeface="Calibri"/>
              </a:rPr>
              <a:t>BUSINESS OPERATIONS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413248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B4B4BB"/>
                </a:solidFill>
                <a:latin typeface="Calibri"/>
              </a:rPr>
              <a:t>Reporting, status, scheduling, and coordination handled with less manual effort.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E8A87C"/>
                </a:solidFill>
                <a:latin typeface="Georgia"/>
              </a:rPr>
              <a:t>A designer's most valuable hour is the one spent in creative judgement.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11 ·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AGENTIC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AI collaborators — operating alongside designers,
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with designers in control.</a:t>
            </a:r>
          </a:p>
        </p:txBody>
      </p:sp>
      <p:pic>
        <p:nvPicPr>
          <p:cNvPr id="9" name="Picture 8" descr="network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51760"/>
            <a:ext cx="10908792" cy="14630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" y="2651760"/>
            <a:ext cx="10908792" cy="1463040"/>
          </a:xfrm>
          <a:prstGeom prst="rect">
            <a:avLst/>
          </a:prstGeom>
          <a:solidFill>
            <a:srgbClr val="0A0A0B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1546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F4F4F5"/>
                </a:solidFill>
                <a:latin typeface="Georgia"/>
              </a:rPr>
              <a:t>Designer · Agent · Studio · Organization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434840"/>
            <a:ext cx="2240280" cy="18288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434840"/>
            <a:ext cx="31750" cy="18288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6344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8A87C"/>
                </a:solidFill>
                <a:latin typeface="Calibri"/>
              </a:rPr>
              <a:t>DESIGN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212080"/>
            <a:ext cx="1874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B4B4BB"/>
                </a:solidFill>
                <a:latin typeface="Calibri"/>
              </a:rPr>
              <a:t>Agents review program history, surface patterns, and propose refinements rooted in design context.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16936" y="4434840"/>
            <a:ext cx="2240280" cy="18288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16936" y="4434840"/>
            <a:ext cx="31750" cy="18288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18104" y="466344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8A87C"/>
                </a:solidFill>
                <a:latin typeface="Calibri"/>
              </a:rPr>
              <a:t>KNOWLEDGE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18104" y="5212080"/>
            <a:ext cx="1874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B4B4BB"/>
                </a:solidFill>
                <a:latin typeface="Calibri"/>
              </a:rPr>
              <a:t>Find prior work, prior decisions, and prior rationale — without searching across folders and inboxes.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93792" y="4434840"/>
            <a:ext cx="2240280" cy="18288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93792" y="4434840"/>
            <a:ext cx="31750" cy="18288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466344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8A87C"/>
                </a:solidFill>
                <a:latin typeface="Calibri"/>
              </a:rPr>
              <a:t>DECISION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5212080"/>
            <a:ext cx="1874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B4B4BB"/>
                </a:solidFill>
                <a:latin typeface="Calibri"/>
              </a:rPr>
              <a:t>Provide leadership with richer context — assembled, summarized, and ready when decisions are made.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70648" y="4434840"/>
            <a:ext cx="2240280" cy="18288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70648" y="4434840"/>
            <a:ext cx="31750" cy="18288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71816" y="466344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8A87C"/>
                </a:solidFill>
                <a:latin typeface="Calibri"/>
              </a:rPr>
              <a:t>WORKFLOW ORCHESTRATION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1816" y="5212080"/>
            <a:ext cx="1874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B4B4BB"/>
                </a:solidFill>
                <a:latin typeface="Calibri"/>
              </a:rPr>
              <a:t>Coordinate routine handoffs between people, tools, and disciplines without human ticket-pushing.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47504" y="4434840"/>
            <a:ext cx="2240280" cy="182880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47504" y="4434840"/>
            <a:ext cx="31750" cy="18288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48672" y="466344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8A87C"/>
                </a:solidFill>
                <a:latin typeface="Calibri"/>
              </a:rPr>
              <a:t>CAPABILITY AMPLIFICATION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48672" y="5212080"/>
            <a:ext cx="1874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B4B4BB"/>
                </a:solidFill>
                <a:latin typeface="Calibri"/>
              </a:rPr>
              <a:t>Multiply what each designer can explore. Expand reach without expanding org structure.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E8A87C"/>
                </a:solidFill>
                <a:latin typeface="Georgia"/>
              </a:rPr>
              <a:t>Designers remain in authorship. Agents handle the work that distracts from authorship.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12 · DESIGN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DESIGN INTELLIGENCE — THE LONGER-TERM 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i="0" b="0">
                <a:solidFill>
                  <a:srgbClr val="F4F4F5"/>
                </a:solidFill>
                <a:latin typeface="Georgia"/>
              </a:rPr>
              <a:t>Five domains of intelligence — connected into
</a:t>
            </a:r>
            <a:r>
              <a:rPr sz="2600" i="1" b="0">
                <a:solidFill>
                  <a:srgbClr val="E8A87C"/>
                </a:solidFill>
                <a:latin typeface="Georgia"/>
              </a:rPr>
              <a:t>a single learning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B4B4BB"/>
                </a:solidFill>
                <a:latin typeface="Calibri"/>
              </a:rPr>
              <a:t>Customer insight, planning logic, design rationale, engineering trade-offs, and manufacturing reality — today held in folders and individual memory — connected so every program contributes to the next.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520440"/>
            <a:ext cx="2121408" cy="21488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03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23360"/>
            <a:ext cx="166420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F4F5"/>
                </a:solidFill>
                <a:latin typeface="Calibri"/>
              </a:rPr>
              <a:t>Customer
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1664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Research, segmentation, voice-of-customer, ethnography — connected and queryable.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25496" y="3520440"/>
            <a:ext cx="2121408" cy="21488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3703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023360"/>
            <a:ext cx="166420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F4F5"/>
                </a:solidFill>
                <a:latin typeface="Calibri"/>
              </a:rPr>
              <a:t>Planning
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4892040"/>
            <a:ext cx="1664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Portfolio strategy, segment opportunity, competitive landscape, timing.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10912" y="3520440"/>
            <a:ext cx="2121408" cy="21488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9512" y="3703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4023360"/>
            <a:ext cx="166420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F4F5"/>
                </a:solidFill>
                <a:latin typeface="Calibri"/>
              </a:rPr>
              <a:t>Design
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4892040"/>
            <a:ext cx="1664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Theme decisions, review rationale, surfacing libraries, brand DNA.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96328" y="3520440"/>
            <a:ext cx="2121408" cy="21488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4928" y="3703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8" y="4023360"/>
            <a:ext cx="166420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F4F5"/>
                </a:solidFill>
                <a:latin typeface="Calibri"/>
              </a:rPr>
              <a:t>Engineering
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8" y="4892040"/>
            <a:ext cx="1664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Package constraints, manufacturing trade-offs, lessons learned.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81744" y="3520440"/>
            <a:ext cx="2121408" cy="21488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10344" y="3703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94B2B"/>
                </a:solidFill>
                <a:latin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0344" y="4023360"/>
            <a:ext cx="166420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4F4F5"/>
                </a:solidFill>
                <a:latin typeface="Calibri"/>
              </a:rPr>
              <a:t>Manufacturing
Intelligence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0344" y="4892040"/>
            <a:ext cx="16642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Producibility insight, supplier capability, launch realities.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97880"/>
            <a:ext cx="38100" cy="73152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6044184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1">
                <a:solidFill>
                  <a:srgbClr val="F4F4F5"/>
                </a:solidFill>
                <a:latin typeface="Georgia"/>
              </a:rPr>
              <a:t>Reduce the distance between insight and action. Transform information into
understanding. Transform understanding into better products.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nto_rear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13 · THE FUTURE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051560"/>
            <a:ext cx="457200" cy="1905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320">
                <a:solidFill>
                  <a:srgbClr val="D94B2B"/>
                </a:solidFill>
                <a:latin typeface="Calibri"/>
              </a:rPr>
              <a:t>THE FUTURE WE INTEND TO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10360152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i="0" b="0">
                <a:solidFill>
                  <a:srgbClr val="F4F4F5"/>
                </a:solidFill>
                <a:latin typeface="Georgia"/>
              </a:rPr>
              <a:t>Every project should make
</a:t>
            </a:r>
            <a:r>
              <a:rPr sz="4400" i="1" b="0">
                <a:solidFill>
                  <a:srgbClr val="E8A87C"/>
                </a:solidFill>
                <a:latin typeface="Georgia"/>
              </a:rPr>
              <a:t>the next project better.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72000"/>
            <a:ext cx="94457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1">
                <a:solidFill>
                  <a:srgbClr val="B4B4BB"/>
                </a:solidFill>
                <a:latin typeface="Calibri"/>
              </a:rPr>
              <a:t>Where customer insight, design intent, engineering reality, and manufacturing constraint are connected from the start — and every completed program leaves the organization more capable than the program before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2688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PHASE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4F5"/>
                </a:solidFill>
                <a:latin typeface="Georgia"/>
              </a:rPr>
              <a:t>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Where knowledge is trapped. Where time is lost.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6" y="5760720"/>
            <a:ext cx="2688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PHASE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5989320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4F5"/>
                </a:solidFill>
                <a:latin typeface="Georgia"/>
              </a:rPr>
              <a:t>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4136" y="6400800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People · knowledge · data · capability.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5760720"/>
            <a:ext cx="2688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6F6F7A"/>
                </a:solidFill>
                <a:latin typeface="Calibri"/>
              </a:rPr>
              <a:t>PHASE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5989320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4F5"/>
                </a:solidFill>
                <a:latin typeface="Georgia"/>
              </a:rPr>
              <a:t>Transform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8192" y="6400800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Learn, create, decide in new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5760720"/>
            <a:ext cx="2688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 spc="240">
                <a:solidFill>
                  <a:srgbClr val="D94B2B"/>
                </a:solidFill>
                <a:latin typeface="Calibri"/>
              </a:rPr>
              <a:t>OUTCOME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5989320"/>
            <a:ext cx="2688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8A87C"/>
                </a:solidFill>
                <a:latin typeface="Georgia"/>
              </a:rPr>
              <a:t>Compound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6400800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B4B4BB"/>
                </a:solidFill>
                <a:latin typeface="Calibri"/>
              </a:rPr>
              <a:t>Capability that grows year over year.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unset_lifestyle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4B2B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900" b="1" i="0" spc="280">
                <a:solidFill>
                  <a:srgbClr val="F4F4F5"/>
                </a:solidFill>
                <a:latin typeface="Calibri"/>
              </a:rPr>
              <a:t>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 spc="240">
                <a:solidFill>
                  <a:srgbClr val="B4B4BB"/>
                </a:solidFill>
                <a:latin typeface="Calibri"/>
              </a:rPr>
              <a:t>14 · THE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46520"/>
            <a:ext cx="1673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F4F4F5"/>
                </a:solidFill>
                <a:latin typeface="Georgia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900" b="1" i="0" spc="200">
                <a:solidFill>
                  <a:srgbClr val="6F6F7A"/>
                </a:solidFill>
                <a:latin typeface="Calibri"/>
              </a:rPr>
              <a:t>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8288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320">
                <a:solidFill>
                  <a:srgbClr val="D94B2B"/>
                </a:solidFill>
                <a:latin typeface="Calibri"/>
              </a:rPr>
              <a:t>THE KEY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10360152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800" i="0" b="0">
                <a:solidFill>
                  <a:srgbClr val="F4F4F5"/>
                </a:solidFill>
                <a:latin typeface="Georgia"/>
              </a:rPr>
              <a:t>Design is not simply </a:t>
            </a:r>
            <a:r>
              <a:rPr sz="3800" i="1" b="0">
                <a:solidFill>
                  <a:srgbClr val="E8A87C"/>
                </a:solidFill>
                <a:latin typeface="Georgia"/>
              </a:rPr>
              <a:t>adopting</a:t>
            </a:r>
            <a:r>
              <a:rPr sz="3800" i="0" b="0">
                <a:solidFill>
                  <a:srgbClr val="F4F4F5"/>
                </a:solidFill>
                <a:latin typeface="Georgia"/>
              </a:rPr>
              <a:t> AI tools.
</a:t>
            </a:r>
            <a:r>
              <a:rPr sz="3800" i="0" b="0">
                <a:solidFill>
                  <a:srgbClr val="F4F4F5"/>
                </a:solidFill>
                <a:latin typeface="Georgia"/>
              </a:rPr>
              <a:t>Design is </a:t>
            </a:r>
            <a:r>
              <a:rPr sz="3800" i="1" b="0">
                <a:solidFill>
                  <a:srgbClr val="E8A87C"/>
                </a:solidFill>
                <a:latin typeface="Georgia"/>
              </a:rPr>
              <a:t>building</a:t>
            </a:r>
            <a:r>
              <a:rPr sz="3800" i="0" b="0">
                <a:solidFill>
                  <a:srgbClr val="F4F4F5"/>
                </a:solidFill>
                <a:latin typeface="Georgia"/>
              </a:rPr>
              <a:t> a new operating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3767" y="4846320"/>
            <a:ext cx="2560320" cy="10058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647" y="50292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 spc="300">
                <a:solidFill>
                  <a:srgbClr val="6F6F7A"/>
                </a:solidFill>
                <a:latin typeface="Calibri"/>
              </a:rPr>
              <a:t>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647" y="53035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6F6F7A"/>
                </a:solidFill>
                <a:latin typeface="Georgia"/>
              </a:rPr>
              <a:t>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89807" y="4846320"/>
            <a:ext cx="2560320" cy="10058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2687" y="50292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 spc="300">
                <a:solidFill>
                  <a:srgbClr val="6F6F7A"/>
                </a:solidFill>
                <a:latin typeface="Calibri"/>
              </a:rPr>
              <a:t>THROUGH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687" y="53035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F4F4F5"/>
                </a:solidFill>
                <a:latin typeface="Georgia"/>
              </a:rPr>
              <a:t>Workflows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4846320"/>
            <a:ext cx="2560320" cy="10058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50292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 spc="300">
                <a:solidFill>
                  <a:srgbClr val="6F6F7A"/>
                </a:solidFill>
                <a:latin typeface="Calibri"/>
              </a:rPr>
              <a:t>INTO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53035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F4F4F5"/>
                </a:solidFill>
                <a:latin typeface="Georgia"/>
              </a:rPr>
              <a:t>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01887" y="4846320"/>
            <a:ext cx="2560320" cy="1005840"/>
          </a:xfrm>
          <a:prstGeom prst="rect">
            <a:avLst/>
          </a:prstGeom>
          <a:solidFill>
            <a:srgbClr val="16161B"/>
          </a:solidFill>
          <a:ln w="635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01887" y="4846320"/>
            <a:ext cx="2560320" cy="25400"/>
          </a:xfrm>
          <a:prstGeom prst="rect">
            <a:avLst/>
          </a:prstGeom>
          <a:solidFill>
            <a:srgbClr val="D94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4767" y="50292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 spc="300">
                <a:solidFill>
                  <a:srgbClr val="6F6F7A"/>
                </a:solidFill>
                <a:latin typeface="Calibri"/>
              </a:rPr>
              <a:t>TOWARD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4767" y="53035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E8A87C"/>
                </a:solidFill>
                <a:latin typeface="Georgia"/>
              </a:rPr>
              <a:t>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2179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320">
                <a:solidFill>
                  <a:srgbClr val="6F6F7A"/>
                </a:solidFill>
                <a:latin typeface="Calibri"/>
              </a:rPr>
              <a:t>LOU GASEVSKI · CHRYSLER DESIGN EXTERIOR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