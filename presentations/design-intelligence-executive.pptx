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on_city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0"/>
            <a:ext cx="62480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0" y="0"/>
            <a:ext cx="2743200" cy="6858000"/>
          </a:xfrm>
          <a:prstGeom prst="rect">
            <a:avLst/>
          </a:prstGeom>
          <a:solidFill>
            <a:srgbClr val="0A0A0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0A0A0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F4F4F5"/>
                </a:solidFill>
                <a:latin typeface="Calibri"/>
              </a:rPr>
              <a:t>STELLANTIS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132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6F6F7A"/>
                </a:solidFill>
                <a:latin typeface="Calibri"/>
              </a:rPr>
              <a:t>EXECUTIVE BRIEFING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DESIGN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56692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i="0" b="0">
                <a:solidFill>
                  <a:srgbClr val="F4F4F5"/>
                </a:solidFill>
                <a:latin typeface="Georgia"/>
              </a:rPr>
              <a:t>From experimentation
to </a:t>
            </a:r>
            <a:r>
              <a:rPr sz="4400" i="1" b="0">
                <a:solidFill>
                  <a:srgbClr val="E8A87C"/>
                </a:solidFill>
                <a:latin typeface="Georgia"/>
              </a:rPr>
              <a:t>operational capability.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4B4BB"/>
                </a:solidFill>
                <a:latin typeface="Calibri"/>
              </a:rPr>
              <a:t>A status of what Design has built with AI today — and the operating model we are building for tomorrow.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989320"/>
            <a:ext cx="530352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6F6F7A"/>
                </a:solidFill>
                <a:latin typeface="Calibri"/>
              </a:rPr>
              <a:t>PREPARED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367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Lou Gasevski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37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Director · Chrysler Design Exterior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6126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6F6F7A"/>
                </a:solidFill>
                <a:latin typeface="Calibri"/>
              </a:rPr>
              <a:t>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63367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Design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537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Thiele · Gilles · Krugger · Jones · Zuehlke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01 · THE STRATEGIC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02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pic>
        <p:nvPicPr>
          <p:cNvPr id="6" name="Picture 5" descr="sketch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22960"/>
            <a:ext cx="5790895" cy="2926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0" y="822960"/>
            <a:ext cx="1828800" cy="2926080"/>
          </a:xfrm>
          <a:prstGeom prst="rect">
            <a:avLst/>
          </a:prstGeom>
          <a:solidFill>
            <a:srgbClr val="0A0A0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WHY AI MATTERS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i="0" b="0">
                <a:solidFill>
                  <a:srgbClr val="F4F4F5"/>
                </a:solidFill>
                <a:latin typeface="Georgia"/>
              </a:rPr>
              <a:t>The advantage will not
belong to the company with
the most AI. It will belong
to the company that </a:t>
            </a:r>
            <a:r>
              <a:rPr sz="3000" i="1" b="0">
                <a:solidFill>
                  <a:srgbClr val="E8A87C"/>
                </a:solidFill>
                <a:latin typeface="Georgia"/>
              </a:rPr>
              <a:t>learns the fastest.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14800"/>
            <a:ext cx="3657600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A87C"/>
                </a:solidFill>
                <a:latin typeface="Georgia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F4F4F5"/>
                </a:solidFill>
                <a:latin typeface="Calibri"/>
              </a:rPr>
              <a:t>COMPLEXITY IS RISING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Product portfolios, regulation, electrification, software-defined experiences — every program now carries more decisions than the program before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4114800"/>
            <a:ext cx="3657600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343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A87C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48920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F4F4F5"/>
                </a:solidFill>
                <a:latin typeface="Calibri"/>
              </a:rPr>
              <a:t>CYCLE TIME IS SHRINKING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521208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Competitors are compressing concept-to-market timelines. Speed of learning has become a structural advantage, not a project metric.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114800"/>
            <a:ext cx="3657600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114800"/>
            <a:ext cx="31750" cy="20116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343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A87C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8920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F4F4F5"/>
                </a:solidFill>
                <a:latin typeface="Calibri"/>
              </a:rPr>
              <a:t>KNOWLEDGE IS FRAGMENTED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21208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Decades of customer insight, design rationale, and engineering trade-offs sit across folders, decks, and individuals. We rebuild what we already know.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263640"/>
            <a:ext cx="10908792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A87C"/>
                </a:solidFill>
                <a:latin typeface="Georgia"/>
              </a:rPr>
              <a:t>Our response cannot be a tool. It must be a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02 · HOW VEHICLE DESIGN WORKS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03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THE TRADITIONAL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i="0" b="0">
                <a:solidFill>
                  <a:srgbClr val="F4F4F5"/>
                </a:solidFill>
                <a:latin typeface="Georgia"/>
              </a:rPr>
              <a:t>Five sequential phases. Roughly </a:t>
            </a:r>
            <a:r>
              <a:rPr sz="2800" i="1" b="0">
                <a:solidFill>
                  <a:srgbClr val="E8A87C"/>
                </a:solidFill>
                <a:latin typeface="Georgia"/>
              </a:rPr>
              <a:t>58 weeks</a:t>
            </a:r>
            <a:r>
              <a:rPr sz="2800" i="0" b="0">
                <a:solidFill>
                  <a:srgbClr val="F4F4F5"/>
                </a:solidFill>
                <a:latin typeface="Georgia"/>
              </a:rPr>
              <a:t> from sketch to a model a customer can experience.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4B4BB"/>
                </a:solidFill>
                <a:latin typeface="Calibri"/>
              </a:rPr>
              <a:t>Every concept passes through ideation, surfacing, clay, fiberglass, and transport — each phase physical, each phase additive in cost and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83280"/>
            <a:ext cx="2121408" cy="22860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PHASE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40480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">
                <a:solidFill>
                  <a:srgbClr val="F4F4F5"/>
                </a:solidFill>
                <a:latin typeface="Calibri"/>
              </a:rPr>
              <a:t>Ideation
+ Selection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6 wks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17556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Designers create loose sketch concepts. Leadership selects directions to develop.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3383280"/>
            <a:ext cx="2121408" cy="22860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356616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PHASE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">
                <a:solidFill>
                  <a:srgbClr val="F4F4F5"/>
                </a:solidFill>
                <a:latin typeface="Calibri"/>
              </a:rPr>
              <a:t>Concept Surfacing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38912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4 wks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892040"/>
            <a:ext cx="17556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Specialists translate 2D into 3D digital surface. $30K–$60K per concept. Guesswork drives rework.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3383280"/>
            <a:ext cx="2121408" cy="22860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356616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PHASE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">
                <a:solidFill>
                  <a:srgbClr val="F4F4F5"/>
                </a:solidFill>
                <a:latin typeface="Calibri"/>
              </a:rPr>
              <a:t>Clay Modeling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38912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10+ wks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892040"/>
            <a:ext cx="17556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~1,200 lbs of clay sculpted and refined. $90K materials and labor per concept.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3383280"/>
            <a:ext cx="2121408" cy="22860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356616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PHASE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840480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">
                <a:solidFill>
                  <a:srgbClr val="F4F4F5"/>
                </a:solidFill>
                <a:latin typeface="Calibri"/>
              </a:rPr>
              <a:t>Fiberglass I/O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438912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18 wks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892040"/>
            <a:ext cx="17556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Supplier builds a full-size fiberglass model. $500K–$1M per build.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3383280"/>
            <a:ext cx="2121408" cy="22860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356616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PHASE 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840480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">
                <a:solidFill>
                  <a:srgbClr val="F4F4F5"/>
                </a:solidFill>
                <a:latin typeface="Calibri"/>
              </a:rPr>
              <a:t>Research + Transport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38912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2 wks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892040"/>
            <a:ext cx="17556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Ship to consumer research hubs. $50K–$200K per move plus risk of damage.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52160"/>
            <a:ext cx="10908792" cy="548640"/>
          </a:xfrm>
          <a:prstGeom prst="rect">
            <a:avLst/>
          </a:prstGeom>
          <a:solidFill>
            <a:srgbClr val="16161B"/>
          </a:solidFill>
          <a:ln w="6350">
            <a:solidFill>
              <a:srgbClr val="D94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52160"/>
            <a:ext cx="38100" cy="54864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9710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TOTAL COST PER CONCEPT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6126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A87C"/>
                </a:solidFill>
                <a:latin typeface="Georgia"/>
              </a:rPr>
              <a:t>$1.5M – $3M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9710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CYCLE TIME, SKETCH TO MARKET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126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A87C"/>
                </a:solidFill>
                <a:latin typeface="Georgia"/>
              </a:rPr>
              <a:t>~58 weeks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03 · THE ACCELERATED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04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AI + AR ACCELERATED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The same five-phase outcome — delivered in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roughly six weeks,</a:t>
            </a:r>
            <a:r>
              <a:rPr sz="2600" i="0" b="0">
                <a:solidFill>
                  <a:srgbClr val="F4F4F5"/>
                </a:solidFill>
                <a:latin typeface="Georgia"/>
              </a:rPr>
              <a:t> digital-first.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4B4BB"/>
                </a:solidFill>
                <a:latin typeface="Calibri"/>
              </a:rPr>
              <a:t>AI compresses sketch-to-render. AR replaces physical models with full-size virtual review. Teams stay in exploration longer.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91840"/>
            <a:ext cx="5303520" cy="31089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291840"/>
            <a:ext cx="25400" cy="3108960"/>
          </a:xfrm>
          <a:prstGeom prst="rect">
            <a:avLst/>
          </a:prstGeom>
          <a:solidFill>
            <a:srgbClr val="6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ketch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429000"/>
            <a:ext cx="5029200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4983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6F6F7A"/>
                </a:solidFill>
                <a:latin typeface="Calibri"/>
              </a:rPr>
              <a:t>CURRENT REALITY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F4F4F5"/>
                </a:solidFill>
                <a:latin typeface="Georgia"/>
              </a:rPr>
              <a:t>58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607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$1.5M – $3M per concept exploration. Sequential phases, physical clay and fiberglass, interpretation gaps, limited parallel exploration.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291840"/>
            <a:ext cx="5303520" cy="31089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291840"/>
            <a:ext cx="25400" cy="310896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ronto_front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502920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92240" y="4983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D94B2B"/>
                </a:solidFill>
                <a:latin typeface="Calibri"/>
              </a:rPr>
              <a:t>DIGITAL-FIRST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212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E8A87C"/>
                </a:solidFill>
                <a:latin typeface="Georgia"/>
              </a:rPr>
              <a:t>~6 weeks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7607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Fraction of cost. Sketch-to-photoreal in seconds. Full-size AR review. Real-time global collaboration. Parallel themes.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89320" y="4617720"/>
            <a:ext cx="365760" cy="365760"/>
          </a:xfrm>
          <a:prstGeom prst="rightArrow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04 · OPERATIONAL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05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VIZCOM — IN PRODUCTION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No longer a pilot. Vizcom is integrated into the
daily workflow of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advanced and production studios.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089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4F4F5"/>
                </a:solidFill>
                <a:latin typeface="Calibri"/>
              </a:rPr>
              <a:t>Tool testing complete.</a:t>
            </a:r>
            <a:r>
              <a:rPr sz="1100">
                <a:solidFill>
                  <a:srgbClr val="B4B4BB"/>
                </a:solidFill>
                <a:latin typeface="Calibri"/>
              </a:rPr>
              <a:t> Vizcom, Optic, Ansys, and Gravity Sketch AR evaluated across real program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118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4F4F5"/>
                </a:solidFill>
                <a:latin typeface="Calibri"/>
              </a:rPr>
              <a:t>Workflow integration.</a:t>
            </a:r>
            <a:r>
              <a:rPr sz="1100">
                <a:solidFill>
                  <a:srgbClr val="B4B4BB"/>
                </a:solidFill>
                <a:latin typeface="Calibri"/>
              </a:rPr>
              <a:t> AI now sits inside early sketch, rendering, and aero workflows.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1148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4F4F5"/>
                </a:solidFill>
                <a:latin typeface="Calibri"/>
              </a:rPr>
              <a:t>Time savings, measured.</a:t>
            </a:r>
            <a:r>
              <a:rPr sz="1100">
                <a:solidFill>
                  <a:srgbClr val="B4B4BB"/>
                </a:solidFill>
                <a:latin typeface="Calibri"/>
              </a:rPr>
              <a:t> Sketch → AI refine → photoreal render compresses days into a single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617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4F4F5"/>
                </a:solidFill>
                <a:latin typeface="Calibri"/>
              </a:rPr>
              <a:t>Self-sufficient teams.</a:t>
            </a:r>
            <a:r>
              <a:rPr sz="1100">
                <a:solidFill>
                  <a:srgbClr val="B4B4BB"/>
                </a:solidFill>
                <a:latin typeface="Calibri"/>
              </a:rPr>
              <a:t> Designers handle a majority of the rendering process without other disciplines.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1206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4F4F5"/>
                </a:solidFill>
                <a:latin typeface="Calibri"/>
              </a:rPr>
              <a:t>Trained at scale.</a:t>
            </a:r>
            <a:r>
              <a:rPr sz="1100">
                <a:solidFill>
                  <a:srgbClr val="B4B4BB"/>
                </a:solidFill>
                <a:latin typeface="Calibri"/>
              </a:rPr>
              <a:t> Sessions delivered across Exteriors, Interiors, and Advanced teams.</a:t>
            </a:r>
          </a:p>
        </p:txBody>
      </p:sp>
      <p:pic>
        <p:nvPicPr>
          <p:cNvPr id="19" name="Picture 18" descr="vizcom_grid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108960"/>
            <a:ext cx="4507992" cy="2560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040880" y="5806440"/>
            <a:ext cx="4507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6F6F7A"/>
                </a:solidFill>
                <a:latin typeface="Calibri"/>
              </a:rPr>
              <a:t>VIZCOM AI WORKBENCH · Interior workflow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2697480" cy="6400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6062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 spc="240">
                <a:solidFill>
                  <a:srgbClr val="6F6F7A"/>
                </a:solidFill>
                <a:latin typeface="Calibri"/>
              </a:rPr>
              <a:t>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62636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A87C"/>
                </a:solidFill>
                <a:latin typeface="Georgia"/>
              </a:rPr>
              <a:t>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5989320"/>
            <a:ext cx="2697480" cy="6400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7872" y="6062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 spc="240">
                <a:solidFill>
                  <a:srgbClr val="6F6F7A"/>
                </a:solidFill>
                <a:latin typeface="Calibri"/>
              </a:rPr>
              <a:t>STAGES TOUCHED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62636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4F5"/>
                </a:solidFill>
                <a:latin typeface="Georgia"/>
              </a:rPr>
              <a:t>3 /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5989320"/>
            <a:ext cx="2697480" cy="6400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6062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 spc="240">
                <a:solidFill>
                  <a:srgbClr val="6F6F7A"/>
                </a:solidFill>
                <a:latin typeface="Calibri"/>
              </a:rPr>
              <a:t>DISCIPLINES TRAINED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62636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4F5"/>
                </a:solidFill>
                <a:latin typeface="Georgia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5989320"/>
            <a:ext cx="2697480" cy="6400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34272" y="60624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 spc="240">
                <a:solidFill>
                  <a:srgbClr val="6F6F7A"/>
                </a:solidFill>
                <a:latin typeface="Calibri"/>
              </a:rPr>
              <a:t>IDEA → 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4272" y="62636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A87C"/>
                </a:solidFill>
                <a:latin typeface="Georgia"/>
              </a:rPr>
              <a:t>Hours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05 · SPATIAL DESIGN +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06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pic>
        <p:nvPicPr>
          <p:cNvPr id="6" name="Picture 5" descr="ar_studio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2960"/>
            <a:ext cx="12191695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822960"/>
            <a:ext cx="5486400" cy="3108960"/>
          </a:xfrm>
          <a:prstGeom prst="rect">
            <a:avLst/>
          </a:prstGeom>
          <a:solidFill>
            <a:srgbClr val="0A0A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GRAVITY SKETCH + 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i="0" b="0">
                <a:solidFill>
                  <a:srgbClr val="F4F4F5"/>
                </a:solidFill>
                <a:latin typeface="Georgia"/>
              </a:rPr>
              <a:t>Designers and global studios are reviewing themes at </a:t>
            </a:r>
            <a:r>
              <a:rPr sz="2200" i="1" b="0">
                <a:solidFill>
                  <a:srgbClr val="E8A87C"/>
                </a:solidFill>
                <a:latin typeface="Georgia"/>
              </a:rPr>
              <a:t>full scale</a:t>
            </a:r>
            <a:r>
              <a:rPr sz="2200" i="0" b="0">
                <a:solidFill>
                  <a:srgbClr val="F4F4F5"/>
                </a:solidFill>
                <a:latin typeface="Georgia"/>
              </a:rPr>
              <a:t> — without a single physical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06240"/>
            <a:ext cx="2706624" cy="16459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2249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E8A87C"/>
                </a:solidFill>
                <a:latin typeface="Calibri"/>
              </a:rPr>
              <a:t>FULL-SIZE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00600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Walk around a full-size virtual model. Eliminate the cost and lead time of a physical theme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10712" y="4206240"/>
            <a:ext cx="2706624" cy="16459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4434840"/>
            <a:ext cx="2249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E8A87C"/>
                </a:solidFill>
                <a:latin typeface="Calibri"/>
              </a:rPr>
              <a:t>BENCHMARKING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4800600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Compare directly against benchmark vehicles in AR — without shipping, printing, or poster rework.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4206240"/>
            <a:ext cx="2706624" cy="16459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4434840"/>
            <a:ext cx="2249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E8A87C"/>
                </a:solidFill>
                <a:latin typeface="Calibri"/>
              </a:rPr>
              <a:t>GLOBAL 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4800600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NA, EU, LATAM, China studios iterate on shared 3D data in real time. Less interpretation drift.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4206240"/>
            <a:ext cx="2706624" cy="16459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4434840"/>
            <a:ext cx="2249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E8A87C"/>
                </a:solidFill>
                <a:latin typeface="Calibri"/>
              </a:rPr>
              <a:t>PARALLEL EXPLORATION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4800600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Multiple themes developed in AR. Physical models built only when truly required.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080760"/>
            <a:ext cx="10908792" cy="5029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172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A87C"/>
                </a:solidFill>
                <a:latin typeface="Georgia"/>
              </a:rPr>
              <a:t>$500K – $1M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62453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6F6F7A"/>
                </a:solidFill>
                <a:latin typeface="Calibri"/>
              </a:rPr>
              <a:t>PER FIBERGLASS BUILD AVOIDED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6172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A87C"/>
                </a:solidFill>
                <a:latin typeface="Georgia"/>
              </a:rPr>
              <a:t>$50K – $200K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62453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6F6F7A"/>
                </a:solidFill>
                <a:latin typeface="Calibri"/>
              </a:rPr>
              <a:t>PER INTER-SITE TRANSPORT AVOIDED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6172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A87C"/>
                </a:solidFill>
                <a:latin typeface="Georgia"/>
              </a:rPr>
              <a:t>~1,200 lbs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62453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00">
                <a:solidFill>
                  <a:srgbClr val="6F6F7A"/>
                </a:solidFill>
                <a:latin typeface="Calibri"/>
              </a:rPr>
              <a:t>CLAY MATERIAL AVOIDED PER BUCK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06 · STORYTELLING AT STUDIO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07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AI VIDEO +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Design intent is now delivered as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cinematic story,</a:t>
            </a:r>
            <a:r>
              <a:rPr sz="2600" i="0" b="0">
                <a:solidFill>
                  <a:srgbClr val="F4F4F5"/>
                </a:solidFill>
                <a:latin typeface="Georgia"/>
              </a:rPr>
              <a:t> not static rendering.</a:t>
            </a:r>
          </a:p>
        </p:txBody>
      </p:sp>
      <p:pic>
        <p:nvPicPr>
          <p:cNvPr id="9" name="Picture 8" descr="tailgate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34640"/>
            <a:ext cx="3593592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4297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F4F4F5"/>
                </a:solidFill>
                <a:latin typeface="Calibri"/>
              </a:rPr>
              <a:t>GAME DAY · MICHIGAN</a:t>
            </a:r>
          </a:p>
        </p:txBody>
      </p:sp>
      <p:pic>
        <p:nvPicPr>
          <p:cNvPr id="11" name="Picture 10" descr="times_square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834640"/>
            <a:ext cx="3593592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80560" y="4297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F4F4F5"/>
                </a:solidFill>
                <a:latin typeface="Calibri"/>
              </a:rPr>
              <a:t>URBAN · NEW YORK</a:t>
            </a:r>
          </a:p>
        </p:txBody>
      </p:sp>
      <p:pic>
        <p:nvPicPr>
          <p:cNvPr id="13" name="Picture 12" descr="desert_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834640"/>
            <a:ext cx="3593592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4297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F4F4F5"/>
                </a:solidFill>
                <a:latin typeface="Calibri"/>
              </a:rPr>
              <a:t>ESCAPE · DESERT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37760"/>
            <a:ext cx="3593592" cy="13716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3136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VISUALIZATION +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9496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4F4F5"/>
                </a:solidFill>
                <a:latin typeface="Georgia"/>
              </a:rPr>
              <a:t>Vizcom · Optic · Firefly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06440"/>
            <a:ext cx="31363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Idea-to-image in minutes. Designer authorship preserved.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4937760"/>
            <a:ext cx="3593592" cy="13716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5120640"/>
            <a:ext cx="3136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MOTION + VIDEO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539496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4F4F5"/>
                </a:solidFill>
                <a:latin typeface="Georgia"/>
              </a:rPr>
              <a:t>Runway · Veo · Kling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5806440"/>
            <a:ext cx="31363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Vehicles shown in motion and context before physical assets exist.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4937760"/>
            <a:ext cx="3593592" cy="13716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5120640"/>
            <a:ext cx="3136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CHARACTER + CONSISTENCY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539496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4F4F5"/>
                </a:solidFill>
                <a:latin typeface="Georgia"/>
              </a:rPr>
              <a:t>Higgsfield · Nano Banana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5806440"/>
            <a:ext cx="31363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Consistent people and scenes across a full narrative arc.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A87C"/>
                </a:solidFill>
                <a:latin typeface="Georgia"/>
              </a:rPr>
              <a:t>"Prompt for stories that communicate design intent, proportion, and emotion."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64830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00">
                <a:solidFill>
                  <a:srgbClr val="6F6F7A"/>
                </a:solidFill>
                <a:latin typeface="Calibri"/>
              </a:rPr>
              <a:t>C.A.S.T. · Composition · Action · Setting · Tone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07 ·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08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WHAT THE WORKFLOW HAS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The first wave is paying back in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time, cost, and capacity</a:t>
            </a:r>
            <a:r>
              <a:rPr sz="2600" i="0" b="0">
                <a:solidFill>
                  <a:srgbClr val="F4F4F5"/>
                </a:solidFill>
                <a:latin typeface="Georgia"/>
              </a:rPr>
              <a:t> — measured against the traditional baseline.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8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CYCLE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58 → 6 wks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862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~90% compression on early-phase workflow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92608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PER-CONCEPT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4290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Fraction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8862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vs. $1.5M – $3M traditional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92608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TRANSPORT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4290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Zero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8862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No model movement between sites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292608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CARBON FOOTPRINT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4290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Near Zero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8862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Clay, heating, milling, transport eliminated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663440"/>
            <a:ext cx="361188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8463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F4F4F5"/>
                </a:solidFill>
                <a:latin typeface="Calibri"/>
              </a:rPr>
              <a:t>CAPACITY UNLOCKED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120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Designers and CDD spend less time on rework. The same headcount pursues more concepts in parallel — more shots on goal per program.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4663440"/>
            <a:ext cx="361188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44568" y="48463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F4F4F5"/>
                </a:solidFill>
                <a:latin typeface="Calibri"/>
              </a:rPr>
              <a:t>DECISIONS ACCELERATED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52120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Full-size AR reviews compress the path from sketch to leadership alignment. Themes that took months now resolve in weeks.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91856" y="4663440"/>
            <a:ext cx="361188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48463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80">
                <a:solidFill>
                  <a:srgbClr val="F4F4F5"/>
                </a:solidFill>
                <a:latin typeface="Calibri"/>
              </a:rPr>
              <a:t>GLOBAL COLLABORATION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52120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NA, EU, LATAM, China studios share live 3D data. The studio is no longer bounded by geography or shipping windows.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BASELINE SOURCE · DESIGN AMPLIFIED 2.0 PROGRAM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08 · WHERE WE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09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THE STRATEGIC INFLECTION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The first wave was about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making content.</a:t>
            </a:r>
            <a:r>
              <a:rPr sz="2600" i="0" b="0">
                <a:solidFill>
                  <a:srgbClr val="F4F4F5"/>
                </a:solidFill>
                <a:latin typeface="Georgia"/>
              </a:rPr>
              <a:t>
The next wave is about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building capability.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5120640" cy="31089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383280"/>
            <a:ext cx="5120640" cy="38100"/>
          </a:xfrm>
          <a:prstGeom prst="rect">
            <a:avLst/>
          </a:prstGeom>
          <a:solidFill>
            <a:srgbClr val="B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6F6F7A"/>
                </a:solidFill>
                <a:latin typeface="Calibri"/>
              </a:rPr>
              <a:t>WAVE 01 · 2024 –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862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4F5"/>
                </a:solidFill>
                <a:latin typeface="Georgia"/>
              </a:rPr>
              <a:t>Content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Sketch-to-render acceleration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AI imagery + motion storytelling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AR review and global collaboration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692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Individual designer productivity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35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Tools deployed to studios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383280"/>
            <a:ext cx="5120640" cy="31089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383280"/>
            <a:ext cx="5120640" cy="381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D94B2B"/>
                </a:solidFill>
                <a:latin typeface="Calibri"/>
              </a:rPr>
              <a:t>WAVE 02 · 2026 – ONWARD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862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Automation · Knowledge ·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572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Workflow automation across disciplines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Connected knowledge across programs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Agentic co-creators in the studio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6692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Organizational capability, not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6035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 Capability that compounds year over year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760720" y="4800600"/>
            <a:ext cx="640080" cy="365760"/>
          </a:xfrm>
          <a:prstGeom prst="rightArrow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09 · EMERGING CAPABILITY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THREE CAPABILITY AREAS UNDER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Three capability areas now in active build —
distinct from tools,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owned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3611880" cy="30175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31750" cy="30175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E8A87C"/>
                </a:solidFill>
                <a:latin typeface="Georgia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120">
                <a:solidFill>
                  <a:srgbClr val="F4F4F5"/>
                </a:solidFill>
                <a:latin typeface="Calibri"/>
              </a:rPr>
              <a:t>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4B4BB"/>
                </a:solidFill>
                <a:latin typeface="Calibri"/>
              </a:rPr>
              <a:t>Repetitive studio operations — reformatting, exports, asset prep, package compliance — moved off designers and into reliable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806440"/>
            <a:ext cx="306324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20">
                <a:solidFill>
                  <a:srgbClr val="6F6F7A"/>
                </a:solidFill>
                <a:latin typeface="Calibri"/>
              </a:rPr>
              <a:t>RETURNS HOURS TO CREATIVE 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3200400"/>
            <a:ext cx="3611880" cy="30175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3200400"/>
            <a:ext cx="31750" cy="30175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0288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E8A87C"/>
                </a:solidFill>
                <a:latin typeface="Georgi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2062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120">
                <a:solidFill>
                  <a:srgbClr val="F4F4F5"/>
                </a:solidFill>
                <a:latin typeface="Calibri"/>
              </a:rPr>
              <a:t>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70916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4B4BB"/>
                </a:solidFill>
                <a:latin typeface="Calibri"/>
              </a:rPr>
              <a:t>AI co-creators that analyze design data, propose refinements, and build 3D iterations alongside the designer — amplifying judgement, not replacing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0288" y="5806440"/>
            <a:ext cx="306324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20">
                <a:solidFill>
                  <a:srgbClr val="6F6F7A"/>
                </a:solidFill>
                <a:latin typeface="Calibri"/>
              </a:rPr>
              <a:t>MULTIPLIES DESIGNER REACH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6" y="3200400"/>
            <a:ext cx="3611880" cy="30175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1856" y="3200400"/>
            <a:ext cx="31750" cy="30175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6176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E8A87C"/>
                </a:solidFill>
                <a:latin typeface="Georgia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42062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120">
                <a:solidFill>
                  <a:srgbClr val="F4F4F5"/>
                </a:solidFill>
                <a:latin typeface="Calibri"/>
              </a:rPr>
              <a:t>KNOWLEDGE SYSTEMS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470916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B4B4BB"/>
                </a:solidFill>
                <a:latin typeface="Calibri"/>
              </a:rPr>
              <a:t>Customer insight, design rationale, engineering trade-offs, and review history captured as connected, queryable institutional memory.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5806440"/>
            <a:ext cx="306324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6176" y="58978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20">
                <a:solidFill>
                  <a:srgbClr val="6F6F7A"/>
                </a:solidFill>
                <a:latin typeface="Calibri"/>
              </a:rPr>
              <a:t>PRESERVES INSTITUTIONAL CAPABILITY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A87C"/>
                </a:solidFill>
                <a:latin typeface="Georgia"/>
              </a:rPr>
              <a:t>Together, these turn AI from an individual productivity layer into an organizational operating layer.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10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AUTOMATION IN DESIGN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Remove the friction that pulls designers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away from designing.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4B4BB"/>
                </a:solidFill>
                <a:latin typeface="Calibri"/>
              </a:rPr>
              <a:t>Most studio time is not spent creating. It is spent reformatting, transferring, validating, chasing. Automation reclaims that time, predictably and at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6F6F7A"/>
                </a:solidFill>
                <a:latin typeface="Calibri"/>
              </a:rPr>
              <a:t>WHAT GETS AUTOMATED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319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1">
                <a:solidFill>
                  <a:srgbClr val="F4F4F5"/>
                </a:solidFill>
                <a:latin typeface="Calibri"/>
              </a:rPr>
              <a:t>Asset preparation — </a:t>
            </a:r>
            <a:r>
              <a:rPr sz="1100">
                <a:solidFill>
                  <a:srgbClr val="B4B4BB"/>
                </a:solidFill>
                <a:latin typeface="Calibri"/>
              </a:rPr>
              <a:t>Export pipelines, format conversion, naming, versioning.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89120"/>
            <a:ext cx="594360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4805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1">
                <a:solidFill>
                  <a:srgbClr val="F4F4F5"/>
                </a:solidFill>
                <a:latin typeface="Calibri"/>
              </a:rPr>
              <a:t>Review preparation — </a:t>
            </a:r>
            <a:r>
              <a:rPr sz="1100">
                <a:solidFill>
                  <a:srgbClr val="B4B4BB"/>
                </a:solidFill>
                <a:latin typeface="Calibri"/>
              </a:rPr>
              <a:t>Automated deck assembly, comparison views, package overlays.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37760"/>
            <a:ext cx="594360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29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1">
                <a:solidFill>
                  <a:srgbClr val="F4F4F5"/>
                </a:solidFill>
                <a:latin typeface="Calibri"/>
              </a:rPr>
              <a:t>Compliance + package checks — </a:t>
            </a:r>
            <a:r>
              <a:rPr sz="1100">
                <a:solidFill>
                  <a:srgbClr val="B4B4BB"/>
                </a:solidFill>
                <a:latin typeface="Calibri"/>
              </a:rPr>
              <a:t>Early validation against engineering and regulatory constraints.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486400"/>
            <a:ext cx="594360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5778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1">
                <a:solidFill>
                  <a:srgbClr val="F4F4F5"/>
                </a:solidFill>
                <a:latin typeface="Calibri"/>
              </a:rPr>
              <a:t>Routine documentation — </a:t>
            </a:r>
            <a:r>
              <a:rPr sz="1100">
                <a:solidFill>
                  <a:srgbClr val="B4B4BB"/>
                </a:solidFill>
                <a:latin typeface="Calibri"/>
              </a:rPr>
              <a:t>Design rationale capture, review minutes, decision logs.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035040"/>
            <a:ext cx="594360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49440" y="3474720"/>
            <a:ext cx="4599432" cy="16459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3474720"/>
            <a:ext cx="31750" cy="16459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D94B2B"/>
                </a:solidFill>
                <a:latin typeface="Calibri"/>
              </a:rPr>
              <a:t>THE PRINCIPLE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93192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F4F4F5"/>
                </a:solidFill>
                <a:latin typeface="Georgia"/>
              </a:rPr>
              <a:t>A designer's most valuable
hour is the one spent in
creative judgement.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8006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4B4BB"/>
                </a:solidFill>
                <a:latin typeface="Calibri"/>
              </a:rPr>
              <a:t>Automation is a creative-capacity strategy.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5303520"/>
            <a:ext cx="4599432" cy="12801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54406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6F6F7A"/>
                </a:solidFill>
                <a:latin typeface="Calibri"/>
              </a:rPr>
              <a:t>EXPECTED OUTCOME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57150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E8A87C"/>
                </a:solidFill>
                <a:latin typeface="Georgia"/>
              </a:rPr>
              <a:t>More concepts explored.
Fewer late surprises.
Predictable studio operations.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11 ·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AGENTIC AI · CO-CREATORS, NOT REPLACEMENTS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The next leap is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intelligent co-creators</a:t>
            </a:r>
            <a:r>
              <a:rPr sz="2600" i="0" b="0">
                <a:solidFill>
                  <a:srgbClr val="F4F4F5"/>
                </a:solidFill>
                <a:latin typeface="Georgia"/>
              </a:rPr>
              <a:t> — partners working alongside designers in real time.</a:t>
            </a:r>
          </a:p>
        </p:txBody>
      </p:sp>
      <p:pic>
        <p:nvPicPr>
          <p:cNvPr id="9" name="Picture 8" descr="network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43200"/>
            <a:ext cx="10908792" cy="1645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2743200"/>
            <a:ext cx="10908792" cy="1645920"/>
          </a:xfrm>
          <a:prstGeom prst="rect">
            <a:avLst/>
          </a:prstGeom>
          <a:solidFill>
            <a:srgbClr val="0A0A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F4F4F5"/>
                </a:solidFill>
                <a:latin typeface="Georgia"/>
              </a:rPr>
              <a:t>Designer · Agent · Collective Intelligence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17720"/>
            <a:ext cx="2688336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00600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DESIGN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223113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Agents review large bodies of design data and surface intelligent suggestions on proportion, surfacing, and aesthetic intent.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2424" y="4617720"/>
            <a:ext cx="2688336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800600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REAL-TIME 3D ITERATION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5166360"/>
            <a:ext cx="223113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Co-creators rapidly build and modify 3D iterations while the designer concentrates on the concept that matters.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4617720"/>
            <a:ext cx="2688336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4800600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DELEGATED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5166360"/>
            <a:ext cx="223113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Each designer's agent handles routine handoffs and coordination, freeing humans for high-judgement 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97112" y="4617720"/>
            <a:ext cx="2688336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4800600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AMPLIFIED REACH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2" y="5166360"/>
            <a:ext cx="223113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Agents multiply what each designer can explore — letting the studio pursue directions previously out of reach.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263640"/>
            <a:ext cx="10908792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A87C"/>
                </a:solidFill>
                <a:latin typeface="Georgia"/>
              </a:rPr>
              <a:t>Our mission is not to replace designers. Our mission is to empower designers.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12 · DESIGN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DESIGN INTELLIGENCE — THE CONNECTED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i="0" b="0">
                <a:solidFill>
                  <a:srgbClr val="F4F4F5"/>
                </a:solidFill>
                <a:latin typeface="Georgia"/>
              </a:rPr>
              <a:t>A connected intelligence network across </a:t>
            </a:r>
            <a:r>
              <a:rPr sz="2400" i="1" b="0">
                <a:solidFill>
                  <a:srgbClr val="E8A87C"/>
                </a:solidFill>
                <a:latin typeface="Georgia"/>
              </a:rPr>
              <a:t>five domains</a:t>
            </a:r>
            <a:r>
              <a:rPr sz="2400" i="0" b="0">
                <a:solidFill>
                  <a:srgbClr val="F4F4F5"/>
                </a:solidFill>
                <a:latin typeface="Georgia"/>
              </a:rPr>
              <a:t>
— where knowledge compounds with every 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B4B4BB"/>
                </a:solidFill>
                <a:latin typeface="Calibri"/>
              </a:rPr>
              <a:t>Today, knowledge lives in folders, decks, and individual memory. Design Intelligence connects it — so every program makes the next program smarter.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11880"/>
            <a:ext cx="2121408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94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1480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Customer
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664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Research, segmentation, voice-of-customer, ethnography — connected and queryable.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25496" y="3611880"/>
            <a:ext cx="2121408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3794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11480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Planning
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4892040"/>
            <a:ext cx="1664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Portfolio strategy, segment opportunities, competitive landscape, timing.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0912" y="3611880"/>
            <a:ext cx="2121408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9512" y="3794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11480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Design
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892040"/>
            <a:ext cx="1664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Theme decisions, review rationale, surfacing libraries, brand DNA.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96328" y="3611880"/>
            <a:ext cx="2121408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8" y="3794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8" y="411480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Engineering
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4892040"/>
            <a:ext cx="1664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Package constraints, manufacturing trade-offs, lessons learned.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81744" y="3611880"/>
            <a:ext cx="2121408" cy="20116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10344" y="3794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0344" y="411480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Manufacturing
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0344" y="4892040"/>
            <a:ext cx="166420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Producibility insight, supplier capability, launch realities.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08792" cy="7772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38100" cy="77724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71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4F4F5"/>
                </a:solidFill>
                <a:latin typeface="Georgia"/>
              </a:rPr>
              <a:t>Reduce the distance between insight and action.
Transform information into understanding. Transform understanding into better products.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nto_rear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13 · FUTURE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THE LONG-TERM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i="0" b="0">
                <a:solidFill>
                  <a:srgbClr val="F4F4F5"/>
                </a:solidFill>
                <a:latin typeface="Georgia"/>
              </a:rPr>
              <a:t>To create the world's most intelligent
</a:t>
            </a:r>
            <a:r>
              <a:rPr sz="3000" i="1" b="0">
                <a:solidFill>
                  <a:srgbClr val="E8A87C"/>
                </a:solidFill>
                <a:latin typeface="Georgia"/>
              </a:rPr>
              <a:t>automotive design organization.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00400"/>
            <a:ext cx="19050" cy="384048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i="0">
                <a:solidFill>
                  <a:srgbClr val="B4B4BB"/>
                </a:solidFill>
                <a:latin typeface="Georgia"/>
              </a:rPr>
              <a:t>Where every designer has </a:t>
            </a:r>
            <a:r>
              <a:rPr sz="1500" b="1" i="0">
                <a:solidFill>
                  <a:srgbClr val="F4F4F5"/>
                </a:solidFill>
                <a:latin typeface="Georgia"/>
              </a:rPr>
              <a:t>immediate access to decades of accumulated knowledge.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57600"/>
            <a:ext cx="19050" cy="384048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i="0">
                <a:solidFill>
                  <a:srgbClr val="B4B4BB"/>
                </a:solidFill>
                <a:latin typeface="Georgia"/>
              </a:rPr>
              <a:t>Where every project contributes to a </a:t>
            </a:r>
            <a:r>
              <a:rPr sz="1500" b="1" i="0">
                <a:solidFill>
                  <a:srgbClr val="F4F4F5"/>
                </a:solidFill>
                <a:latin typeface="Georgia"/>
              </a:rPr>
              <a:t>continuously growing intelligence system.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19050" cy="384048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i="0">
                <a:solidFill>
                  <a:srgbClr val="B4B4BB"/>
                </a:solidFill>
                <a:latin typeface="Georgia"/>
              </a:rPr>
              <a:t>Where customer insight, design intent, engineering, and manufacturing are </a:t>
            </a:r>
            <a:r>
              <a:rPr sz="1500" b="1" i="0">
                <a:solidFill>
                  <a:srgbClr val="F4F4F5"/>
                </a:solidFill>
                <a:latin typeface="Georgia"/>
              </a:rPr>
              <a:t>connected from the start.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72000"/>
            <a:ext cx="19050" cy="384048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72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i="0">
                <a:solidFill>
                  <a:srgbClr val="B4B4BB"/>
                </a:solidFill>
                <a:latin typeface="Georgia"/>
              </a:rPr>
              <a:t>Where leadership decisions are </a:t>
            </a:r>
            <a:r>
              <a:rPr sz="1500" b="1" i="0">
                <a:solidFill>
                  <a:srgbClr val="F4F4F5"/>
                </a:solidFill>
                <a:latin typeface="Georgia"/>
              </a:rPr>
              <a:t>informed by richer context, deeper understanding.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19050" cy="384048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i="1">
                <a:solidFill>
                  <a:srgbClr val="E8A87C"/>
                </a:solidFill>
                <a:latin typeface="Georgia"/>
              </a:rPr>
              <a:t>Where every completed project </a:t>
            </a:r>
            <a:r>
              <a:rPr sz="1500" b="1" i="1">
                <a:solidFill>
                  <a:srgbClr val="E8A87C"/>
                </a:solidFill>
                <a:latin typeface="Georgia"/>
              </a:rPr>
              <a:t>makes the next project better.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5216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PHASE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4F5"/>
                </a:solidFill>
                <a:latin typeface="Georgia"/>
              </a:rPr>
              <a:t>Understand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Where knowledge is trapped. Where time is lost.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85216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PHASE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4136" y="608076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4F5"/>
                </a:solidFill>
                <a:latin typeface="Georgia"/>
              </a:rPr>
              <a:t>Connect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74136" y="649224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People · knowledge · data · capability.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08192" y="585216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PHASE 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608076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4F5"/>
                </a:solidFill>
                <a:latin typeface="Georgia"/>
              </a:rPr>
              <a:t>Transform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8192" y="649224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Learn, create, decide in new ways.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42248" y="585216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OUTCOME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2248" y="608076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8A87C"/>
                </a:solidFill>
                <a:latin typeface="Georgia"/>
              </a:rPr>
              <a:t>Compound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2248" y="649224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Intelligence that grows year over year.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unset_lifestyle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14 · THE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9202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320">
                <a:solidFill>
                  <a:srgbClr val="D94B2B"/>
                </a:solidFill>
                <a:latin typeface="Calibri"/>
              </a:rPr>
              <a:t>THE STRATEGIC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360152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800" i="0" b="0">
                <a:solidFill>
                  <a:srgbClr val="F4F4F5"/>
                </a:solidFill>
                <a:latin typeface="Georgia"/>
              </a:rPr>
              <a:t>Design is not </a:t>
            </a:r>
            <a:r>
              <a:rPr sz="3800" i="1" b="0">
                <a:solidFill>
                  <a:srgbClr val="E8A87C"/>
                </a:solidFill>
                <a:latin typeface="Georgia"/>
              </a:rPr>
              <a:t>adopting</a:t>
            </a:r>
            <a:r>
              <a:rPr sz="3800" i="0" b="0">
                <a:solidFill>
                  <a:srgbClr val="F4F4F5"/>
                </a:solidFill>
                <a:latin typeface="Georgia"/>
              </a:rPr>
              <a:t> AI tools.
</a:t>
            </a:r>
            <a:r>
              <a:rPr sz="3800" i="0" b="0">
                <a:solidFill>
                  <a:srgbClr val="F4F4F5"/>
                </a:solidFill>
                <a:latin typeface="Georgia"/>
              </a:rPr>
              <a:t>Design is </a:t>
            </a:r>
            <a:r>
              <a:rPr sz="3800" i="1" b="0">
                <a:solidFill>
                  <a:srgbClr val="E8A87C"/>
                </a:solidFill>
                <a:latin typeface="Georgia"/>
              </a:rPr>
              <a:t>building</a:t>
            </a:r>
            <a:r>
              <a:rPr sz="3800" i="0" b="0">
                <a:solidFill>
                  <a:srgbClr val="F4F4F5"/>
                </a:solidFill>
                <a:latin typeface="Georgia"/>
              </a:rPr>
              <a:t> a new operating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3767" y="4937760"/>
            <a:ext cx="2560320" cy="914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647" y="510235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647" y="5349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6F6F7A"/>
                </a:solidFill>
                <a:latin typeface="Georgia"/>
              </a:rPr>
              <a:t>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89807" y="4937760"/>
            <a:ext cx="2560320" cy="914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2687" y="510235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687" y="5349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F4F4F5"/>
                </a:solidFill>
                <a:latin typeface="Georgia"/>
              </a:rPr>
              <a:t>Workflows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4937760"/>
            <a:ext cx="2560320" cy="914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510235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INTO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5349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F4F4F5"/>
                </a:solidFill>
                <a:latin typeface="Georgia"/>
              </a:rPr>
              <a:t>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01887" y="4937760"/>
            <a:ext cx="2560320" cy="914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01887" y="4937760"/>
            <a:ext cx="2560320" cy="254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4767" y="510235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TOWARD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767" y="5349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E8A87C"/>
                </a:solidFill>
                <a:latin typeface="Georgia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217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20">
                <a:solidFill>
                  <a:srgbClr val="6F6F7A"/>
                </a:solidFill>
                <a:latin typeface="Calibri"/>
              </a:rPr>
              <a:t>LOU GASEVSKI · CHRYSLER DESIGN EXTERIOR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