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Open with the brand ambition. One sentence on why this vision matters now. Set the tone — design-led, premium, confident.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Three pillars frame the whole story. Keep to one line each. These recur as the spine of the narrative.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Land the vision in one quote. The three pillars echo slide 2. Let the supporting visual carry the emotion.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Position the dual nature of the brand — rational engineering credibility meeting emotional design. Walk the board left to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Define the DNA that every Chrysler shares. Keep principles tight and ownable. The graphic should make the language tangible.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Reveal the full family at once — the scale of the vision. Image placeholders only; no specs.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Pacifica: let the full-width exterior image dominate, supported by one summary line and three strategic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Interior: one immersive rendering, one short caption. Speak to the experience, not the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300 Concept: let the full-width exterior image dominate, supported by one summary line and three strategic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300 Interior: one immersive rendering, one short caption. Speak to the experience, not the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Airflow: let the full-width exterior image dominate, supported by one summary line and three strategic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 Interior: one immersive rendering, one short caption. Speak to the experience, not the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Arrow: let the full-width exterior image dominate, supported by one summary line and three strategic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Arrow Interior: one immersive rendering, one short caption. Speak to the experience, not the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Arrow Cross: let the full-width exterior image dominate, supported by one summary line and three strategic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Arrow Cross Interior: one immersive rendering, one short caption. Speak to the experience, not the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Show where Chrysler sits and how it stays distinct. Replace BRAND A–D with the relevant Stellantis siblings. Emphasize white space Chrysler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Paint the experience Chrysler will deliver. Six themes — swap ICON boxes for final iconography. Keep words minimal.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Show breadth of design capability across six domains. The infographic ties them into one system. Replace nodes as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Close on three memorable messages that map to the three pillars. End on the hero image and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839815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469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5993434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0" y="3557016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FULL-WIDTH HERO VEHICLE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3831336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cinematic full-bleed key visual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7498079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777240" y="4709160"/>
            <a:ext cx="182880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627632" y="464515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8920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STELLANTIS · CHRYSLER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1A1A1C"/>
                </a:solidFill>
                <a:latin typeface="Arial"/>
              </a:rPr>
              <a:t>Chrysler Design 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08076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4A4E57"/>
                </a:solidFill>
                <a:latin typeface="Arial"/>
              </a:rPr>
              <a:t>The Future of Chrysler Design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EXECUTIVE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A1C"/>
                </a:solidFill>
                <a:latin typeface="Arial"/>
              </a:rPr>
              <a:t>Why Chrysler?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20240"/>
            <a:ext cx="10817352" cy="109728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1">
                <a:solidFill>
                  <a:srgbClr val="4A4E57"/>
                </a:solidFill>
                <a:latin typeface="Arial"/>
              </a:rPr>
              <a:t>Chrysler makes everyday life effortless — design that removes friction and puts people first.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3611880"/>
            <a:ext cx="566928" cy="56692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86968" y="38130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85800" y="443484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572000"/>
            <a:ext cx="336194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Modern American Design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68B94"/>
                </a:solidFill>
                <a:latin typeface="Arial"/>
              </a:rPr>
              <a:t>Optimistic, human, unmistakably Chrysler.</a:t>
            </a:r>
          </a:p>
        </p:txBody>
      </p:sp>
      <p:sp>
        <p:nvSpPr>
          <p:cNvPr id="10" name="Oval 9"/>
          <p:cNvSpPr/>
          <p:nvPr/>
        </p:nvSpPr>
        <p:spPr>
          <a:xfrm>
            <a:off x="4413504" y="3611880"/>
            <a:ext cx="566928" cy="56692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14672" y="38130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413504" y="443484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13504" y="4572000"/>
            <a:ext cx="336194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Technology With Purpose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68B94"/>
                </a:solidFill>
                <a:latin typeface="Arial"/>
              </a:rPr>
              <a:t>Intelligence that disappears into the experience.</a:t>
            </a:r>
          </a:p>
        </p:txBody>
      </p:sp>
      <p:sp>
        <p:nvSpPr>
          <p:cNvPr id="14" name="Oval 13"/>
          <p:cNvSpPr/>
          <p:nvPr/>
        </p:nvSpPr>
        <p:spPr>
          <a:xfrm>
            <a:off x="8141208" y="3611880"/>
            <a:ext cx="566928" cy="56692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42376" y="38130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141208" y="443484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141208" y="4572000"/>
            <a:ext cx="336194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Beautiful Simplicity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68B94"/>
                </a:solidFill>
                <a:latin typeface="Arial"/>
              </a:rPr>
              <a:t>Luxury as the absence of friction.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What is the Vision of Chrysler Design?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5852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 i="0">
                <a:solidFill>
                  <a:srgbClr val="C8CCD2"/>
                </a:solidFill>
                <a:latin typeface="Arial"/>
              </a:rPr>
              <a:t>“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A1A1C"/>
                </a:solidFill>
                <a:latin typeface="Arial"/>
              </a:rPr>
              <a:t>Luxury is no longer ornament. It is the removal of friction from everyday life.</a:t>
            </a:r>
          </a:p>
        </p:txBody>
      </p:sp>
      <p:sp>
        <p:nvSpPr>
          <p:cNvPr id="5" name="Diamond 4"/>
          <p:cNvSpPr/>
          <p:nvPr/>
        </p:nvSpPr>
        <p:spPr>
          <a:xfrm>
            <a:off x="713232" y="4654296"/>
            <a:ext cx="146304" cy="146304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61772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Innovative Practicality  —  design that solves real life</a:t>
            </a:r>
          </a:p>
        </p:txBody>
      </p:sp>
      <p:sp>
        <p:nvSpPr>
          <p:cNvPr id="7" name="Diamond 6"/>
          <p:cNvSpPr/>
          <p:nvPr/>
        </p:nvSpPr>
        <p:spPr>
          <a:xfrm>
            <a:off x="713232" y="5202936"/>
            <a:ext cx="146304" cy="146304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16636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Human-Centered Technology  —  built around people, not features</a:t>
            </a:r>
          </a:p>
        </p:txBody>
      </p:sp>
      <p:sp>
        <p:nvSpPr>
          <p:cNvPr id="9" name="Diamond 8"/>
          <p:cNvSpPr/>
          <p:nvPr/>
        </p:nvSpPr>
        <p:spPr>
          <a:xfrm>
            <a:off x="713232" y="5751576"/>
            <a:ext cx="146304" cy="146304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71500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Beautiful Simplicity  —  calm, considered, effortless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011680"/>
            <a:ext cx="4645152" cy="40233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58000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1265408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503152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858000" y="60350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6858000" y="57972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1265408" y="60350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1503152" y="57972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924544" y="35478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037198" y="36502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>
            <a:off x="9078163" y="37731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151376"/>
            <a:ext cx="4645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SUPPORTING VISUAL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425696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STRATEGIC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Left Brain / Right 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4A4E57"/>
                </a:solidFill>
                <a:latin typeface="Arial"/>
              </a:rPr>
              <a:t>Updated Chrysler 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48840"/>
            <a:ext cx="5330952" cy="37947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85800" y="21488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21488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779008" y="21488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16752" y="21488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8580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7790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0167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095244" y="357073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207898" y="367314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3248863" y="379604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5330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LEFT BRAIN  ·  RATIONAL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448556"/>
            <a:ext cx="5330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board imagery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2148840"/>
            <a:ext cx="5330952" cy="37947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172200" y="21488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72200" y="21488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265408" y="21488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503152" y="21488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7220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17220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12654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5031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581644" y="357073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94298" y="367314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>
            <a:off x="8735263" y="379604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4174236"/>
            <a:ext cx="5330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RIGHT BRAIN  ·  EMOTIONAL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448556"/>
            <a:ext cx="5330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board imagery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650992" y="4023360"/>
            <a:ext cx="86868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Diamond 33"/>
          <p:cNvSpPr/>
          <p:nvPr/>
        </p:nvSpPr>
        <p:spPr>
          <a:xfrm>
            <a:off x="6021324" y="395935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BRAND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Chrysler Design DNA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20240"/>
            <a:ext cx="5760720" cy="40233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920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920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208776" y="1920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446520" y="1920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208776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44652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10128" y="345643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22782" y="355884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463747" y="368174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059936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DESIGN-DNA GRAPHIC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34256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2011680"/>
            <a:ext cx="4782312" cy="109728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0840" y="2011680"/>
            <a:ext cx="54864" cy="10972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2212848"/>
            <a:ext cx="4325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Design Principles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Thoughtful · Logical · Precise · Purposeful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20840" y="3337560"/>
            <a:ext cx="4782312" cy="109728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20840" y="3337560"/>
            <a:ext cx="54864" cy="10972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5160" y="3538728"/>
            <a:ext cx="4325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Brand Attributes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Confident · Approachable · Effortless · Calm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20840" y="4663440"/>
            <a:ext cx="4782312" cy="109728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20840" y="4663440"/>
            <a:ext cx="54864" cy="10972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4864608"/>
            <a:ext cx="4325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Visual Language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Calm architecture · Warm materials · Human scale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LINEUP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Future Chrysler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2392070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629814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2392070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629814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401775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14429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1555394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Future Pacifica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04134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2904134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904134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610404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848148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904134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904134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4610404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4848148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620109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32763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>
            <a:off x="3773728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04134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04134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04134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Airflow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2468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122468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122468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6828738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066482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22468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122468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6828738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7066482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5838443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951097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Isosceles Triangle 44"/>
          <p:cNvSpPr/>
          <p:nvPr/>
        </p:nvSpPr>
        <p:spPr>
          <a:xfrm>
            <a:off x="5992062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22468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2468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2468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Arrow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40802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7340802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340802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9047072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284816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340802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7340802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9047072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9284816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056777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169431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Isosceles Triangle 59"/>
          <p:cNvSpPr/>
          <p:nvPr/>
        </p:nvSpPr>
        <p:spPr>
          <a:xfrm>
            <a:off x="8210396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40802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40802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40802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Arrow Cross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59136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9559136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559136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1265406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503150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9559136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9559136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11265406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1503150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0275111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387765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Isosceles Triangle 74"/>
          <p:cNvSpPr/>
          <p:nvPr/>
        </p:nvSpPr>
        <p:spPr>
          <a:xfrm>
            <a:off x="10428730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59136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59136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9136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300 Concept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MODERN FAMILY VEHICLE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Pacifica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8173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4A4E57"/>
                </a:solidFill>
                <a:latin typeface="Arial"/>
              </a:rPr>
              <a:t>The evolution of the modern family vehicle — flexible, sophisticated, and designed around people.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10817352" cy="33832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85800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65408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503152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" y="539496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85800" y="515721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65408" y="539496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503152" y="515721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838444" y="322783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51098" y="333024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5992063" y="345314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3133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10565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55321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5528" y="56418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5486400"/>
            <a:ext cx="28133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A1C"/>
                </a:solidFill>
                <a:latin typeface="Arial"/>
              </a:rPr>
              <a:t>Flexible by Design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Space that adapts to every journey.</a:t>
            </a:r>
          </a:p>
        </p:txBody>
      </p:sp>
      <p:sp>
        <p:nvSpPr>
          <p:cNvPr id="22" name="Oval 21"/>
          <p:cNvSpPr/>
          <p:nvPr/>
        </p:nvSpPr>
        <p:spPr>
          <a:xfrm>
            <a:off x="4413504" y="55321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23232" y="56418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62144" y="5486400"/>
            <a:ext cx="28133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A1C"/>
                </a:solidFill>
                <a:latin typeface="Arial"/>
              </a:rPr>
              <a:t>Sophisticated Comfort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Refined, calm, effortlessly livable.</a:t>
            </a:r>
          </a:p>
        </p:txBody>
      </p:sp>
      <p:sp>
        <p:nvSpPr>
          <p:cNvPr id="25" name="Oval 24"/>
          <p:cNvSpPr/>
          <p:nvPr/>
        </p:nvSpPr>
        <p:spPr>
          <a:xfrm>
            <a:off x="8141208" y="55321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50936" y="56418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9848" y="5486400"/>
            <a:ext cx="28133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A1C"/>
                </a:solidFill>
                <a:latin typeface="Arial"/>
              </a:rPr>
              <a:t>Technology Around People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Intelligence that serves the family.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Pacifica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A family sanctuary — flexible, comfortable, designed around people.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EMOTIONAL HALO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300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8173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4A4E57"/>
                </a:solidFill>
                <a:latin typeface="Arial"/>
              </a:rPr>
              <a:t>The flagship expression of Chrysler design — composed, commanding, never excessive.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10817352" cy="33832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85800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65408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503152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" y="539496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85800" y="515721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65408" y="539496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503152" y="515721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838444" y="322783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51098" y="333024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5992063" y="345314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3133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10565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55321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5528" y="56418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5486400"/>
            <a:ext cx="28133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A1C"/>
                </a:solidFill>
                <a:latin typeface="Arial"/>
              </a:rPr>
              <a:t>Commanding Presence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Architectural proportion, balanced and tailored.</a:t>
            </a:r>
          </a:p>
        </p:txBody>
      </p:sp>
      <p:sp>
        <p:nvSpPr>
          <p:cNvPr id="22" name="Oval 21"/>
          <p:cNvSpPr/>
          <p:nvPr/>
        </p:nvSpPr>
        <p:spPr>
          <a:xfrm>
            <a:off x="4413504" y="55321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23232" y="56418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62144" y="5486400"/>
            <a:ext cx="28133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A1C"/>
                </a:solidFill>
                <a:latin typeface="Arial"/>
              </a:rPr>
              <a:t>Quiet Power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Confidence expressed through restraint.</a:t>
            </a:r>
          </a:p>
        </p:txBody>
      </p:sp>
      <p:sp>
        <p:nvSpPr>
          <p:cNvPr id="25" name="Oval 24"/>
          <p:cNvSpPr/>
          <p:nvPr/>
        </p:nvSpPr>
        <p:spPr>
          <a:xfrm>
            <a:off x="8141208" y="55321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50936" y="56418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9848" y="5486400"/>
            <a:ext cx="28133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A1C"/>
                </a:solidFill>
                <a:latin typeface="Arial"/>
              </a:rPr>
              <a:t>Timeless Craftsmanship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Authentic American design, refined.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300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300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An interior sanctuary — crafted, composed, human in scale.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Airflow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8173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4A4E57"/>
                </a:solidFill>
                <a:latin typeface="Arial"/>
              </a:rPr>
              <a:t>Airflow introduces Chrysler's philosophy: innovative practicality, designed around people.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10817352" cy="33832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85800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65408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503152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" y="539496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85800" y="515721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65408" y="539496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503152" y="515721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838444" y="322783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51098" y="333024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5992063" y="345314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3133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10565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55321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5528" y="56418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5486400"/>
            <a:ext cx="28133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A1C"/>
                </a:solidFill>
                <a:latin typeface="Arial"/>
              </a:rPr>
              <a:t>Spacious &amp; Adaptive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Versatile space for everyday life.</a:t>
            </a:r>
          </a:p>
        </p:txBody>
      </p:sp>
      <p:sp>
        <p:nvSpPr>
          <p:cNvPr id="22" name="Oval 21"/>
          <p:cNvSpPr/>
          <p:nvPr/>
        </p:nvSpPr>
        <p:spPr>
          <a:xfrm>
            <a:off x="4413504" y="55321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23232" y="56418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62144" y="5486400"/>
            <a:ext cx="28133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A1C"/>
                </a:solidFill>
                <a:latin typeface="Arial"/>
              </a:rPr>
              <a:t>Technology With Purpose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Intelligence that serves, then disappears.</a:t>
            </a:r>
          </a:p>
        </p:txBody>
      </p:sp>
      <p:sp>
        <p:nvSpPr>
          <p:cNvPr id="25" name="Oval 24"/>
          <p:cNvSpPr/>
          <p:nvPr/>
        </p:nvSpPr>
        <p:spPr>
          <a:xfrm>
            <a:off x="8141208" y="55321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50936" y="56418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9848" y="5486400"/>
            <a:ext cx="28133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A1C"/>
                </a:solidFill>
                <a:latin typeface="Arial"/>
              </a:rPr>
              <a:t>Confident Simplicity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Clean, logical, human-centered form.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AIRFLOW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Airflow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Designed around people — flexible, calm, effortlessly useful.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CLEVER ACCESSIBILITY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8173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4A4E57"/>
                </a:solidFill>
                <a:latin typeface="Arial"/>
              </a:rPr>
              <a:t>Chrysler's accessible entry — clever, design-led, and attainable from around $24K.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10817352" cy="33832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85800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65408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503152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" y="539496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85800" y="515721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65408" y="539496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503152" y="515721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838444" y="322783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51098" y="333024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5992063" y="345314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3133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10565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55321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5528" y="56418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5486400"/>
            <a:ext cx="28133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A1C"/>
                </a:solidFill>
                <a:latin typeface="Arial"/>
              </a:rPr>
              <a:t>Smart &amp; Simple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Approachable design for the city.</a:t>
            </a:r>
          </a:p>
        </p:txBody>
      </p:sp>
      <p:sp>
        <p:nvSpPr>
          <p:cNvPr id="22" name="Oval 21"/>
          <p:cNvSpPr/>
          <p:nvPr/>
        </p:nvSpPr>
        <p:spPr>
          <a:xfrm>
            <a:off x="4413504" y="55321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23232" y="56418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62144" y="5486400"/>
            <a:ext cx="28133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A1C"/>
                </a:solidFill>
                <a:latin typeface="Arial"/>
              </a:rPr>
              <a:t>Attainable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Thoughtful style within reach.</a:t>
            </a:r>
          </a:p>
        </p:txBody>
      </p:sp>
      <p:sp>
        <p:nvSpPr>
          <p:cNvPr id="25" name="Oval 24"/>
          <p:cNvSpPr/>
          <p:nvPr/>
        </p:nvSpPr>
        <p:spPr>
          <a:xfrm>
            <a:off x="8141208" y="55321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50936" y="56418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9848" y="5486400"/>
            <a:ext cx="28133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A1C"/>
                </a:solidFill>
                <a:latin typeface="Arial"/>
              </a:rPr>
              <a:t>Youthful &amp; Modern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Efficient, urban, design-led.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Arrow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Smart, simple, and useful — accessible design done thoughtfully.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PURPOSEFUL VERSATILITY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Arrow Cross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8173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4A4E57"/>
                </a:solidFill>
                <a:latin typeface="Arial"/>
              </a:rPr>
              <a:t>An accessible crossover with purposeful versatility — designed around everyday life.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10817352" cy="33832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85800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65408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503152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" y="539496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85800" y="515721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65408" y="539496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503152" y="515721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838444" y="322783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51098" y="333024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5992063" y="345314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3133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10565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55321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5528" y="56418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5486400"/>
            <a:ext cx="28133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A1C"/>
                </a:solidFill>
                <a:latin typeface="Arial"/>
              </a:rPr>
              <a:t>Flexible &amp; Versatile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Thoughtful packaging for families.</a:t>
            </a:r>
          </a:p>
        </p:txBody>
      </p:sp>
      <p:sp>
        <p:nvSpPr>
          <p:cNvPr id="22" name="Oval 21"/>
          <p:cNvSpPr/>
          <p:nvPr/>
        </p:nvSpPr>
        <p:spPr>
          <a:xfrm>
            <a:off x="4413504" y="55321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23232" y="56418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62144" y="5486400"/>
            <a:ext cx="28133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A1C"/>
                </a:solidFill>
                <a:latin typeface="Arial"/>
              </a:rPr>
              <a:t>Urban &amp; Useful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Confident, modern, accessible.</a:t>
            </a:r>
          </a:p>
        </p:txBody>
      </p:sp>
      <p:sp>
        <p:nvSpPr>
          <p:cNvPr id="25" name="Oval 24"/>
          <p:cNvSpPr/>
          <p:nvPr/>
        </p:nvSpPr>
        <p:spPr>
          <a:xfrm>
            <a:off x="8141208" y="55321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50936" y="56418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9848" y="5486400"/>
            <a:ext cx="28133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A1C"/>
                </a:solidFill>
                <a:latin typeface="Arial"/>
              </a:rPr>
              <a:t>Everyday Ready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Simple design that adapts.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ARROW CROSS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Arrow Cross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Versatile and family-friendly — space designed for real life.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PORTFOLIO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How Chrysler Fits Within Stellantis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Differentiation, not overlap — the distinct, human-centered space Chrysler owns.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286000"/>
            <a:ext cx="3200400" cy="14630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2286000"/>
            <a:ext cx="320040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 spc="200">
                <a:solidFill>
                  <a:srgbClr val="FFFFFF"/>
                </a:solidFill>
                <a:latin typeface="Arial"/>
              </a:rPr>
              <a:t>CHRYSLER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C8CCD2"/>
                </a:solidFill>
                <a:latin typeface="Arial"/>
              </a:rPr>
              <a:t>Innovative practicality
for everyday life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297680"/>
            <a:ext cx="2430018" cy="13716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297680"/>
            <a:ext cx="243001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 spc="150">
                <a:solidFill>
                  <a:srgbClr val="868B94"/>
                </a:solidFill>
                <a:latin typeface="Arial"/>
              </a:rPr>
              <a:t>BRAND A</a:t>
            </a:r>
          </a:p>
          <a:p>
            <a:pPr algn="ctr">
              <a:lnSpc>
                <a:spcPct val="110000"/>
              </a:lnSpc>
            </a:pPr>
            <a:r>
              <a:rPr sz="950" b="0" i="0">
                <a:solidFill>
                  <a:srgbClr val="C8CCD2"/>
                </a:solidFill>
                <a:latin typeface="Arial"/>
              </a:rPr>
              <a:t>Distinct role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1578" y="4297680"/>
            <a:ext cx="2430018" cy="13716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1578" y="4297680"/>
            <a:ext cx="243001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 spc="150">
                <a:solidFill>
                  <a:srgbClr val="868B94"/>
                </a:solidFill>
                <a:latin typeface="Arial"/>
              </a:rPr>
              <a:t>BRAND B</a:t>
            </a:r>
          </a:p>
          <a:p>
            <a:pPr algn="ctr">
              <a:lnSpc>
                <a:spcPct val="110000"/>
              </a:lnSpc>
            </a:pPr>
            <a:r>
              <a:rPr sz="950" b="0" i="0">
                <a:solidFill>
                  <a:srgbClr val="C8CCD2"/>
                </a:solidFill>
                <a:latin typeface="Arial"/>
              </a:rPr>
              <a:t>Distinct role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7356" y="4297680"/>
            <a:ext cx="2430018" cy="13716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7356" y="4297680"/>
            <a:ext cx="243001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 spc="150">
                <a:solidFill>
                  <a:srgbClr val="868B94"/>
                </a:solidFill>
                <a:latin typeface="Arial"/>
              </a:rPr>
              <a:t>BRAND C</a:t>
            </a:r>
          </a:p>
          <a:p>
            <a:pPr algn="ctr">
              <a:lnSpc>
                <a:spcPct val="110000"/>
              </a:lnSpc>
            </a:pPr>
            <a:r>
              <a:rPr sz="950" b="0" i="0">
                <a:solidFill>
                  <a:srgbClr val="C8CCD2"/>
                </a:solidFill>
                <a:latin typeface="Arial"/>
              </a:rPr>
              <a:t>Distinct role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73134" y="4297680"/>
            <a:ext cx="2430018" cy="13716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73134" y="4297680"/>
            <a:ext cx="243001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 spc="150">
                <a:solidFill>
                  <a:srgbClr val="868B94"/>
                </a:solidFill>
                <a:latin typeface="Arial"/>
              </a:rPr>
              <a:t>BRAND D</a:t>
            </a:r>
          </a:p>
          <a:p>
            <a:pPr algn="ctr">
              <a:lnSpc>
                <a:spcPct val="110000"/>
              </a:lnSpc>
            </a:pPr>
            <a:r>
              <a:rPr sz="950" b="0" i="0">
                <a:solidFill>
                  <a:srgbClr val="C8CCD2"/>
                </a:solidFill>
                <a:latin typeface="Arial"/>
              </a:rPr>
              <a:t>Distinct 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LOOKING FORWARD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Future Customer Experience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5740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237744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4144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Digital Ecosystem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Seamless, connected, personal.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13504" y="205740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33544" y="237744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3544" y="244144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3544" y="320040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Technology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Purposeful and invisible.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41208" y="205740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61248" y="237744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61248" y="244144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1248" y="320040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Sustainability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Warm, recycled, responsible materials.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20624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452628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9028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34924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Luxury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Friction removed from daily life.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13504" y="420624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33544" y="452628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3544" y="459028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3544" y="534924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AI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Adaptive, predictive, human-centered.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41208" y="420624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61248" y="452628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61248" y="459028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1248" y="534924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Connected Mobility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Effortless, door to destination.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Design 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828800"/>
            <a:ext cx="10817352" cy="24688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8288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8288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8288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8288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4297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40599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4297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40599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258775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269016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281306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9125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INFOGRAPHIC PLACEHOLDER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46557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innovation framework graphic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Exterior 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26792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26792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91384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Interior Design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67784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67784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2376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CMF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08776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8776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3368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04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Lighting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9768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9768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4360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05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Digital Experience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90760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90760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5352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06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AI-enabled Design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01752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30175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0" y="27797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30175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27797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0" y="1307592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CLOSING HERO IMAGE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581912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aspirational closing visual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918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IN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6118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A1C"/>
                </a:solidFill>
                <a:latin typeface="Arial"/>
              </a:rPr>
              <a:t>Executive Takeaways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572000"/>
            <a:ext cx="33619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A9AEB5"/>
                </a:solidFill>
                <a:latin typeface="Arial"/>
              </a:rPr>
              <a:t>01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21208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349240"/>
            <a:ext cx="33619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Designed Around People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4A4E57"/>
                </a:solidFill>
                <a:latin typeface="Arial"/>
              </a:rPr>
              <a:t>Luxury is the removal of everyday friction.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3504" y="4572000"/>
            <a:ext cx="33619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A9AEB5"/>
                </a:solidFill>
                <a:latin typeface="Arial"/>
              </a:rPr>
              <a:t>02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413504" y="521208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13504" y="5349240"/>
            <a:ext cx="33619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Distinct Within Stellantis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4A4E57"/>
                </a:solidFill>
                <a:latin typeface="Arial"/>
              </a:rPr>
              <a:t>Modern American design — human and confident.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41208" y="4572000"/>
            <a:ext cx="33619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A9AEB5"/>
                </a:solidFill>
                <a:latin typeface="Arial"/>
              </a:rPr>
              <a:t>03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141208" y="521208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141208" y="5349240"/>
            <a:ext cx="33619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Ready to Lead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4A4E57"/>
                </a:solidFill>
                <a:latin typeface="Arial"/>
              </a:rPr>
              <a:t>A clear, design-led vision for Chrysler's future.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