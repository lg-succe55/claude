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Open with the through-line of the whole deck: Chrysler removes friction from everyday life through thoughtful, people-first design. Set a calm, confident, design-led tone — and signal the audience will never lose sight of that idea.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Open the story: this is why Chrysler exists. State the central philosophy plainly, then the three ideas it rests on — we return to exactly these three at the close. Transition: 'This belief is not abstract. It begins with how we think.'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How Chrysler thinks differently. The quote reframes luxury as the removal of friction. Introduce the four pillars that guide every design decision — People First, Everyday Ingenuity, Human-Centered Intelligence, Modern American Design. Transition: 'These principles are not abstract. They become tangible in every vehicle.'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Chrysler thinks differently: rational rigor and human emotion are not opposites — together they remove friction. Transition: 'This way of thinking resolves into a clear design DNA.'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The shared DNA every Chrysler carries — the four pillars made tangible. Transition: 'These principles are not abstract ideas. They come to life in every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Reveal the full family at once. Frame it as evidence: 'Together, the portfolio shows how one philosophy serves different lifestyles while remaining unmistakably Chrysler.' Each vehicle that follows expresses one primary pillar. Image placeholders only; no specs.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Pacifica — primary principle: People First.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Pacifica Interior — primary principle: People First.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300 Concept — primary principle: Modern American Design.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300 Interior — primary principle: Modern American Design.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Airflow — primary principle: Everyday Ingenuity.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Airflow Interior — primary principle: Everyday Ingenuity.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 primary principle: Accessible Design.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Interior — primary principle: Accessible Design.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Cross — primary principle: Purposeful Versatility. Let the image carry the emotion; the summary states the role this vehicle plays in the philosophy, and the bullets reinforce that one principle while quietly supporting the others. Tie every point back to removing friction for the people who use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Arrow Cross Interior — primary principle: Purposeful Versatility. One immersive rendering, one short caption. Speak to the lived experience and the calm of everyday use, not the features.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Why this philosophy creates a unique position. On the perception map, Dodge, Jeep, and Ram all sit on the emotional side — performance, adventure, capability. Chrysler stands apart in the practical, forward-thinking quadrant, alongside the imports buyers cross-shop. That human-centered space is open, and only Chrysler owns it. Transition: 'Together, these vehicles are more than a portfolio — they define Chrysler's future.'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Human-Centered Intelligence in practice: technology that quietly supports and removes friction. AI is an enabler, never the brand. Six themes — swap ICON boxes for final iconography. Keep words minimal.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Breadth of design capability across six domains, unified by one philosophy. Replace nodes as needed. Transition into the close: 'When every decision begins with people, this is what design becomes.'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(placeholder) — Come full circle: these are the same three ideas opened on slide 2 — Designed Around People, Removing Everyday Friction, Modern American Design. Deliver the closing statement as the final word; it should feel like a vision, not a summary.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0"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0"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953951"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1695"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0" y="68580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0" y="66202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953951" y="68580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191695" y="66202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39815" y="29535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952469" y="30559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5993434" y="31788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0" y="3557016"/>
            <a:ext cx="12191695" cy="365760"/>
          </a:xfrm>
          <a:prstGeom prst="rect">
            <a:avLst/>
          </a:prstGeom>
          <a:noFill/>
        </p:spPr>
        <p:txBody>
          <a:bodyPr wrap="square" anchor="t" lIns="0" rIns="0" tIns="0" bIns="0">
            <a:spAutoFit/>
          </a:bodyPr>
          <a:lstStyle/>
          <a:p>
            <a:pPr algn="ctr"/>
            <a:r>
              <a:rPr sz="1050" b="1" i="0" spc="200">
                <a:solidFill>
                  <a:srgbClr val="868B94"/>
                </a:solidFill>
                <a:latin typeface="Arial"/>
              </a:rPr>
              <a:t>FULL-WIDTH HERO VEHICLE IMAGE</a:t>
            </a:r>
          </a:p>
        </p:txBody>
      </p:sp>
      <p:sp>
        <p:nvSpPr>
          <p:cNvPr id="15" name="TextBox 14"/>
          <p:cNvSpPr txBox="1"/>
          <p:nvPr/>
        </p:nvSpPr>
        <p:spPr>
          <a:xfrm>
            <a:off x="0" y="3831336"/>
            <a:ext cx="12191695" cy="274320"/>
          </a:xfrm>
          <a:prstGeom prst="rect">
            <a:avLst/>
          </a:prstGeom>
          <a:noFill/>
        </p:spPr>
        <p:txBody>
          <a:bodyPr wrap="square" anchor="t" lIns="0" rIns="0" tIns="0" bIns="0">
            <a:spAutoFit/>
          </a:bodyPr>
          <a:lstStyle/>
          <a:p>
            <a:pPr algn="ctr"/>
            <a:r>
              <a:rPr sz="800" b="0" i="0" spc="80">
                <a:solidFill>
                  <a:srgbClr val="C8CCD2"/>
                </a:solidFill>
                <a:latin typeface="Arial"/>
              </a:rPr>
              <a:t>Replace · cinematic full-bleed key visual</a:t>
            </a:r>
          </a:p>
        </p:txBody>
      </p:sp>
      <p:sp>
        <p:nvSpPr>
          <p:cNvPr id="16" name="Rectangle 15"/>
          <p:cNvSpPr/>
          <p:nvPr/>
        </p:nvSpPr>
        <p:spPr>
          <a:xfrm>
            <a:off x="0" y="4297680"/>
            <a:ext cx="7498079"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777240" y="4709160"/>
            <a:ext cx="1828800" cy="0"/>
          </a:xfrm>
          <a:prstGeom prst="bentConnector3">
            <a:avLst/>
          </a:prstGeom>
          <a:ln w="19050">
            <a:solidFill>
              <a:srgbClr val="A9AEB5"/>
            </a:solidFill>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1627632" y="4645152"/>
            <a:ext cx="128016" cy="128016"/>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920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STELLANTIS · CHRYSLER</a:t>
            </a:r>
          </a:p>
        </p:txBody>
      </p:sp>
      <p:sp>
        <p:nvSpPr>
          <p:cNvPr id="20" name="TextBox 19"/>
          <p:cNvSpPr txBox="1"/>
          <p:nvPr/>
        </p:nvSpPr>
        <p:spPr>
          <a:xfrm>
            <a:off x="749808" y="5212080"/>
            <a:ext cx="6400800" cy="914400"/>
          </a:xfrm>
          <a:prstGeom prst="rect">
            <a:avLst/>
          </a:prstGeom>
          <a:noFill/>
        </p:spPr>
        <p:txBody>
          <a:bodyPr wrap="square" anchor="t" lIns="0" rIns="0" tIns="0" bIns="0">
            <a:spAutoFit/>
          </a:bodyPr>
          <a:lstStyle/>
          <a:p>
            <a:pPr algn="l"/>
            <a:r>
              <a:rPr sz="4400" b="1" i="0">
                <a:solidFill>
                  <a:srgbClr val="1A1A1C"/>
                </a:solidFill>
                <a:latin typeface="Arial"/>
              </a:rPr>
              <a:t>Chrysler Design Vision</a:t>
            </a:r>
          </a:p>
        </p:txBody>
      </p:sp>
      <p:sp>
        <p:nvSpPr>
          <p:cNvPr id="21" name="TextBox 20"/>
          <p:cNvSpPr txBox="1"/>
          <p:nvPr/>
        </p:nvSpPr>
        <p:spPr>
          <a:xfrm>
            <a:off x="777240" y="6080760"/>
            <a:ext cx="6400800" cy="457200"/>
          </a:xfrm>
          <a:prstGeom prst="rect">
            <a:avLst/>
          </a:prstGeom>
          <a:noFill/>
        </p:spPr>
        <p:txBody>
          <a:bodyPr wrap="square" anchor="t" lIns="0" rIns="0" tIns="0" bIns="0">
            <a:spAutoFit/>
          </a:bodyPr>
          <a:lstStyle/>
          <a:p>
            <a:pPr algn="l"/>
            <a:r>
              <a:rPr sz="1600" b="0" i="0">
                <a:solidFill>
                  <a:srgbClr val="4A4E57"/>
                </a:solidFill>
                <a:latin typeface="Arial"/>
              </a:rPr>
              <a:t>The Future of Chrysler Design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EXECUTIVE STORY</a:t>
            </a:r>
          </a:p>
        </p:txBody>
      </p:sp>
      <p:sp>
        <p:nvSpPr>
          <p:cNvPr id="3" name="TextBox 2"/>
          <p:cNvSpPr txBox="1"/>
          <p:nvPr/>
        </p:nvSpPr>
        <p:spPr>
          <a:xfrm>
            <a:off x="658368" y="960120"/>
            <a:ext cx="10058400" cy="822960"/>
          </a:xfrm>
          <a:prstGeom prst="rect">
            <a:avLst/>
          </a:prstGeom>
          <a:noFill/>
        </p:spPr>
        <p:txBody>
          <a:bodyPr wrap="square" anchor="t" lIns="0" rIns="0" tIns="0" bIns="0">
            <a:spAutoFit/>
          </a:bodyPr>
          <a:lstStyle/>
          <a:p>
            <a:pPr algn="l"/>
            <a:r>
              <a:rPr sz="3200" b="1" i="0">
                <a:solidFill>
                  <a:srgbClr val="1A1A1C"/>
                </a:solidFill>
                <a:latin typeface="Arial"/>
              </a:rPr>
              <a:t>Why Chrysler?</a:t>
            </a:r>
          </a:p>
        </p:txBody>
      </p:sp>
      <p:sp>
        <p:nvSpPr>
          <p:cNvPr id="4" name="Rectangle 3"/>
          <p:cNvSpPr/>
          <p:nvPr/>
        </p:nvSpPr>
        <p:spPr>
          <a:xfrm>
            <a:off x="685800" y="1920240"/>
            <a:ext cx="10817352" cy="109728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10149840" cy="1097280"/>
          </a:xfrm>
          <a:prstGeom prst="rect">
            <a:avLst/>
          </a:prstGeom>
          <a:noFill/>
        </p:spPr>
        <p:txBody>
          <a:bodyPr wrap="square" anchor="ctr" lIns="0" rIns="0" tIns="0" bIns="0">
            <a:spAutoFit/>
          </a:bodyPr>
          <a:lstStyle/>
          <a:p>
            <a:pPr algn="l">
              <a:lnSpc>
                <a:spcPct val="125000"/>
              </a:lnSpc>
            </a:pPr>
            <a:r>
              <a:rPr sz="1700" b="0" i="1">
                <a:solidFill>
                  <a:srgbClr val="4A4E57"/>
                </a:solidFill>
                <a:latin typeface="Arial"/>
              </a:rPr>
              <a:t>Chrysler removes friction from everyday life through thoughtful, people-first design.</a:t>
            </a:r>
          </a:p>
        </p:txBody>
      </p:sp>
      <p:sp>
        <p:nvSpPr>
          <p:cNvPr id="6" name="Oval 5"/>
          <p:cNvSpPr/>
          <p:nvPr/>
        </p:nvSpPr>
        <p:spPr>
          <a:xfrm>
            <a:off x="685800"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86968"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01</a:t>
            </a:r>
          </a:p>
          <a:p>
            <a:pPr algn="l">
              <a:spcAft>
                <a:spcPts val="500"/>
              </a:spcAft>
            </a:pPr>
            <a:r>
              <a:rPr sz="1600" b="1" i="0">
                <a:solidFill>
                  <a:srgbClr val="1A1A1C"/>
                </a:solidFill>
                <a:latin typeface="Arial"/>
              </a:rPr>
              <a:t>Designed Around People</a:t>
            </a:r>
          </a:p>
          <a:p>
            <a:pPr algn="l">
              <a:lnSpc>
                <a:spcPct val="120000"/>
              </a:lnSpc>
            </a:pPr>
            <a:r>
              <a:rPr sz="1100" b="0" i="0">
                <a:solidFill>
                  <a:srgbClr val="868B94"/>
                </a:solidFill>
                <a:latin typeface="Arial"/>
              </a:rPr>
              <a:t>Every decision begins with the people who use it.</a:t>
            </a:r>
          </a:p>
        </p:txBody>
      </p:sp>
      <p:sp>
        <p:nvSpPr>
          <p:cNvPr id="10" name="Oval 9"/>
          <p:cNvSpPr/>
          <p:nvPr/>
        </p:nvSpPr>
        <p:spPr>
          <a:xfrm>
            <a:off x="4413504"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4672"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413504"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13504"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02</a:t>
            </a:r>
          </a:p>
          <a:p>
            <a:pPr algn="l">
              <a:spcAft>
                <a:spcPts val="500"/>
              </a:spcAft>
            </a:pPr>
            <a:r>
              <a:rPr sz="1600" b="1" i="0">
                <a:solidFill>
                  <a:srgbClr val="1A1A1C"/>
                </a:solidFill>
                <a:latin typeface="Arial"/>
              </a:rPr>
              <a:t>Removing Everyday Friction</a:t>
            </a:r>
          </a:p>
          <a:p>
            <a:pPr algn="l">
              <a:lnSpc>
                <a:spcPct val="120000"/>
              </a:lnSpc>
            </a:pPr>
            <a:r>
              <a:rPr sz="1100" b="0" i="0">
                <a:solidFill>
                  <a:srgbClr val="868B94"/>
                </a:solidFill>
                <a:latin typeface="Arial"/>
              </a:rPr>
              <a:t>Thoughtful design that makes daily life easier.</a:t>
            </a:r>
          </a:p>
        </p:txBody>
      </p:sp>
      <p:sp>
        <p:nvSpPr>
          <p:cNvPr id="14" name="Oval 13"/>
          <p:cNvSpPr/>
          <p:nvPr/>
        </p:nvSpPr>
        <p:spPr>
          <a:xfrm>
            <a:off x="8141208" y="3611880"/>
            <a:ext cx="566928" cy="56692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42376" y="38130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141208" y="443484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41208" y="4572000"/>
            <a:ext cx="3361944" cy="1371600"/>
          </a:xfrm>
          <a:prstGeom prst="rect">
            <a:avLst/>
          </a:prstGeom>
          <a:noFill/>
        </p:spPr>
        <p:txBody>
          <a:bodyPr wrap="square" anchor="t" lIns="0" rIns="0" tIns="0" bIns="0">
            <a:spAutoFit/>
          </a:bodyPr>
          <a:lstStyle/>
          <a:p>
            <a:pPr algn="l">
              <a:spcAft>
                <a:spcPts val="600"/>
              </a:spcAft>
            </a:pPr>
            <a:r>
              <a:rPr sz="1200" b="1" i="0" spc="200">
                <a:solidFill>
                  <a:srgbClr val="A9AEB5"/>
                </a:solidFill>
                <a:latin typeface="Arial"/>
              </a:rPr>
              <a:t>03</a:t>
            </a:r>
          </a:p>
          <a:p>
            <a:pPr algn="l">
              <a:spcAft>
                <a:spcPts val="500"/>
              </a:spcAft>
            </a:pPr>
            <a:r>
              <a:rPr sz="1600" b="1" i="0">
                <a:solidFill>
                  <a:srgbClr val="1A1A1C"/>
                </a:solidFill>
                <a:latin typeface="Arial"/>
              </a:rPr>
              <a:t>Modern American Design</a:t>
            </a:r>
          </a:p>
          <a:p>
            <a:pPr algn="l">
              <a:lnSpc>
                <a:spcPct val="120000"/>
              </a:lnSpc>
            </a:pPr>
            <a:r>
              <a:rPr sz="1100" b="0" i="0">
                <a:solidFill>
                  <a:srgbClr val="868B94"/>
                </a:solidFill>
                <a:latin typeface="Arial"/>
              </a:rPr>
              <a:t>Confident, optimistic, unmistakably Chrysler.</a:t>
            </a:r>
          </a:p>
        </p:txBody>
      </p:sp>
      <p:sp>
        <p:nvSpPr>
          <p:cNvPr id="18" name="TextBox 1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19" name="TextBox 1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02</a:t>
            </a:r>
          </a:p>
        </p:txBody>
      </p:sp>
      <p:sp>
        <p:nvSpPr>
          <p:cNvPr id="20" name="TextBox 1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THE VISION</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What is the Vision of Chrysler Design?</a:t>
            </a:r>
          </a:p>
        </p:txBody>
      </p:sp>
      <p:sp>
        <p:nvSpPr>
          <p:cNvPr id="4" name="TextBox 3"/>
          <p:cNvSpPr txBox="1"/>
          <p:nvPr/>
        </p:nvSpPr>
        <p:spPr>
          <a:xfrm>
            <a:off x="685800" y="2103120"/>
            <a:ext cx="5852160" cy="2377440"/>
          </a:xfrm>
          <a:prstGeom prst="rect">
            <a:avLst/>
          </a:prstGeom>
          <a:noFill/>
        </p:spPr>
        <p:txBody>
          <a:bodyPr wrap="square" anchor="t" lIns="0" rIns="0" tIns="0" bIns="0">
            <a:spAutoFit/>
          </a:bodyPr>
          <a:lstStyle/>
          <a:p>
            <a:pPr algn="l">
              <a:spcAft>
                <a:spcPts val="0"/>
              </a:spcAft>
            </a:pPr>
            <a:r>
              <a:rPr sz="6000" b="1" i="0">
                <a:solidFill>
                  <a:srgbClr val="C8CCD2"/>
                </a:solidFill>
                <a:latin typeface="Arial"/>
              </a:rPr>
              <a:t>“</a:t>
            </a:r>
          </a:p>
          <a:p>
            <a:pPr algn="l">
              <a:lnSpc>
                <a:spcPct val="120000"/>
              </a:lnSpc>
            </a:pPr>
            <a:r>
              <a:rPr sz="2200" b="0" i="0">
                <a:solidFill>
                  <a:srgbClr val="1A1A1C"/>
                </a:solidFill>
                <a:latin typeface="Arial"/>
              </a:rPr>
              <a:t>Luxury is no longer ornament. It is the removal of friction from everyday life.</a:t>
            </a:r>
          </a:p>
        </p:txBody>
      </p:sp>
      <p:sp>
        <p:nvSpPr>
          <p:cNvPr id="5" name="Diamond 4"/>
          <p:cNvSpPr/>
          <p:nvPr/>
        </p:nvSpPr>
        <p:spPr>
          <a:xfrm>
            <a:off x="713232" y="45628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526280"/>
            <a:ext cx="5577840" cy="457200"/>
          </a:xfrm>
          <a:prstGeom prst="rect">
            <a:avLst/>
          </a:prstGeom>
          <a:noFill/>
        </p:spPr>
        <p:txBody>
          <a:bodyPr wrap="square" anchor="t" lIns="0" rIns="0" tIns="0" bIns="0">
            <a:spAutoFit/>
          </a:bodyPr>
          <a:lstStyle/>
          <a:p>
            <a:pPr algn="l"/>
            <a:r>
              <a:rPr sz="1300" b="0" i="0">
                <a:solidFill>
                  <a:srgbClr val="4A4E57"/>
                </a:solidFill>
                <a:latin typeface="Arial"/>
              </a:rPr>
              <a:t>People First  —  every decision begins with people</a:t>
            </a:r>
          </a:p>
        </p:txBody>
      </p:sp>
      <p:sp>
        <p:nvSpPr>
          <p:cNvPr id="7" name="Diamond 6"/>
          <p:cNvSpPr/>
          <p:nvPr/>
        </p:nvSpPr>
        <p:spPr>
          <a:xfrm>
            <a:off x="713232" y="50200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983480"/>
            <a:ext cx="5577840" cy="457200"/>
          </a:xfrm>
          <a:prstGeom prst="rect">
            <a:avLst/>
          </a:prstGeom>
          <a:noFill/>
        </p:spPr>
        <p:txBody>
          <a:bodyPr wrap="square" anchor="t" lIns="0" rIns="0" tIns="0" bIns="0">
            <a:spAutoFit/>
          </a:bodyPr>
          <a:lstStyle/>
          <a:p>
            <a:pPr algn="l"/>
            <a:r>
              <a:rPr sz="1300" b="0" i="0">
                <a:solidFill>
                  <a:srgbClr val="4A4E57"/>
                </a:solidFill>
                <a:latin typeface="Arial"/>
              </a:rPr>
              <a:t>Everyday Ingenuity  —  solutions that make daily life easier</a:t>
            </a:r>
          </a:p>
        </p:txBody>
      </p:sp>
      <p:sp>
        <p:nvSpPr>
          <p:cNvPr id="9" name="Diamond 8"/>
          <p:cNvSpPr/>
          <p:nvPr/>
        </p:nvSpPr>
        <p:spPr>
          <a:xfrm>
            <a:off x="713232" y="54772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440680"/>
            <a:ext cx="5577840" cy="457200"/>
          </a:xfrm>
          <a:prstGeom prst="rect">
            <a:avLst/>
          </a:prstGeom>
          <a:noFill/>
        </p:spPr>
        <p:txBody>
          <a:bodyPr wrap="square" anchor="t" lIns="0" rIns="0" tIns="0" bIns="0">
            <a:spAutoFit/>
          </a:bodyPr>
          <a:lstStyle/>
          <a:p>
            <a:pPr algn="l"/>
            <a:r>
              <a:rPr sz="1300" b="0" i="0">
                <a:solidFill>
                  <a:srgbClr val="4A4E57"/>
                </a:solidFill>
                <a:latin typeface="Arial"/>
              </a:rPr>
              <a:t>Human-Centered Intelligence  —  technology that quietly supports</a:t>
            </a:r>
          </a:p>
        </p:txBody>
      </p:sp>
      <p:sp>
        <p:nvSpPr>
          <p:cNvPr id="11" name="Diamond 10"/>
          <p:cNvSpPr/>
          <p:nvPr/>
        </p:nvSpPr>
        <p:spPr>
          <a:xfrm>
            <a:off x="713232" y="5934456"/>
            <a:ext cx="146304" cy="146304"/>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97880"/>
            <a:ext cx="5577840" cy="457200"/>
          </a:xfrm>
          <a:prstGeom prst="rect">
            <a:avLst/>
          </a:prstGeom>
          <a:noFill/>
        </p:spPr>
        <p:txBody>
          <a:bodyPr wrap="square" anchor="t" lIns="0" rIns="0" tIns="0" bIns="0">
            <a:spAutoFit/>
          </a:bodyPr>
          <a:lstStyle/>
          <a:p>
            <a:pPr algn="l"/>
            <a:r>
              <a:rPr sz="1300" b="0" i="0">
                <a:solidFill>
                  <a:srgbClr val="4A4E57"/>
                </a:solidFill>
                <a:latin typeface="Arial"/>
              </a:rPr>
              <a:t>Modern American Design  —  confident, optimistic, unmistakably Chrysler</a:t>
            </a:r>
          </a:p>
        </p:txBody>
      </p:sp>
      <p:sp>
        <p:nvSpPr>
          <p:cNvPr id="13" name="Rectangle 12"/>
          <p:cNvSpPr/>
          <p:nvPr/>
        </p:nvSpPr>
        <p:spPr>
          <a:xfrm>
            <a:off x="6858000" y="2011680"/>
            <a:ext cx="4645152" cy="40233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8580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58000" y="60350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57972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1265408" y="60350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1503152" y="57972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924544" y="354787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037198" y="365028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osceles Triangle 23"/>
          <p:cNvSpPr/>
          <p:nvPr/>
        </p:nvSpPr>
        <p:spPr>
          <a:xfrm>
            <a:off x="9078163" y="377318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4151376"/>
            <a:ext cx="4645152" cy="365760"/>
          </a:xfrm>
          <a:prstGeom prst="rect">
            <a:avLst/>
          </a:prstGeom>
          <a:noFill/>
        </p:spPr>
        <p:txBody>
          <a:bodyPr wrap="square" anchor="t" lIns="0" rIns="0" tIns="0" bIns="0">
            <a:spAutoFit/>
          </a:bodyPr>
          <a:lstStyle/>
          <a:p>
            <a:pPr algn="ctr"/>
            <a:r>
              <a:rPr sz="1050" b="1" i="0" spc="200">
                <a:solidFill>
                  <a:srgbClr val="868B94"/>
                </a:solidFill>
                <a:latin typeface="Arial"/>
              </a:rPr>
              <a:t>SUPPORTING VISUAL</a:t>
            </a:r>
          </a:p>
        </p:txBody>
      </p:sp>
      <p:sp>
        <p:nvSpPr>
          <p:cNvPr id="26" name="TextBox 25"/>
          <p:cNvSpPr txBox="1"/>
          <p:nvPr/>
        </p:nvSpPr>
        <p:spPr>
          <a:xfrm>
            <a:off x="6858000" y="4425696"/>
            <a:ext cx="46451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27" name="TextBox 26"/>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8" name="TextBox 27"/>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03</a:t>
            </a:r>
          </a:p>
        </p:txBody>
      </p:sp>
      <p:sp>
        <p:nvSpPr>
          <p:cNvPr id="29" name="TextBox 28"/>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STRATEGIC FRAMEWORK</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Left Brain / Right Brain</a:t>
            </a:r>
          </a:p>
        </p:txBody>
      </p:sp>
      <p:sp>
        <p:nvSpPr>
          <p:cNvPr id="4" name="TextBox 3"/>
          <p:cNvSpPr txBox="1"/>
          <p:nvPr/>
        </p:nvSpPr>
        <p:spPr>
          <a:xfrm>
            <a:off x="685800" y="1600200"/>
            <a:ext cx="10515600" cy="365760"/>
          </a:xfrm>
          <a:prstGeom prst="rect">
            <a:avLst/>
          </a:prstGeom>
          <a:noFill/>
        </p:spPr>
        <p:txBody>
          <a:bodyPr wrap="square" anchor="t" lIns="0" rIns="0" tIns="0" bIns="0">
            <a:spAutoFit/>
          </a:bodyPr>
          <a:lstStyle/>
          <a:p>
            <a:pPr algn="l"/>
            <a:r>
              <a:rPr sz="1400" b="0" i="0">
                <a:solidFill>
                  <a:srgbClr val="4A4E57"/>
                </a:solidFill>
                <a:latin typeface="Arial"/>
              </a:rPr>
              <a:t>How Chrysler thinks — logic and feeling, held together.</a:t>
            </a:r>
          </a:p>
        </p:txBody>
      </p:sp>
      <p:sp>
        <p:nvSpPr>
          <p:cNvPr id="5" name="Rectangle 4"/>
          <p:cNvSpPr/>
          <p:nvPr/>
        </p:nvSpPr>
        <p:spPr>
          <a:xfrm>
            <a:off x="685800" y="2148840"/>
            <a:ext cx="5330952" cy="37947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779008"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16752"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5779008"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016752"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095244" y="35707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207898" y="36731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3248863" y="37960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174236"/>
            <a:ext cx="5330952" cy="365760"/>
          </a:xfrm>
          <a:prstGeom prst="rect">
            <a:avLst/>
          </a:prstGeom>
          <a:noFill/>
        </p:spPr>
        <p:txBody>
          <a:bodyPr wrap="square" anchor="t" lIns="0" rIns="0" tIns="0" bIns="0">
            <a:spAutoFit/>
          </a:bodyPr>
          <a:lstStyle/>
          <a:p>
            <a:pPr algn="ctr"/>
            <a:r>
              <a:rPr sz="1050" b="1" i="0" spc="200">
                <a:solidFill>
                  <a:srgbClr val="868B94"/>
                </a:solidFill>
                <a:latin typeface="Arial"/>
              </a:rPr>
              <a:t>LEFT BRAIN  ·  ENGINEERED FOR LIFE</a:t>
            </a:r>
          </a:p>
        </p:txBody>
      </p:sp>
      <p:sp>
        <p:nvSpPr>
          <p:cNvPr id="18" name="TextBox 17"/>
          <p:cNvSpPr txBox="1"/>
          <p:nvPr/>
        </p:nvSpPr>
        <p:spPr>
          <a:xfrm>
            <a:off x="685800" y="4448556"/>
            <a:ext cx="5330952" cy="274320"/>
          </a:xfrm>
          <a:prstGeom prst="rect">
            <a:avLst/>
          </a:prstGeom>
          <a:noFill/>
        </p:spPr>
        <p:txBody>
          <a:bodyPr wrap="square" anchor="t" lIns="0" rIns="0" tIns="0" bIns="0">
            <a:spAutoFit/>
          </a:bodyPr>
          <a:lstStyle/>
          <a:p>
            <a:pPr algn="ctr"/>
            <a:r>
              <a:rPr sz="800" b="0" i="0" spc="80">
                <a:solidFill>
                  <a:srgbClr val="C8CCD2"/>
                </a:solidFill>
                <a:latin typeface="Arial"/>
              </a:rPr>
              <a:t>Replace · board imagery</a:t>
            </a:r>
          </a:p>
        </p:txBody>
      </p:sp>
      <p:sp>
        <p:nvSpPr>
          <p:cNvPr id="19" name="Rectangle 18"/>
          <p:cNvSpPr/>
          <p:nvPr/>
        </p:nvSpPr>
        <p:spPr>
          <a:xfrm>
            <a:off x="6172200" y="2148840"/>
            <a:ext cx="5330952" cy="37947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172200"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72200"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1265408" y="21488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503152" y="21488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1722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61722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1265408"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503152"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581644" y="35707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694298" y="36731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osceles Triangle 29"/>
          <p:cNvSpPr/>
          <p:nvPr/>
        </p:nvSpPr>
        <p:spPr>
          <a:xfrm>
            <a:off x="8735263" y="37960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4174236"/>
            <a:ext cx="5330952" cy="365760"/>
          </a:xfrm>
          <a:prstGeom prst="rect">
            <a:avLst/>
          </a:prstGeom>
          <a:noFill/>
        </p:spPr>
        <p:txBody>
          <a:bodyPr wrap="square" anchor="t" lIns="0" rIns="0" tIns="0" bIns="0">
            <a:spAutoFit/>
          </a:bodyPr>
          <a:lstStyle/>
          <a:p>
            <a:pPr algn="ctr"/>
            <a:r>
              <a:rPr sz="1050" b="1" i="0" spc="200">
                <a:solidFill>
                  <a:srgbClr val="868B94"/>
                </a:solidFill>
                <a:latin typeface="Arial"/>
              </a:rPr>
              <a:t>RIGHT BRAIN  ·  DESIGNED FOR PEOPLE</a:t>
            </a:r>
          </a:p>
        </p:txBody>
      </p:sp>
      <p:sp>
        <p:nvSpPr>
          <p:cNvPr id="32" name="TextBox 31"/>
          <p:cNvSpPr txBox="1"/>
          <p:nvPr/>
        </p:nvSpPr>
        <p:spPr>
          <a:xfrm>
            <a:off x="6172200" y="4448556"/>
            <a:ext cx="5330952" cy="274320"/>
          </a:xfrm>
          <a:prstGeom prst="rect">
            <a:avLst/>
          </a:prstGeom>
          <a:noFill/>
        </p:spPr>
        <p:txBody>
          <a:bodyPr wrap="square" anchor="t" lIns="0" rIns="0" tIns="0" bIns="0">
            <a:spAutoFit/>
          </a:bodyPr>
          <a:lstStyle/>
          <a:p>
            <a:pPr algn="ctr"/>
            <a:r>
              <a:rPr sz="800" b="0" i="0" spc="80">
                <a:solidFill>
                  <a:srgbClr val="C8CCD2"/>
                </a:solidFill>
                <a:latin typeface="Arial"/>
              </a:rPr>
              <a:t>Replace · board imagery</a:t>
            </a:r>
          </a:p>
        </p:txBody>
      </p:sp>
      <p:cxnSp>
        <p:nvCxnSpPr>
          <p:cNvPr id="33" name="Connector 32"/>
          <p:cNvCxnSpPr/>
          <p:nvPr/>
        </p:nvCxnSpPr>
        <p:spPr>
          <a:xfrm>
            <a:off x="5650992" y="4023360"/>
            <a:ext cx="868680" cy="0"/>
          </a:xfrm>
          <a:prstGeom prst="bentConnector3">
            <a:avLst/>
          </a:prstGeom>
          <a:ln w="19050">
            <a:solidFill>
              <a:srgbClr val="A9AEB5"/>
            </a:solidFill>
          </a:ln>
        </p:spPr>
        <p:style>
          <a:lnRef idx="2">
            <a:schemeClr val="accent1"/>
          </a:lnRef>
          <a:fillRef idx="0">
            <a:schemeClr val="accent1"/>
          </a:fillRef>
          <a:effectRef idx="1">
            <a:schemeClr val="accent1"/>
          </a:effectRef>
          <a:fontRef idx="minor">
            <a:schemeClr val="tx1"/>
          </a:fontRef>
        </p:style>
      </p:cxnSp>
      <p:sp>
        <p:nvSpPr>
          <p:cNvPr id="34" name="Diamond 33"/>
          <p:cNvSpPr/>
          <p:nvPr/>
        </p:nvSpPr>
        <p:spPr>
          <a:xfrm>
            <a:off x="6021324" y="3959352"/>
            <a:ext cx="128016" cy="128016"/>
          </a:xfrm>
          <a:prstGeom prst="diamond">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36" name="TextBox 35"/>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04</a:t>
            </a:r>
          </a:p>
        </p:txBody>
      </p:sp>
      <p:sp>
        <p:nvSpPr>
          <p:cNvPr id="37" name="TextBox 36"/>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BRAND FOUNDATION</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Chrysler Design DNA</a:t>
            </a:r>
          </a:p>
        </p:txBody>
      </p:sp>
      <p:sp>
        <p:nvSpPr>
          <p:cNvPr id="4" name="Rectangle 3"/>
          <p:cNvSpPr/>
          <p:nvPr/>
        </p:nvSpPr>
        <p:spPr>
          <a:xfrm>
            <a:off x="685800" y="1920240"/>
            <a:ext cx="5760720" cy="40233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9202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9202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208776" y="19202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446520" y="192024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6208776" y="59436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446520" y="570585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10128" y="34564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22782" y="35588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3463747" y="36817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059936"/>
            <a:ext cx="5760720" cy="365760"/>
          </a:xfrm>
          <a:prstGeom prst="rect">
            <a:avLst/>
          </a:prstGeom>
          <a:noFill/>
        </p:spPr>
        <p:txBody>
          <a:bodyPr wrap="square" anchor="t" lIns="0" rIns="0" tIns="0" bIns="0">
            <a:spAutoFit/>
          </a:bodyPr>
          <a:lstStyle/>
          <a:p>
            <a:pPr algn="ctr"/>
            <a:r>
              <a:rPr sz="1050" b="1" i="0" spc="200">
                <a:solidFill>
                  <a:srgbClr val="868B94"/>
                </a:solidFill>
                <a:latin typeface="Arial"/>
              </a:rPr>
              <a:t>LARGE DESIGN-DNA GRAPHIC</a:t>
            </a:r>
          </a:p>
        </p:txBody>
      </p:sp>
      <p:sp>
        <p:nvSpPr>
          <p:cNvPr id="17" name="TextBox 16"/>
          <p:cNvSpPr txBox="1"/>
          <p:nvPr/>
        </p:nvSpPr>
        <p:spPr>
          <a:xfrm>
            <a:off x="685800" y="4334256"/>
            <a:ext cx="5760720"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Rectangle 17"/>
          <p:cNvSpPr/>
          <p:nvPr/>
        </p:nvSpPr>
        <p:spPr>
          <a:xfrm>
            <a:off x="6720840" y="201168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20840" y="201168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60" y="221284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The Four Pillars</a:t>
            </a:r>
          </a:p>
          <a:p>
            <a:pPr algn="l">
              <a:lnSpc>
                <a:spcPct val="120000"/>
              </a:lnSpc>
            </a:pPr>
            <a:r>
              <a:rPr sz="1050" b="0" i="0">
                <a:solidFill>
                  <a:srgbClr val="868B94"/>
                </a:solidFill>
                <a:latin typeface="Arial"/>
              </a:rPr>
              <a:t>People First · Everyday Ingenuity · Human-Centered Intelligence · Modern American Design</a:t>
            </a:r>
          </a:p>
        </p:txBody>
      </p:sp>
      <p:sp>
        <p:nvSpPr>
          <p:cNvPr id="21" name="Rectangle 20"/>
          <p:cNvSpPr/>
          <p:nvPr/>
        </p:nvSpPr>
        <p:spPr>
          <a:xfrm>
            <a:off x="6720840" y="333756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720840" y="333756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353872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Brand Attributes</a:t>
            </a:r>
          </a:p>
          <a:p>
            <a:pPr algn="l">
              <a:lnSpc>
                <a:spcPct val="120000"/>
              </a:lnSpc>
            </a:pPr>
            <a:r>
              <a:rPr sz="1050" b="0" i="0">
                <a:solidFill>
                  <a:srgbClr val="868B94"/>
                </a:solidFill>
                <a:latin typeface="Arial"/>
              </a:rPr>
              <a:t>Confident · Approachable · Effortless · Calm</a:t>
            </a:r>
          </a:p>
        </p:txBody>
      </p:sp>
      <p:sp>
        <p:nvSpPr>
          <p:cNvPr id="24" name="Rectangle 23"/>
          <p:cNvSpPr/>
          <p:nvPr/>
        </p:nvSpPr>
        <p:spPr>
          <a:xfrm>
            <a:off x="6720840" y="4663440"/>
            <a:ext cx="4782312" cy="109728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20840" y="4663440"/>
            <a:ext cx="54864"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864608"/>
            <a:ext cx="4325112" cy="731520"/>
          </a:xfrm>
          <a:prstGeom prst="rect">
            <a:avLst/>
          </a:prstGeom>
          <a:noFill/>
        </p:spPr>
        <p:txBody>
          <a:bodyPr wrap="square" anchor="t" lIns="0" rIns="0" tIns="0" bIns="0">
            <a:spAutoFit/>
          </a:bodyPr>
          <a:lstStyle/>
          <a:p>
            <a:pPr algn="l">
              <a:spcAft>
                <a:spcPts val="400"/>
              </a:spcAft>
            </a:pPr>
            <a:r>
              <a:rPr sz="1300" b="1" i="0">
                <a:solidFill>
                  <a:srgbClr val="1A1A1C"/>
                </a:solidFill>
                <a:latin typeface="Arial"/>
              </a:rPr>
              <a:t>Visual Language</a:t>
            </a:r>
          </a:p>
          <a:p>
            <a:pPr algn="l">
              <a:lnSpc>
                <a:spcPct val="120000"/>
              </a:lnSpc>
            </a:pPr>
            <a:r>
              <a:rPr sz="1050" b="0" i="0">
                <a:solidFill>
                  <a:srgbClr val="868B94"/>
                </a:solidFill>
                <a:latin typeface="Arial"/>
              </a:rPr>
              <a:t>Calm architecture · Warm materials · Human scale</a:t>
            </a:r>
          </a:p>
        </p:txBody>
      </p:sp>
      <p:sp>
        <p:nvSpPr>
          <p:cNvPr id="27" name="TextBox 26"/>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8" name="TextBox 27"/>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05</a:t>
            </a:r>
          </a:p>
        </p:txBody>
      </p:sp>
      <p:sp>
        <p:nvSpPr>
          <p:cNvPr id="29" name="TextBox 28"/>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THE LINEUP</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Future Chrysler Portfolio</a:t>
            </a:r>
          </a:p>
        </p:txBody>
      </p:sp>
      <p:sp>
        <p:nvSpPr>
          <p:cNvPr id="4" name="TextBox 3"/>
          <p:cNvSpPr txBox="1"/>
          <p:nvPr/>
        </p:nvSpPr>
        <p:spPr>
          <a:xfrm>
            <a:off x="685800" y="1572768"/>
            <a:ext cx="10515600" cy="365760"/>
          </a:xfrm>
          <a:prstGeom prst="rect">
            <a:avLst/>
          </a:prstGeom>
          <a:noFill/>
        </p:spPr>
        <p:txBody>
          <a:bodyPr wrap="square" anchor="t" lIns="0" rIns="0" tIns="0" bIns="0">
            <a:spAutoFit/>
          </a:bodyPr>
          <a:lstStyle/>
          <a:p>
            <a:pPr algn="l"/>
            <a:r>
              <a:rPr sz="1400" b="0" i="0">
                <a:solidFill>
                  <a:srgbClr val="4A4E57"/>
                </a:solidFill>
                <a:latin typeface="Arial"/>
              </a:rPr>
              <a:t>One philosophy, serving different lives — and unmistakably Chrysler in every one.</a:t>
            </a:r>
          </a:p>
        </p:txBody>
      </p:sp>
      <p:sp>
        <p:nvSpPr>
          <p:cNvPr id="5" name="Rectangle 4"/>
          <p:cNvSpPr/>
          <p:nvPr/>
        </p:nvSpPr>
        <p:spPr>
          <a:xfrm>
            <a:off x="685800"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392070"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29814"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392070"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629814"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401775"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14429"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1555394"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1</a:t>
            </a:r>
          </a:p>
        </p:txBody>
      </p:sp>
      <p:sp>
        <p:nvSpPr>
          <p:cNvPr id="18" name="TextBox 17"/>
          <p:cNvSpPr txBox="1"/>
          <p:nvPr/>
        </p:nvSpPr>
        <p:spPr>
          <a:xfrm>
            <a:off x="685800"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19" name="TextBox 18"/>
          <p:cNvSpPr txBox="1"/>
          <p:nvPr/>
        </p:nvSpPr>
        <p:spPr>
          <a:xfrm>
            <a:off x="685800"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Future Pacifica</a:t>
            </a:r>
          </a:p>
        </p:txBody>
      </p:sp>
      <p:sp>
        <p:nvSpPr>
          <p:cNvPr id="20" name="Rectangle 19"/>
          <p:cNvSpPr/>
          <p:nvPr/>
        </p:nvSpPr>
        <p:spPr>
          <a:xfrm>
            <a:off x="2904134"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2904134"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04134"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610404"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848148"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4134"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904134"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4610404"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848148"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620109"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32763"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sosceles Triangle 30"/>
          <p:cNvSpPr/>
          <p:nvPr/>
        </p:nvSpPr>
        <p:spPr>
          <a:xfrm>
            <a:off x="3773728"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4134"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2</a:t>
            </a:r>
          </a:p>
        </p:txBody>
      </p:sp>
      <p:sp>
        <p:nvSpPr>
          <p:cNvPr id="33" name="TextBox 32"/>
          <p:cNvSpPr txBox="1"/>
          <p:nvPr/>
        </p:nvSpPr>
        <p:spPr>
          <a:xfrm>
            <a:off x="2904134"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34" name="TextBox 33"/>
          <p:cNvSpPr txBox="1"/>
          <p:nvPr/>
        </p:nvSpPr>
        <p:spPr>
          <a:xfrm>
            <a:off x="2904134"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Airflow</a:t>
            </a:r>
          </a:p>
        </p:txBody>
      </p:sp>
      <p:sp>
        <p:nvSpPr>
          <p:cNvPr id="35" name="Rectangle 34"/>
          <p:cNvSpPr/>
          <p:nvPr/>
        </p:nvSpPr>
        <p:spPr>
          <a:xfrm>
            <a:off x="5122468"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122468"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122468"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828738"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066482"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122468"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122468"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6828738"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066482"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838443"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1097"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Isosceles Triangle 45"/>
          <p:cNvSpPr/>
          <p:nvPr/>
        </p:nvSpPr>
        <p:spPr>
          <a:xfrm>
            <a:off x="5992062"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22468"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3</a:t>
            </a:r>
          </a:p>
        </p:txBody>
      </p:sp>
      <p:sp>
        <p:nvSpPr>
          <p:cNvPr id="48" name="TextBox 47"/>
          <p:cNvSpPr txBox="1"/>
          <p:nvPr/>
        </p:nvSpPr>
        <p:spPr>
          <a:xfrm>
            <a:off x="5122468"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49" name="TextBox 48"/>
          <p:cNvSpPr txBox="1"/>
          <p:nvPr/>
        </p:nvSpPr>
        <p:spPr>
          <a:xfrm>
            <a:off x="5122468"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Arrow</a:t>
            </a:r>
          </a:p>
        </p:txBody>
      </p:sp>
      <p:sp>
        <p:nvSpPr>
          <p:cNvPr id="50" name="Rectangle 49"/>
          <p:cNvSpPr/>
          <p:nvPr/>
        </p:nvSpPr>
        <p:spPr>
          <a:xfrm>
            <a:off x="7340802"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340802"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340802"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047072"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284816"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340802"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7340802"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047072"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9284816"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8056777"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69431"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sosceles Triangle 60"/>
          <p:cNvSpPr/>
          <p:nvPr/>
        </p:nvSpPr>
        <p:spPr>
          <a:xfrm>
            <a:off x="8210396"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40802"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4</a:t>
            </a:r>
          </a:p>
        </p:txBody>
      </p:sp>
      <p:sp>
        <p:nvSpPr>
          <p:cNvPr id="63" name="TextBox 62"/>
          <p:cNvSpPr txBox="1"/>
          <p:nvPr/>
        </p:nvSpPr>
        <p:spPr>
          <a:xfrm>
            <a:off x="7340802"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64" name="TextBox 63"/>
          <p:cNvSpPr txBox="1"/>
          <p:nvPr/>
        </p:nvSpPr>
        <p:spPr>
          <a:xfrm>
            <a:off x="7340802"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Arrow Cross</a:t>
            </a:r>
          </a:p>
        </p:txBody>
      </p:sp>
      <p:sp>
        <p:nvSpPr>
          <p:cNvPr id="65" name="Rectangle 64"/>
          <p:cNvSpPr/>
          <p:nvPr/>
        </p:nvSpPr>
        <p:spPr>
          <a:xfrm>
            <a:off x="9559136" y="2103120"/>
            <a:ext cx="1944014" cy="301752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9559136"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559136"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265406" y="21031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503150" y="21031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559136"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559136"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1265406" y="512064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1503150" y="488289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74" name="Rounded Rectangle 73"/>
          <p:cNvSpPr/>
          <p:nvPr/>
        </p:nvSpPr>
        <p:spPr>
          <a:xfrm>
            <a:off x="10275111" y="313639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0387765" y="323880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sosceles Triangle 75"/>
          <p:cNvSpPr/>
          <p:nvPr/>
        </p:nvSpPr>
        <p:spPr>
          <a:xfrm>
            <a:off x="10428730" y="336170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559136" y="3739896"/>
            <a:ext cx="1944014" cy="365760"/>
          </a:xfrm>
          <a:prstGeom prst="rect">
            <a:avLst/>
          </a:prstGeom>
          <a:noFill/>
        </p:spPr>
        <p:txBody>
          <a:bodyPr wrap="square" anchor="t" lIns="0" rIns="0" tIns="0" bIns="0">
            <a:spAutoFit/>
          </a:bodyPr>
          <a:lstStyle/>
          <a:p>
            <a:pPr algn="ctr"/>
            <a:r>
              <a:rPr sz="1050" b="1" i="0" spc="200">
                <a:solidFill>
                  <a:srgbClr val="868B94"/>
                </a:solidFill>
                <a:latin typeface="Arial"/>
              </a:rPr>
              <a:t>VEHICLE 5</a:t>
            </a:r>
          </a:p>
        </p:txBody>
      </p:sp>
      <p:sp>
        <p:nvSpPr>
          <p:cNvPr id="78" name="TextBox 77"/>
          <p:cNvSpPr txBox="1"/>
          <p:nvPr/>
        </p:nvSpPr>
        <p:spPr>
          <a:xfrm>
            <a:off x="9559136" y="4014216"/>
            <a:ext cx="1944014" cy="274320"/>
          </a:xfrm>
          <a:prstGeom prst="rect">
            <a:avLst/>
          </a:prstGeom>
          <a:noFill/>
        </p:spPr>
        <p:txBody>
          <a:bodyPr wrap="square" anchor="t" lIns="0" rIns="0" tIns="0" bIns="0">
            <a:spAutoFit/>
          </a:bodyPr>
          <a:lstStyle/>
          <a:p>
            <a:pPr algn="ctr"/>
            <a:r>
              <a:rPr sz="800" b="0" i="0" spc="80">
                <a:solidFill>
                  <a:srgbClr val="C8CCD2"/>
                </a:solidFill>
                <a:latin typeface="Arial"/>
              </a:rPr>
              <a:t>Replace</a:t>
            </a:r>
          </a:p>
        </p:txBody>
      </p:sp>
      <p:sp>
        <p:nvSpPr>
          <p:cNvPr id="79" name="TextBox 78"/>
          <p:cNvSpPr txBox="1"/>
          <p:nvPr/>
        </p:nvSpPr>
        <p:spPr>
          <a:xfrm>
            <a:off x="9559136" y="5257800"/>
            <a:ext cx="1944014" cy="365760"/>
          </a:xfrm>
          <a:prstGeom prst="rect">
            <a:avLst/>
          </a:prstGeom>
          <a:noFill/>
        </p:spPr>
        <p:txBody>
          <a:bodyPr wrap="square" anchor="t" lIns="0" rIns="0" tIns="0" bIns="0">
            <a:spAutoFit/>
          </a:bodyPr>
          <a:lstStyle/>
          <a:p>
            <a:pPr algn="ctr"/>
            <a:r>
              <a:rPr sz="1200" b="1" i="0">
                <a:solidFill>
                  <a:srgbClr val="1A1A1C"/>
                </a:solidFill>
                <a:latin typeface="Arial"/>
              </a:rPr>
              <a:t>300 Concept</a:t>
            </a:r>
          </a:p>
        </p:txBody>
      </p:sp>
      <p:sp>
        <p:nvSpPr>
          <p:cNvPr id="80" name="TextBox 79"/>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81" name="TextBox 80"/>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06</a:t>
            </a:r>
          </a:p>
        </p:txBody>
      </p:sp>
      <p:sp>
        <p:nvSpPr>
          <p:cNvPr id="82" name="TextBox 81"/>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PEOPLE FIRST</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Pacifica</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Pacifica is the proof that Chrysler has always designed around people.</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Family Mobility</a:t>
            </a:r>
          </a:p>
          <a:p>
            <a:pPr algn="l">
              <a:lnSpc>
                <a:spcPct val="110000"/>
              </a:lnSpc>
            </a:pPr>
            <a:r>
              <a:rPr sz="1000" b="0" i="0">
                <a:solidFill>
                  <a:srgbClr val="868B94"/>
                </a:solidFill>
                <a:latin typeface="Arial"/>
              </a:rPr>
              <a:t>Built around the people who live in it.</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Flexible Living</a:t>
            </a:r>
          </a:p>
          <a:p>
            <a:pPr algn="l">
              <a:lnSpc>
                <a:spcPct val="110000"/>
              </a:lnSpc>
            </a:pPr>
            <a:r>
              <a:rPr sz="1000" b="0" i="0">
                <a:solidFill>
                  <a:srgbClr val="868B94"/>
                </a:solidFill>
                <a:latin typeface="Arial"/>
              </a:rPr>
              <a:t>Space that adapts to every journey.</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Thoughtful Innovation</a:t>
            </a:r>
          </a:p>
          <a:p>
            <a:pPr algn="l">
              <a:lnSpc>
                <a:spcPct val="110000"/>
              </a:lnSpc>
            </a:pPr>
            <a:r>
              <a:rPr sz="1000" b="0" i="0">
                <a:solidFill>
                  <a:srgbClr val="868B94"/>
                </a:solidFill>
                <a:latin typeface="Arial"/>
              </a:rPr>
              <a:t>Technology designed around people.</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07</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PEOPLE FIRST</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Pacifica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A family sanctuary — comfort, space, and calm, designed around people.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08</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MODERN AMERICAN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300 Concept</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The flagship expression of Chrysler design — presence through confidence and craftsmanship, never excess.</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Commanding Presence</a:t>
            </a:r>
          </a:p>
          <a:p>
            <a:pPr algn="l">
              <a:lnSpc>
                <a:spcPct val="110000"/>
              </a:lnSpc>
            </a:pPr>
            <a:r>
              <a:rPr sz="1000" b="0" i="0">
                <a:solidFill>
                  <a:srgbClr val="868B94"/>
                </a:solidFill>
                <a:latin typeface="Arial"/>
              </a:rPr>
              <a:t>Architectural proportion, calm and assured.</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Crafted Composure</a:t>
            </a:r>
          </a:p>
          <a:p>
            <a:pPr algn="l">
              <a:lnSpc>
                <a:spcPct val="110000"/>
              </a:lnSpc>
            </a:pPr>
            <a:r>
              <a:rPr sz="1000" b="0" i="0">
                <a:solidFill>
                  <a:srgbClr val="868B94"/>
                </a:solidFill>
                <a:latin typeface="Arial"/>
              </a:rPr>
              <a:t>Confidence expressed through restraint.</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Authentically American</a:t>
            </a:r>
          </a:p>
          <a:p>
            <a:pPr algn="l">
              <a:lnSpc>
                <a:spcPct val="110000"/>
              </a:lnSpc>
            </a:pPr>
            <a:r>
              <a:rPr sz="1000" b="0" i="0">
                <a:solidFill>
                  <a:srgbClr val="868B94"/>
                </a:solidFill>
                <a:latin typeface="Arial"/>
              </a:rPr>
              <a:t>Timeless design, unmistakably Chrysler.</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09</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MODERN AMERICAN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300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Crafted, composed, human in scale — presence without excess.</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10</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EVERYDAY INGENUITY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Airflow</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Chrysler's design manifesto — intelligent design that simplifies everyday life rather than complicating it.</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Everyday Ingenuity</a:t>
            </a:r>
          </a:p>
          <a:p>
            <a:pPr algn="l">
              <a:lnSpc>
                <a:spcPct val="110000"/>
              </a:lnSpc>
            </a:pPr>
            <a:r>
              <a:rPr sz="1000" b="0" i="0">
                <a:solidFill>
                  <a:srgbClr val="868B94"/>
                </a:solidFill>
                <a:latin typeface="Arial"/>
              </a:rPr>
              <a:t>Thoughtful solutions for daily life.</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Intelligence That Recedes</a:t>
            </a:r>
          </a:p>
          <a:p>
            <a:pPr algn="l">
              <a:lnSpc>
                <a:spcPct val="110000"/>
              </a:lnSpc>
            </a:pPr>
            <a:r>
              <a:rPr sz="1000" b="0" i="0">
                <a:solidFill>
                  <a:srgbClr val="868B94"/>
                </a:solidFill>
                <a:latin typeface="Arial"/>
              </a:rPr>
              <a:t>Technology that quietly supports.</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Confident Simplicity</a:t>
            </a:r>
          </a:p>
          <a:p>
            <a:pPr algn="l">
              <a:lnSpc>
                <a:spcPct val="110000"/>
              </a:lnSpc>
            </a:pPr>
            <a:r>
              <a:rPr sz="1000" b="0" i="0">
                <a:solidFill>
                  <a:srgbClr val="868B94"/>
                </a:solidFill>
                <a:latin typeface="Arial"/>
              </a:rPr>
              <a:t>Clean, modern, human-centered form.</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11</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EVERYDAY INGENUITY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Airflow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Designed around people — calm, intelligent, effortlessly useful.</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12</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ACCESSIBLE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Thoughtful Chrysler design, made attainable — approachable, smart, and easy to live with.</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Approachable Design</a:t>
            </a:r>
          </a:p>
          <a:p>
            <a:pPr algn="l">
              <a:lnSpc>
                <a:spcPct val="110000"/>
              </a:lnSpc>
            </a:pPr>
            <a:r>
              <a:rPr sz="1000" b="0" i="0">
                <a:solidFill>
                  <a:srgbClr val="868B94"/>
                </a:solidFill>
                <a:latin typeface="Arial"/>
              </a:rPr>
              <a:t>An inviting introduction to Chrysler.</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Smart Packaging</a:t>
            </a:r>
          </a:p>
          <a:p>
            <a:pPr algn="l">
              <a:lnSpc>
                <a:spcPct val="110000"/>
              </a:lnSpc>
            </a:pPr>
            <a:r>
              <a:rPr sz="1000" b="0" i="0">
                <a:solidFill>
                  <a:srgbClr val="868B94"/>
                </a:solidFill>
                <a:latin typeface="Arial"/>
              </a:rPr>
              <a:t>Everyday usability, thoughtfully resolved.</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Attainable by Design</a:t>
            </a:r>
          </a:p>
          <a:p>
            <a:pPr algn="l">
              <a:lnSpc>
                <a:spcPct val="110000"/>
              </a:lnSpc>
            </a:pPr>
            <a:r>
              <a:rPr sz="1000" b="0" i="0">
                <a:solidFill>
                  <a:srgbClr val="868B94"/>
                </a:solidFill>
                <a:latin typeface="Arial"/>
              </a:rPr>
              <a:t>Accessible without compromise.</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13</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ACCESSIBLE DESIGN</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Approachable and intuitive — thoughtful design, made attainable.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14</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PURPOSEFUL VERSATILITY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Cross</a:t>
            </a:r>
          </a:p>
        </p:txBody>
      </p:sp>
      <p:sp>
        <p:nvSpPr>
          <p:cNvPr id="4" name="TextBox 3"/>
          <p:cNvSpPr txBox="1"/>
          <p:nvPr/>
        </p:nvSpPr>
        <p:spPr>
          <a:xfrm>
            <a:off x="685800" y="1481328"/>
            <a:ext cx="10817352" cy="41148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Thoughtful design that adapts to modern family life — flexible, confident, and quietly intelligent.</a:t>
            </a:r>
          </a:p>
        </p:txBody>
      </p:sp>
      <p:sp>
        <p:nvSpPr>
          <p:cNvPr id="5" name="Rectangle 4"/>
          <p:cNvSpPr/>
          <p:nvPr/>
        </p:nvSpPr>
        <p:spPr>
          <a:xfrm>
            <a:off x="685800" y="2011680"/>
            <a:ext cx="10817352" cy="33832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85800"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5800"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1265408" y="2011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503152" y="201168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5800"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1265408" y="539496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503152" y="515721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838444" y="322783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951098" y="333024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5992063" y="345314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3133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EXTERIOR IMAGE</a:t>
            </a:r>
          </a:p>
        </p:txBody>
      </p:sp>
      <p:sp>
        <p:nvSpPr>
          <p:cNvPr id="18" name="TextBox 17"/>
          <p:cNvSpPr txBox="1"/>
          <p:nvPr/>
        </p:nvSpPr>
        <p:spPr>
          <a:xfrm>
            <a:off x="685800" y="410565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9" name="Oval 18"/>
          <p:cNvSpPr/>
          <p:nvPr/>
        </p:nvSpPr>
        <p:spPr>
          <a:xfrm>
            <a:off x="685800"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Purposeful Versatility</a:t>
            </a:r>
          </a:p>
          <a:p>
            <a:pPr algn="l">
              <a:lnSpc>
                <a:spcPct val="110000"/>
              </a:lnSpc>
            </a:pPr>
            <a:r>
              <a:rPr sz="1000" b="0" i="0">
                <a:solidFill>
                  <a:srgbClr val="868B94"/>
                </a:solidFill>
                <a:latin typeface="Arial"/>
              </a:rPr>
              <a:t>Flexibility for how families really live.</a:t>
            </a:r>
          </a:p>
        </p:txBody>
      </p:sp>
      <p:sp>
        <p:nvSpPr>
          <p:cNvPr id="22" name="Oval 21"/>
          <p:cNvSpPr/>
          <p:nvPr/>
        </p:nvSpPr>
        <p:spPr>
          <a:xfrm>
            <a:off x="4413504"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3232"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2144"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Practical Intelligence</a:t>
            </a:r>
          </a:p>
          <a:p>
            <a:pPr algn="l">
              <a:lnSpc>
                <a:spcPct val="110000"/>
              </a:lnSpc>
            </a:pPr>
            <a:r>
              <a:rPr sz="1000" b="0" i="0">
                <a:solidFill>
                  <a:srgbClr val="868B94"/>
                </a:solidFill>
                <a:latin typeface="Arial"/>
              </a:rPr>
              <a:t>Smart packaging, calmly resolved.</a:t>
            </a:r>
          </a:p>
        </p:txBody>
      </p:sp>
      <p:sp>
        <p:nvSpPr>
          <p:cNvPr id="25" name="Oval 24"/>
          <p:cNvSpPr/>
          <p:nvPr/>
        </p:nvSpPr>
        <p:spPr>
          <a:xfrm>
            <a:off x="8141208" y="5532120"/>
            <a:ext cx="384048" cy="384048"/>
          </a:xfrm>
          <a:prstGeom prst="ellipse">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50936" y="5641848"/>
            <a:ext cx="164592" cy="16459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9848" y="5486400"/>
            <a:ext cx="2813304" cy="777240"/>
          </a:xfrm>
          <a:prstGeom prst="rect">
            <a:avLst/>
          </a:prstGeom>
          <a:noFill/>
        </p:spPr>
        <p:txBody>
          <a:bodyPr wrap="square" anchor="t" lIns="0" rIns="0" tIns="0" bIns="0">
            <a:spAutoFit/>
          </a:bodyPr>
          <a:lstStyle/>
          <a:p>
            <a:pPr algn="l">
              <a:spcAft>
                <a:spcPts val="100"/>
              </a:spcAft>
            </a:pPr>
            <a:r>
              <a:rPr sz="1250" b="1" i="0">
                <a:solidFill>
                  <a:srgbClr val="1A1A1C"/>
                </a:solidFill>
                <a:latin typeface="Arial"/>
              </a:rPr>
              <a:t>Confident &amp; Capable</a:t>
            </a:r>
          </a:p>
          <a:p>
            <a:pPr algn="l">
              <a:lnSpc>
                <a:spcPct val="110000"/>
              </a:lnSpc>
            </a:pPr>
            <a:r>
              <a:rPr sz="1000" b="0" i="0">
                <a:solidFill>
                  <a:srgbClr val="868B94"/>
                </a:solidFill>
                <a:latin typeface="Arial"/>
              </a:rPr>
              <a:t>Modern, accessible, ready for the everyday.</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15</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PURPOSEFUL VERSATILITY</a:t>
            </a:r>
          </a:p>
        </p:txBody>
      </p:sp>
      <p:sp>
        <p:nvSpPr>
          <p:cNvPr id="3" name="TextBox 2"/>
          <p:cNvSpPr txBox="1"/>
          <p:nvPr/>
        </p:nvSpPr>
        <p:spPr>
          <a:xfrm>
            <a:off x="658368" y="868680"/>
            <a:ext cx="10058400" cy="640080"/>
          </a:xfrm>
          <a:prstGeom prst="rect">
            <a:avLst/>
          </a:prstGeom>
          <a:noFill/>
        </p:spPr>
        <p:txBody>
          <a:bodyPr wrap="square" anchor="t" lIns="0" rIns="0" tIns="0" bIns="0">
            <a:spAutoFit/>
          </a:bodyPr>
          <a:lstStyle/>
          <a:p>
            <a:pPr algn="l"/>
            <a:r>
              <a:rPr sz="2600" b="1" i="0">
                <a:solidFill>
                  <a:srgbClr val="1A1A1C"/>
                </a:solidFill>
                <a:latin typeface="Arial"/>
              </a:rPr>
              <a:t>Arrow Cross Interior</a:t>
            </a:r>
          </a:p>
        </p:txBody>
      </p:sp>
      <p:sp>
        <p:nvSpPr>
          <p:cNvPr id="4" name="Rectangle 3"/>
          <p:cNvSpPr/>
          <p:nvPr/>
        </p:nvSpPr>
        <p:spPr>
          <a:xfrm>
            <a:off x="685800" y="1645920"/>
            <a:ext cx="10817352" cy="425196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6459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64592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58978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56601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329641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339882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352172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89991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INTERIOR RENDERING</a:t>
            </a:r>
          </a:p>
        </p:txBody>
      </p:sp>
      <p:sp>
        <p:nvSpPr>
          <p:cNvPr id="17" name="TextBox 16"/>
          <p:cNvSpPr txBox="1"/>
          <p:nvPr/>
        </p:nvSpPr>
        <p:spPr>
          <a:xfrm>
            <a:off x="685800" y="417423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16:9 · 300dpi</a:t>
            </a:r>
          </a:p>
        </p:txBody>
      </p:sp>
      <p:sp>
        <p:nvSpPr>
          <p:cNvPr id="18" name="TextBox 17"/>
          <p:cNvSpPr txBox="1"/>
          <p:nvPr/>
        </p:nvSpPr>
        <p:spPr>
          <a:xfrm>
            <a:off x="685800" y="5989320"/>
            <a:ext cx="10058400" cy="365760"/>
          </a:xfrm>
          <a:prstGeom prst="rect">
            <a:avLst/>
          </a:prstGeom>
          <a:noFill/>
        </p:spPr>
        <p:txBody>
          <a:bodyPr wrap="square" anchor="t" lIns="0" rIns="0" tIns="0" bIns="0">
            <a:spAutoFit/>
          </a:bodyPr>
          <a:lstStyle/>
          <a:p>
            <a:pPr algn="l"/>
            <a:r>
              <a:rPr sz="1200" b="0" i="0" spc="50">
                <a:solidFill>
                  <a:srgbClr val="868B94"/>
                </a:solidFill>
                <a:latin typeface="Arial"/>
              </a:rPr>
              <a:t>Flexible and family-ready — design that adapts to everyday life.</a:t>
            </a:r>
          </a:p>
        </p:txBody>
      </p:sp>
      <p:sp>
        <p:nvSpPr>
          <p:cNvPr id="19" name="TextBox 18"/>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0" name="TextBox 19"/>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16</a:t>
            </a:r>
          </a:p>
        </p:txBody>
      </p:sp>
      <p:sp>
        <p:nvSpPr>
          <p:cNvPr id="21" name="TextBox 20"/>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PORTFOLIO POSITIONING</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600" b="1" i="0">
                <a:solidFill>
                  <a:srgbClr val="1A1A1C"/>
                </a:solidFill>
                <a:latin typeface="Arial"/>
              </a:rPr>
              <a:t>How Chrysler Fits Within Stellantis</a:t>
            </a:r>
          </a:p>
        </p:txBody>
      </p:sp>
      <p:sp>
        <p:nvSpPr>
          <p:cNvPr id="4" name="TextBox 3"/>
          <p:cNvSpPr txBox="1"/>
          <p:nvPr/>
        </p:nvSpPr>
        <p:spPr>
          <a:xfrm>
            <a:off x="685800" y="1572768"/>
            <a:ext cx="10515600" cy="365760"/>
          </a:xfrm>
          <a:prstGeom prst="rect">
            <a:avLst/>
          </a:prstGeom>
          <a:noFill/>
        </p:spPr>
        <p:txBody>
          <a:bodyPr wrap="square" anchor="t" lIns="0" rIns="0" tIns="0" bIns="0">
            <a:spAutoFit/>
          </a:bodyPr>
          <a:lstStyle/>
          <a:p>
            <a:pPr algn="l"/>
            <a:r>
              <a:rPr sz="1300" b="0" i="0">
                <a:solidFill>
                  <a:srgbClr val="4A4E57"/>
                </a:solidFill>
                <a:latin typeface="Arial"/>
              </a:rPr>
              <a:t>Differentiation, not overlap — Chrysler owns the practical, forward-thinking space its siblings leave open.</a:t>
            </a:r>
          </a:p>
        </p:txBody>
      </p:sp>
      <p:cxnSp>
        <p:nvCxnSpPr>
          <p:cNvPr id="5" name="Connector 4"/>
          <p:cNvCxnSpPr/>
          <p:nvPr/>
        </p:nvCxnSpPr>
        <p:spPr>
          <a:xfrm>
            <a:off x="868680" y="4091940"/>
            <a:ext cx="5577840"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2331720"/>
            <a:ext cx="0" cy="352044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68680" y="3799332"/>
            <a:ext cx="1280160" cy="274320"/>
          </a:xfrm>
          <a:prstGeom prst="rect">
            <a:avLst/>
          </a:prstGeom>
          <a:noFill/>
        </p:spPr>
        <p:txBody>
          <a:bodyPr wrap="square" anchor="t" lIns="0" rIns="0" tIns="0" bIns="0">
            <a:spAutoFit/>
          </a:bodyPr>
          <a:lstStyle/>
          <a:p>
            <a:pPr algn="l"/>
            <a:r>
              <a:rPr sz="900" b="1" i="0" spc="150">
                <a:solidFill>
                  <a:srgbClr val="868B94"/>
                </a:solidFill>
                <a:latin typeface="Arial"/>
              </a:rPr>
              <a:t>PRACTICAL</a:t>
            </a:r>
          </a:p>
        </p:txBody>
      </p:sp>
      <p:sp>
        <p:nvSpPr>
          <p:cNvPr id="8" name="TextBox 7"/>
          <p:cNvSpPr txBox="1"/>
          <p:nvPr/>
        </p:nvSpPr>
        <p:spPr>
          <a:xfrm>
            <a:off x="5166360" y="3799332"/>
            <a:ext cx="1280160" cy="274320"/>
          </a:xfrm>
          <a:prstGeom prst="rect">
            <a:avLst/>
          </a:prstGeom>
          <a:noFill/>
        </p:spPr>
        <p:txBody>
          <a:bodyPr wrap="square" anchor="t" lIns="0" rIns="0" tIns="0" bIns="0">
            <a:spAutoFit/>
          </a:bodyPr>
          <a:lstStyle/>
          <a:p>
            <a:pPr algn="r"/>
            <a:r>
              <a:rPr sz="900" b="1" i="0" spc="150">
                <a:solidFill>
                  <a:srgbClr val="868B94"/>
                </a:solidFill>
                <a:latin typeface="Arial"/>
              </a:rPr>
              <a:t>EMOTIONAL</a:t>
            </a:r>
          </a:p>
        </p:txBody>
      </p:sp>
      <p:sp>
        <p:nvSpPr>
          <p:cNvPr id="9" name="TextBox 8"/>
          <p:cNvSpPr txBox="1"/>
          <p:nvPr/>
        </p:nvSpPr>
        <p:spPr>
          <a:xfrm>
            <a:off x="2468880" y="2057400"/>
            <a:ext cx="2377440" cy="274320"/>
          </a:xfrm>
          <a:prstGeom prst="rect">
            <a:avLst/>
          </a:prstGeom>
          <a:noFill/>
        </p:spPr>
        <p:txBody>
          <a:bodyPr wrap="square" anchor="t" lIns="0" rIns="0" tIns="0" bIns="0">
            <a:spAutoFit/>
          </a:bodyPr>
          <a:lstStyle/>
          <a:p>
            <a:pPr algn="ctr"/>
            <a:r>
              <a:rPr sz="900" b="1" i="0" spc="150">
                <a:solidFill>
                  <a:srgbClr val="868B94"/>
                </a:solidFill>
                <a:latin typeface="Arial"/>
              </a:rPr>
              <a:t>FORWARD-THINKING</a:t>
            </a:r>
          </a:p>
        </p:txBody>
      </p:sp>
      <p:sp>
        <p:nvSpPr>
          <p:cNvPr id="10" name="TextBox 9"/>
          <p:cNvSpPr txBox="1"/>
          <p:nvPr/>
        </p:nvSpPr>
        <p:spPr>
          <a:xfrm>
            <a:off x="2468880" y="5888736"/>
            <a:ext cx="2377440" cy="274320"/>
          </a:xfrm>
          <a:prstGeom prst="rect">
            <a:avLst/>
          </a:prstGeom>
          <a:noFill/>
        </p:spPr>
        <p:txBody>
          <a:bodyPr wrap="square" anchor="t" lIns="0" rIns="0" tIns="0" bIns="0">
            <a:spAutoFit/>
          </a:bodyPr>
          <a:lstStyle/>
          <a:p>
            <a:pPr algn="ctr"/>
            <a:r>
              <a:rPr sz="900" b="1" i="0" spc="150">
                <a:solidFill>
                  <a:srgbClr val="868B94"/>
                </a:solidFill>
                <a:latin typeface="Arial"/>
              </a:rPr>
              <a:t>CONVENTIONAL</a:t>
            </a:r>
          </a:p>
        </p:txBody>
      </p:sp>
      <p:sp>
        <p:nvSpPr>
          <p:cNvPr id="11" name="Oval 10"/>
          <p:cNvSpPr/>
          <p:nvPr/>
        </p:nvSpPr>
        <p:spPr>
          <a:xfrm>
            <a:off x="1681581" y="2721254"/>
            <a:ext cx="1051560" cy="105156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81581" y="2721254"/>
            <a:ext cx="1051560" cy="1051560"/>
          </a:xfrm>
          <a:prstGeom prst="rect">
            <a:avLst/>
          </a:prstGeom>
          <a:noFill/>
        </p:spPr>
        <p:txBody>
          <a:bodyPr wrap="square" anchor="ctr" lIns="0" rIns="0" tIns="0" bIns="0">
            <a:spAutoFit/>
          </a:bodyPr>
          <a:lstStyle/>
          <a:p>
            <a:pPr algn="ctr"/>
            <a:r>
              <a:rPr sz="1050" b="1" i="0" spc="100">
                <a:solidFill>
                  <a:srgbClr val="FFFFFF"/>
                </a:solidFill>
                <a:latin typeface="Arial"/>
              </a:rPr>
              <a:t>CHRYSLER</a:t>
            </a:r>
          </a:p>
        </p:txBody>
      </p:sp>
      <p:sp>
        <p:nvSpPr>
          <p:cNvPr id="13" name="Oval 12"/>
          <p:cNvSpPr/>
          <p:nvPr/>
        </p:nvSpPr>
        <p:spPr>
          <a:xfrm>
            <a:off x="4473244" y="3117189"/>
            <a:ext cx="822960" cy="822960"/>
          </a:xfrm>
          <a:prstGeom prst="ellipse">
            <a:avLst/>
          </a:prstGeom>
          <a:solidFill>
            <a:srgbClr val="C4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3244" y="3117189"/>
            <a:ext cx="822960" cy="822960"/>
          </a:xfrm>
          <a:prstGeom prst="rect">
            <a:avLst/>
          </a:prstGeom>
          <a:noFill/>
        </p:spPr>
        <p:txBody>
          <a:bodyPr wrap="square" anchor="ctr" lIns="0" rIns="0" tIns="0" bIns="0">
            <a:spAutoFit/>
          </a:bodyPr>
          <a:lstStyle/>
          <a:p>
            <a:pPr algn="ctr"/>
            <a:r>
              <a:rPr sz="950" b="1" i="0" spc="100">
                <a:solidFill>
                  <a:srgbClr val="FFFFFF"/>
                </a:solidFill>
                <a:latin typeface="Arial"/>
              </a:rPr>
              <a:t>DODGE</a:t>
            </a:r>
          </a:p>
        </p:txBody>
      </p:sp>
      <p:sp>
        <p:nvSpPr>
          <p:cNvPr id="15" name="Oval 14"/>
          <p:cNvSpPr/>
          <p:nvPr/>
        </p:nvSpPr>
        <p:spPr>
          <a:xfrm>
            <a:off x="5086807" y="3856482"/>
            <a:ext cx="822960" cy="822960"/>
          </a:xfrm>
          <a:prstGeom prst="ellipse">
            <a:avLst/>
          </a:prstGeom>
          <a:solidFill>
            <a:srgbClr val="3E4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86807" y="3856482"/>
            <a:ext cx="822960" cy="822960"/>
          </a:xfrm>
          <a:prstGeom prst="rect">
            <a:avLst/>
          </a:prstGeom>
          <a:noFill/>
        </p:spPr>
        <p:txBody>
          <a:bodyPr wrap="square" anchor="ctr" lIns="0" rIns="0" tIns="0" bIns="0">
            <a:spAutoFit/>
          </a:bodyPr>
          <a:lstStyle/>
          <a:p>
            <a:pPr algn="ctr"/>
            <a:r>
              <a:rPr sz="950" b="1" i="0" spc="100">
                <a:solidFill>
                  <a:srgbClr val="FFFFFF"/>
                </a:solidFill>
                <a:latin typeface="Arial"/>
              </a:rPr>
              <a:t>JEEP</a:t>
            </a:r>
          </a:p>
        </p:txBody>
      </p:sp>
      <p:sp>
        <p:nvSpPr>
          <p:cNvPr id="17" name="Oval 16"/>
          <p:cNvSpPr/>
          <p:nvPr/>
        </p:nvSpPr>
        <p:spPr>
          <a:xfrm>
            <a:off x="4361688" y="4701387"/>
            <a:ext cx="822960" cy="822960"/>
          </a:xfrm>
          <a:prstGeom prst="ellipse">
            <a:avLst/>
          </a:prstGeom>
          <a:solidFill>
            <a:srgbClr val="6E74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61688" y="4701387"/>
            <a:ext cx="822960" cy="822960"/>
          </a:xfrm>
          <a:prstGeom prst="rect">
            <a:avLst/>
          </a:prstGeom>
          <a:noFill/>
        </p:spPr>
        <p:txBody>
          <a:bodyPr wrap="square" anchor="ctr" lIns="0" rIns="0" tIns="0" bIns="0">
            <a:spAutoFit/>
          </a:bodyPr>
          <a:lstStyle/>
          <a:p>
            <a:pPr algn="ctr"/>
            <a:r>
              <a:rPr sz="950" b="1" i="0" spc="100">
                <a:solidFill>
                  <a:srgbClr val="FFFFFF"/>
                </a:solidFill>
                <a:latin typeface="Arial"/>
              </a:rPr>
              <a:t>RAM</a:t>
            </a:r>
          </a:p>
        </p:txBody>
      </p:sp>
      <p:sp>
        <p:nvSpPr>
          <p:cNvPr id="19" name="TextBox 18"/>
          <p:cNvSpPr txBox="1"/>
          <p:nvPr/>
        </p:nvSpPr>
        <p:spPr>
          <a:xfrm>
            <a:off x="868680" y="6163056"/>
            <a:ext cx="5577840" cy="274320"/>
          </a:xfrm>
          <a:prstGeom prst="rect">
            <a:avLst/>
          </a:prstGeom>
          <a:noFill/>
        </p:spPr>
        <p:txBody>
          <a:bodyPr wrap="square" anchor="t" lIns="0" rIns="0" tIns="0" bIns="0">
            <a:spAutoFit/>
          </a:bodyPr>
          <a:lstStyle/>
          <a:p>
            <a:pPr algn="ctr"/>
            <a:r>
              <a:rPr sz="950" b="0" i="0">
                <a:solidFill>
                  <a:srgbClr val="868B94"/>
                </a:solidFill>
                <a:latin typeface="Arial"/>
              </a:rPr>
              <a:t>Stellantis buyers split 56% practical · 44% emotional</a:t>
            </a:r>
          </a:p>
        </p:txBody>
      </p:sp>
      <p:sp>
        <p:nvSpPr>
          <p:cNvPr id="20" name="Rectangle 19"/>
          <p:cNvSpPr/>
          <p:nvPr/>
        </p:nvSpPr>
        <p:spPr>
          <a:xfrm>
            <a:off x="6903720" y="2331720"/>
            <a:ext cx="4617720" cy="841248"/>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2331720"/>
            <a:ext cx="73152" cy="84124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459736"/>
            <a:ext cx="4160520" cy="658368"/>
          </a:xfrm>
          <a:prstGeom prst="rect">
            <a:avLst/>
          </a:prstGeom>
          <a:noFill/>
        </p:spPr>
        <p:txBody>
          <a:bodyPr wrap="square" anchor="t" lIns="0" rIns="0" tIns="0" bIns="0">
            <a:spAutoFit/>
          </a:bodyPr>
          <a:lstStyle/>
          <a:p>
            <a:pPr algn="l">
              <a:spcAft>
                <a:spcPts val="200"/>
              </a:spcAft>
            </a:pPr>
            <a:r>
              <a:rPr sz="1200" b="1" i="0" spc="150">
                <a:solidFill>
                  <a:srgbClr val="1B2A4A"/>
                </a:solidFill>
                <a:latin typeface="Arial"/>
              </a:rPr>
              <a:t>CHRYSLER</a:t>
            </a:r>
          </a:p>
          <a:p>
            <a:pPr algn="l">
              <a:spcAft>
                <a:spcPts val="200"/>
              </a:spcAft>
            </a:pPr>
            <a:r>
              <a:rPr sz="1250" b="1" i="0">
                <a:solidFill>
                  <a:srgbClr val="1A1A1C"/>
                </a:solidFill>
                <a:latin typeface="Arial"/>
              </a:rPr>
              <a:t>People-first design</a:t>
            </a:r>
          </a:p>
          <a:p>
            <a:pPr algn="l"/>
            <a:r>
              <a:rPr sz="950" b="0" i="0">
                <a:solidFill>
                  <a:srgbClr val="868B94"/>
                </a:solidFill>
                <a:latin typeface="Arial"/>
              </a:rPr>
              <a:t>Practical · Forward-thinking · Human-centered</a:t>
            </a:r>
          </a:p>
        </p:txBody>
      </p:sp>
      <p:sp>
        <p:nvSpPr>
          <p:cNvPr id="23" name="Rectangle 22"/>
          <p:cNvSpPr/>
          <p:nvPr/>
        </p:nvSpPr>
        <p:spPr>
          <a:xfrm>
            <a:off x="6903720" y="3282696"/>
            <a:ext cx="4617720" cy="841248"/>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03720" y="3282696"/>
            <a:ext cx="73152" cy="841248"/>
          </a:xfrm>
          <a:prstGeom prst="rect">
            <a:avLst/>
          </a:prstGeom>
          <a:solidFill>
            <a:srgbClr val="C4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3410712"/>
            <a:ext cx="4160520" cy="658368"/>
          </a:xfrm>
          <a:prstGeom prst="rect">
            <a:avLst/>
          </a:prstGeom>
          <a:noFill/>
        </p:spPr>
        <p:txBody>
          <a:bodyPr wrap="square" anchor="t" lIns="0" rIns="0" tIns="0" bIns="0">
            <a:spAutoFit/>
          </a:bodyPr>
          <a:lstStyle/>
          <a:p>
            <a:pPr algn="l">
              <a:spcAft>
                <a:spcPts val="200"/>
              </a:spcAft>
            </a:pPr>
            <a:r>
              <a:rPr sz="1200" b="1" i="0" spc="150">
                <a:solidFill>
                  <a:srgbClr val="C41230"/>
                </a:solidFill>
                <a:latin typeface="Arial"/>
              </a:rPr>
              <a:t>DODGE</a:t>
            </a:r>
          </a:p>
          <a:p>
            <a:pPr algn="l">
              <a:spcAft>
                <a:spcPts val="200"/>
              </a:spcAft>
            </a:pPr>
            <a:r>
              <a:rPr sz="1250" b="1" i="0">
                <a:solidFill>
                  <a:srgbClr val="1A1A1C"/>
                </a:solidFill>
                <a:latin typeface="Arial"/>
              </a:rPr>
              <a:t>Performance &amp; emotion</a:t>
            </a:r>
          </a:p>
          <a:p>
            <a:pPr algn="l"/>
            <a:r>
              <a:rPr sz="950" b="0" i="0">
                <a:solidFill>
                  <a:srgbClr val="868B94"/>
                </a:solidFill>
                <a:latin typeface="Arial"/>
              </a:rPr>
              <a:t>Adrenaline · Bold · Free-spirited</a:t>
            </a:r>
          </a:p>
        </p:txBody>
      </p:sp>
      <p:sp>
        <p:nvSpPr>
          <p:cNvPr id="26" name="Rectangle 25"/>
          <p:cNvSpPr/>
          <p:nvPr/>
        </p:nvSpPr>
        <p:spPr>
          <a:xfrm>
            <a:off x="6903720" y="4233672"/>
            <a:ext cx="4617720" cy="841248"/>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03720" y="4233672"/>
            <a:ext cx="73152" cy="841248"/>
          </a:xfrm>
          <a:prstGeom prst="rect">
            <a:avLst/>
          </a:prstGeom>
          <a:solidFill>
            <a:srgbClr val="3E4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78040" y="4361688"/>
            <a:ext cx="4160520" cy="658368"/>
          </a:xfrm>
          <a:prstGeom prst="rect">
            <a:avLst/>
          </a:prstGeom>
          <a:noFill/>
        </p:spPr>
        <p:txBody>
          <a:bodyPr wrap="square" anchor="t" lIns="0" rIns="0" tIns="0" bIns="0">
            <a:spAutoFit/>
          </a:bodyPr>
          <a:lstStyle/>
          <a:p>
            <a:pPr algn="l">
              <a:spcAft>
                <a:spcPts val="200"/>
              </a:spcAft>
            </a:pPr>
            <a:r>
              <a:rPr sz="1200" b="1" i="0" spc="150">
                <a:solidFill>
                  <a:srgbClr val="3E4A33"/>
                </a:solidFill>
                <a:latin typeface="Arial"/>
              </a:rPr>
              <a:t>JEEP</a:t>
            </a:r>
          </a:p>
          <a:p>
            <a:pPr algn="l">
              <a:spcAft>
                <a:spcPts val="200"/>
              </a:spcAft>
            </a:pPr>
            <a:r>
              <a:rPr sz="1250" b="1" i="0">
                <a:solidFill>
                  <a:srgbClr val="1A1A1C"/>
                </a:solidFill>
                <a:latin typeface="Arial"/>
              </a:rPr>
              <a:t>Authentic adventure</a:t>
            </a:r>
          </a:p>
          <a:p>
            <a:pPr algn="l"/>
            <a:r>
              <a:rPr sz="950" b="0" i="0">
                <a:solidFill>
                  <a:srgbClr val="868B94"/>
                </a:solidFill>
                <a:latin typeface="Arial"/>
              </a:rPr>
              <a:t>Rugged · Capable · All-terrain</a:t>
            </a:r>
          </a:p>
        </p:txBody>
      </p:sp>
      <p:sp>
        <p:nvSpPr>
          <p:cNvPr id="29" name="Rectangle 28"/>
          <p:cNvSpPr/>
          <p:nvPr/>
        </p:nvSpPr>
        <p:spPr>
          <a:xfrm>
            <a:off x="6903720" y="5184648"/>
            <a:ext cx="4617720" cy="841248"/>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03720" y="5184648"/>
            <a:ext cx="73152" cy="841248"/>
          </a:xfrm>
          <a:prstGeom prst="rect">
            <a:avLst/>
          </a:prstGeom>
          <a:solidFill>
            <a:srgbClr val="6E74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78040" y="5312664"/>
            <a:ext cx="4160520" cy="658368"/>
          </a:xfrm>
          <a:prstGeom prst="rect">
            <a:avLst/>
          </a:prstGeom>
          <a:noFill/>
        </p:spPr>
        <p:txBody>
          <a:bodyPr wrap="square" anchor="t" lIns="0" rIns="0" tIns="0" bIns="0">
            <a:spAutoFit/>
          </a:bodyPr>
          <a:lstStyle/>
          <a:p>
            <a:pPr algn="l">
              <a:spcAft>
                <a:spcPts val="200"/>
              </a:spcAft>
            </a:pPr>
            <a:r>
              <a:rPr sz="1200" b="1" i="0" spc="150">
                <a:solidFill>
                  <a:srgbClr val="6E747C"/>
                </a:solidFill>
                <a:latin typeface="Arial"/>
              </a:rPr>
              <a:t>RAM</a:t>
            </a:r>
          </a:p>
          <a:p>
            <a:pPr algn="l">
              <a:spcAft>
                <a:spcPts val="200"/>
              </a:spcAft>
            </a:pPr>
            <a:r>
              <a:rPr sz="1250" b="1" i="0">
                <a:solidFill>
                  <a:srgbClr val="1A1A1C"/>
                </a:solidFill>
                <a:latin typeface="Arial"/>
              </a:rPr>
              <a:t>Hard-working capability</a:t>
            </a:r>
          </a:p>
          <a:p>
            <a:pPr algn="l"/>
            <a:r>
              <a:rPr sz="950" b="0" i="0">
                <a:solidFill>
                  <a:srgbClr val="868B94"/>
                </a:solidFill>
                <a:latin typeface="Arial"/>
              </a:rPr>
              <a:t>Confident · Capable · Committed</a:t>
            </a:r>
          </a:p>
        </p:txBody>
      </p:sp>
      <p:sp>
        <p:nvSpPr>
          <p:cNvPr id="32" name="TextBox 31"/>
          <p:cNvSpPr txBox="1"/>
          <p:nvPr/>
        </p:nvSpPr>
        <p:spPr>
          <a:xfrm>
            <a:off x="685800" y="6400800"/>
            <a:ext cx="7315200" cy="274320"/>
          </a:xfrm>
          <a:prstGeom prst="rect">
            <a:avLst/>
          </a:prstGeom>
          <a:noFill/>
        </p:spPr>
        <p:txBody>
          <a:bodyPr wrap="square" anchor="t" lIns="0" rIns="0" tIns="0" bIns="0">
            <a:spAutoFit/>
          </a:bodyPr>
          <a:lstStyle/>
          <a:p>
            <a:pPr algn="l"/>
            <a:r>
              <a:rPr sz="750" b="0" i="0" spc="50">
                <a:solidFill>
                  <a:srgbClr val="C8CCD2"/>
                </a:solidFill>
                <a:latin typeface="Arial"/>
              </a:rPr>
              <a:t>Source: Stellantis Segmentation Survey 2024</a:t>
            </a:r>
          </a:p>
        </p:txBody>
      </p:sp>
      <p:sp>
        <p:nvSpPr>
          <p:cNvPr id="33" name="TextBox 32"/>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34" name="TextBox 33"/>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17</a:t>
            </a:r>
          </a:p>
        </p:txBody>
      </p:sp>
      <p:sp>
        <p:nvSpPr>
          <p:cNvPr id="35" name="TextBox 34"/>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LOOKING FORWARD</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Future Customer Experience</a:t>
            </a:r>
          </a:p>
        </p:txBody>
      </p:sp>
      <p:sp>
        <p:nvSpPr>
          <p:cNvPr id="4" name="Rectangle 3"/>
          <p:cNvSpPr/>
          <p:nvPr/>
        </p:nvSpPr>
        <p:spPr>
          <a:xfrm>
            <a:off x="685800"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7" name="TextBox 6"/>
          <p:cNvSpPr txBox="1"/>
          <p:nvPr/>
        </p:nvSpPr>
        <p:spPr>
          <a:xfrm>
            <a:off x="1005840"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Digital Ecosystem</a:t>
            </a:r>
          </a:p>
          <a:p>
            <a:pPr algn="l">
              <a:lnSpc>
                <a:spcPct val="115000"/>
              </a:lnSpc>
            </a:pPr>
            <a:r>
              <a:rPr sz="1000" b="0" i="0">
                <a:solidFill>
                  <a:srgbClr val="868B94"/>
                </a:solidFill>
                <a:latin typeface="Arial"/>
              </a:rPr>
              <a:t>Seamless, connected, personal.</a:t>
            </a:r>
          </a:p>
        </p:txBody>
      </p:sp>
      <p:sp>
        <p:nvSpPr>
          <p:cNvPr id="8" name="Rectangle 7"/>
          <p:cNvSpPr/>
          <p:nvPr/>
        </p:nvSpPr>
        <p:spPr>
          <a:xfrm>
            <a:off x="4413504"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33544"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3544"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1" name="TextBox 10"/>
          <p:cNvSpPr txBox="1"/>
          <p:nvPr/>
        </p:nvSpPr>
        <p:spPr>
          <a:xfrm>
            <a:off x="4733544"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Technology</a:t>
            </a:r>
          </a:p>
          <a:p>
            <a:pPr algn="l">
              <a:lnSpc>
                <a:spcPct val="115000"/>
              </a:lnSpc>
            </a:pPr>
            <a:r>
              <a:rPr sz="1000" b="0" i="0">
                <a:solidFill>
                  <a:srgbClr val="868B94"/>
                </a:solidFill>
                <a:latin typeface="Arial"/>
              </a:rPr>
              <a:t>Purposeful and invisible.</a:t>
            </a:r>
          </a:p>
        </p:txBody>
      </p:sp>
      <p:sp>
        <p:nvSpPr>
          <p:cNvPr id="12" name="Rectangle 11"/>
          <p:cNvSpPr/>
          <p:nvPr/>
        </p:nvSpPr>
        <p:spPr>
          <a:xfrm>
            <a:off x="8141208" y="205740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61248" y="237744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61248" y="244144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5" name="TextBox 14"/>
          <p:cNvSpPr txBox="1"/>
          <p:nvPr/>
        </p:nvSpPr>
        <p:spPr>
          <a:xfrm>
            <a:off x="8461248" y="320040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Sustainability</a:t>
            </a:r>
          </a:p>
          <a:p>
            <a:pPr algn="l">
              <a:lnSpc>
                <a:spcPct val="115000"/>
              </a:lnSpc>
            </a:pPr>
            <a:r>
              <a:rPr sz="1000" b="0" i="0">
                <a:solidFill>
                  <a:srgbClr val="868B94"/>
                </a:solidFill>
                <a:latin typeface="Arial"/>
              </a:rPr>
              <a:t>Warm, recycled, responsible materials.</a:t>
            </a:r>
          </a:p>
        </p:txBody>
      </p:sp>
      <p:sp>
        <p:nvSpPr>
          <p:cNvPr id="16" name="Rectangle 15"/>
          <p:cNvSpPr/>
          <p:nvPr/>
        </p:nvSpPr>
        <p:spPr>
          <a:xfrm>
            <a:off x="685800"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05840"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19" name="TextBox 18"/>
          <p:cNvSpPr txBox="1"/>
          <p:nvPr/>
        </p:nvSpPr>
        <p:spPr>
          <a:xfrm>
            <a:off x="1005840"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Luxury</a:t>
            </a:r>
          </a:p>
          <a:p>
            <a:pPr algn="l">
              <a:lnSpc>
                <a:spcPct val="115000"/>
              </a:lnSpc>
            </a:pPr>
            <a:r>
              <a:rPr sz="1000" b="0" i="0">
                <a:solidFill>
                  <a:srgbClr val="868B94"/>
                </a:solidFill>
                <a:latin typeface="Arial"/>
              </a:rPr>
              <a:t>Friction removed from daily life.</a:t>
            </a:r>
          </a:p>
        </p:txBody>
      </p:sp>
      <p:sp>
        <p:nvSpPr>
          <p:cNvPr id="20" name="Rectangle 19"/>
          <p:cNvSpPr/>
          <p:nvPr/>
        </p:nvSpPr>
        <p:spPr>
          <a:xfrm>
            <a:off x="4413504"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733544"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3544"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23" name="TextBox 22"/>
          <p:cNvSpPr txBox="1"/>
          <p:nvPr/>
        </p:nvSpPr>
        <p:spPr>
          <a:xfrm>
            <a:off x="4733544"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AI</a:t>
            </a:r>
          </a:p>
          <a:p>
            <a:pPr algn="l">
              <a:lnSpc>
                <a:spcPct val="115000"/>
              </a:lnSpc>
            </a:pPr>
            <a:r>
              <a:rPr sz="1000" b="0" i="0">
                <a:solidFill>
                  <a:srgbClr val="868B94"/>
                </a:solidFill>
                <a:latin typeface="Arial"/>
              </a:rPr>
              <a:t>Adaptive, predictive, human-centered.</a:t>
            </a:r>
          </a:p>
        </p:txBody>
      </p:sp>
      <p:sp>
        <p:nvSpPr>
          <p:cNvPr id="24" name="Rectangle 23"/>
          <p:cNvSpPr/>
          <p:nvPr/>
        </p:nvSpPr>
        <p:spPr>
          <a:xfrm>
            <a:off x="8141208" y="4206240"/>
            <a:ext cx="3361944" cy="182880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461248" y="4526280"/>
            <a:ext cx="640080" cy="640080"/>
          </a:xfrm>
          <a:prstGeom prst="roundRect">
            <a:avLst/>
          </a:prstGeom>
          <a:noFill/>
          <a:ln w="1587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1248" y="4590288"/>
            <a:ext cx="640080" cy="640080"/>
          </a:xfrm>
          <a:prstGeom prst="rect">
            <a:avLst/>
          </a:prstGeom>
          <a:noFill/>
        </p:spPr>
        <p:txBody>
          <a:bodyPr wrap="square" anchor="ctr" lIns="0" rIns="0" tIns="0" bIns="0">
            <a:spAutoFit/>
          </a:bodyPr>
          <a:lstStyle/>
          <a:p>
            <a:pPr algn="ctr"/>
            <a:r>
              <a:rPr sz="750" b="0" i="0" spc="100">
                <a:solidFill>
                  <a:srgbClr val="A9AEB5"/>
                </a:solidFill>
                <a:latin typeface="Arial"/>
              </a:rPr>
              <a:t>ICON</a:t>
            </a:r>
          </a:p>
        </p:txBody>
      </p:sp>
      <p:sp>
        <p:nvSpPr>
          <p:cNvPr id="27" name="TextBox 26"/>
          <p:cNvSpPr txBox="1"/>
          <p:nvPr/>
        </p:nvSpPr>
        <p:spPr>
          <a:xfrm>
            <a:off x="8461248" y="5349240"/>
            <a:ext cx="2721864" cy="548640"/>
          </a:xfrm>
          <a:prstGeom prst="rect">
            <a:avLst/>
          </a:prstGeom>
          <a:noFill/>
        </p:spPr>
        <p:txBody>
          <a:bodyPr wrap="square" anchor="t" lIns="0" rIns="0" tIns="0" bIns="0">
            <a:spAutoFit/>
          </a:bodyPr>
          <a:lstStyle/>
          <a:p>
            <a:pPr algn="l">
              <a:spcAft>
                <a:spcPts val="300"/>
              </a:spcAft>
            </a:pPr>
            <a:r>
              <a:rPr sz="1400" b="1" i="0">
                <a:solidFill>
                  <a:srgbClr val="1A1A1C"/>
                </a:solidFill>
                <a:latin typeface="Arial"/>
              </a:rPr>
              <a:t>Connected Mobility</a:t>
            </a:r>
          </a:p>
          <a:p>
            <a:pPr algn="l">
              <a:lnSpc>
                <a:spcPct val="115000"/>
              </a:lnSpc>
            </a:pPr>
            <a:r>
              <a:rPr sz="1000" b="0" i="0">
                <a:solidFill>
                  <a:srgbClr val="868B94"/>
                </a:solidFill>
                <a:latin typeface="Arial"/>
              </a:rPr>
              <a:t>Effortless, door to destination.</a:t>
            </a:r>
          </a:p>
        </p:txBody>
      </p:sp>
      <p:sp>
        <p:nvSpPr>
          <p:cNvPr id="28" name="TextBox 27"/>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9" name="TextBox 28"/>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18</a:t>
            </a:r>
          </a:p>
        </p:txBody>
      </p:sp>
      <p:sp>
        <p:nvSpPr>
          <p:cNvPr id="30" name="TextBox 29"/>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4008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CAPABILITY</a:t>
            </a:r>
          </a:p>
        </p:txBody>
      </p:sp>
      <p:sp>
        <p:nvSpPr>
          <p:cNvPr id="3" name="TextBox 2"/>
          <p:cNvSpPr txBox="1"/>
          <p:nvPr/>
        </p:nvSpPr>
        <p:spPr>
          <a:xfrm>
            <a:off x="658368" y="960120"/>
            <a:ext cx="10515600" cy="822960"/>
          </a:xfrm>
          <a:prstGeom prst="rect">
            <a:avLst/>
          </a:prstGeom>
          <a:noFill/>
        </p:spPr>
        <p:txBody>
          <a:bodyPr wrap="square" anchor="t" lIns="0" rIns="0" tIns="0" bIns="0">
            <a:spAutoFit/>
          </a:bodyPr>
          <a:lstStyle/>
          <a:p>
            <a:pPr algn="l"/>
            <a:r>
              <a:rPr sz="2800" b="1" i="0">
                <a:solidFill>
                  <a:srgbClr val="1A1A1C"/>
                </a:solidFill>
                <a:latin typeface="Arial"/>
              </a:rPr>
              <a:t>Design Innovation</a:t>
            </a:r>
          </a:p>
        </p:txBody>
      </p:sp>
      <p:sp>
        <p:nvSpPr>
          <p:cNvPr id="4" name="Rectangle 3"/>
          <p:cNvSpPr/>
          <p:nvPr/>
        </p:nvSpPr>
        <p:spPr>
          <a:xfrm>
            <a:off x="685800" y="1828800"/>
            <a:ext cx="10817352" cy="2468880"/>
          </a:xfrm>
          <a:prstGeom prst="rect">
            <a:avLst/>
          </a:prstGeom>
          <a:solidFill>
            <a:srgbClr val="EF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85800" y="18288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 y="182880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265408" y="182880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503152" y="182880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5800" y="4297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85800" y="40599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1265408" y="429768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503152" y="405993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38444" y="2587752"/>
            <a:ext cx="512064" cy="512064"/>
          </a:xfrm>
          <a:prstGeom prst="roundRect">
            <a:avLst/>
          </a:prstGeom>
          <a:noFill/>
          <a:ln w="19050">
            <a:solidFill>
              <a:srgbClr val="A9AE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951098" y="2690164"/>
            <a:ext cx="100584" cy="100584"/>
          </a:xfrm>
          <a:prstGeom prst="ellips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5992063" y="2813060"/>
            <a:ext cx="274320" cy="164592"/>
          </a:xfrm>
          <a:prstGeom prst="triangle">
            <a:avLst/>
          </a:prstGeom>
          <a:solidFill>
            <a:srgbClr val="A9AE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91256"/>
            <a:ext cx="10817352" cy="365760"/>
          </a:xfrm>
          <a:prstGeom prst="rect">
            <a:avLst/>
          </a:prstGeom>
          <a:noFill/>
        </p:spPr>
        <p:txBody>
          <a:bodyPr wrap="square" anchor="t" lIns="0" rIns="0" tIns="0" bIns="0">
            <a:spAutoFit/>
          </a:bodyPr>
          <a:lstStyle/>
          <a:p>
            <a:pPr algn="ctr"/>
            <a:r>
              <a:rPr sz="1050" b="1" i="0" spc="200">
                <a:solidFill>
                  <a:srgbClr val="868B94"/>
                </a:solidFill>
                <a:latin typeface="Arial"/>
              </a:rPr>
              <a:t>LARGE INFOGRAPHIC PLACEHOLDER</a:t>
            </a:r>
          </a:p>
        </p:txBody>
      </p:sp>
      <p:sp>
        <p:nvSpPr>
          <p:cNvPr id="17" name="TextBox 16"/>
          <p:cNvSpPr txBox="1"/>
          <p:nvPr/>
        </p:nvSpPr>
        <p:spPr>
          <a:xfrm>
            <a:off x="685800" y="3465576"/>
            <a:ext cx="10817352" cy="274320"/>
          </a:xfrm>
          <a:prstGeom prst="rect">
            <a:avLst/>
          </a:prstGeom>
          <a:noFill/>
        </p:spPr>
        <p:txBody>
          <a:bodyPr wrap="square" anchor="t" lIns="0" rIns="0" tIns="0" bIns="0">
            <a:spAutoFit/>
          </a:bodyPr>
          <a:lstStyle/>
          <a:p>
            <a:pPr algn="ctr"/>
            <a:r>
              <a:rPr sz="800" b="0" i="0" spc="80">
                <a:solidFill>
                  <a:srgbClr val="C8CCD2"/>
                </a:solidFill>
                <a:latin typeface="Arial"/>
              </a:rPr>
              <a:t>Replace · innovation framework graphic</a:t>
            </a:r>
          </a:p>
        </p:txBody>
      </p:sp>
      <p:sp>
        <p:nvSpPr>
          <p:cNvPr id="18" name="Rectangle 17"/>
          <p:cNvSpPr/>
          <p:nvPr/>
        </p:nvSpPr>
        <p:spPr>
          <a:xfrm>
            <a:off x="685800"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01</a:t>
            </a:r>
          </a:p>
          <a:p>
            <a:pPr algn="l">
              <a:lnSpc>
                <a:spcPct val="110000"/>
              </a:lnSpc>
            </a:pPr>
            <a:r>
              <a:rPr sz="1150" b="1" i="0">
                <a:solidFill>
                  <a:srgbClr val="1A1A1C"/>
                </a:solidFill>
                <a:latin typeface="Arial"/>
              </a:rPr>
              <a:t>Exterior Design</a:t>
            </a:r>
          </a:p>
        </p:txBody>
      </p:sp>
      <p:sp>
        <p:nvSpPr>
          <p:cNvPr id="21" name="Rectangle 20"/>
          <p:cNvSpPr/>
          <p:nvPr/>
        </p:nvSpPr>
        <p:spPr>
          <a:xfrm>
            <a:off x="2526792"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26792"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1384"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02</a:t>
            </a:r>
          </a:p>
          <a:p>
            <a:pPr algn="l">
              <a:lnSpc>
                <a:spcPct val="110000"/>
              </a:lnSpc>
            </a:pPr>
            <a:r>
              <a:rPr sz="1150" b="1" i="0">
                <a:solidFill>
                  <a:srgbClr val="1A1A1C"/>
                </a:solidFill>
                <a:latin typeface="Arial"/>
              </a:rPr>
              <a:t>Interior Design</a:t>
            </a:r>
          </a:p>
        </p:txBody>
      </p:sp>
      <p:sp>
        <p:nvSpPr>
          <p:cNvPr id="24" name="Rectangle 23"/>
          <p:cNvSpPr/>
          <p:nvPr/>
        </p:nvSpPr>
        <p:spPr>
          <a:xfrm>
            <a:off x="4367784"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67784"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2376"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03</a:t>
            </a:r>
          </a:p>
          <a:p>
            <a:pPr algn="l">
              <a:lnSpc>
                <a:spcPct val="110000"/>
              </a:lnSpc>
            </a:pPr>
            <a:r>
              <a:rPr sz="1150" b="1" i="0">
                <a:solidFill>
                  <a:srgbClr val="1A1A1C"/>
                </a:solidFill>
                <a:latin typeface="Arial"/>
              </a:rPr>
              <a:t>CMF</a:t>
            </a:r>
          </a:p>
        </p:txBody>
      </p:sp>
      <p:sp>
        <p:nvSpPr>
          <p:cNvPr id="27" name="Rectangle 26"/>
          <p:cNvSpPr/>
          <p:nvPr/>
        </p:nvSpPr>
        <p:spPr>
          <a:xfrm>
            <a:off x="6208776"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73368"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04</a:t>
            </a:r>
          </a:p>
          <a:p>
            <a:pPr algn="l">
              <a:lnSpc>
                <a:spcPct val="110000"/>
              </a:lnSpc>
            </a:pPr>
            <a:r>
              <a:rPr sz="1150" b="1" i="0">
                <a:solidFill>
                  <a:srgbClr val="1A1A1C"/>
                </a:solidFill>
                <a:latin typeface="Arial"/>
              </a:rPr>
              <a:t>Lighting</a:t>
            </a:r>
          </a:p>
        </p:txBody>
      </p:sp>
      <p:sp>
        <p:nvSpPr>
          <p:cNvPr id="30" name="Rectangle 29"/>
          <p:cNvSpPr/>
          <p:nvPr/>
        </p:nvSpPr>
        <p:spPr>
          <a:xfrm>
            <a:off x="8049768"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9768"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4360"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05</a:t>
            </a:r>
          </a:p>
          <a:p>
            <a:pPr algn="l">
              <a:lnSpc>
                <a:spcPct val="110000"/>
              </a:lnSpc>
            </a:pPr>
            <a:r>
              <a:rPr sz="1150" b="1" i="0">
                <a:solidFill>
                  <a:srgbClr val="1A1A1C"/>
                </a:solidFill>
                <a:latin typeface="Arial"/>
              </a:rPr>
              <a:t>Digital Experience</a:t>
            </a:r>
          </a:p>
        </p:txBody>
      </p:sp>
      <p:sp>
        <p:nvSpPr>
          <p:cNvPr id="33" name="Rectangle 32"/>
          <p:cNvSpPr/>
          <p:nvPr/>
        </p:nvSpPr>
        <p:spPr>
          <a:xfrm>
            <a:off x="9890760" y="4526280"/>
            <a:ext cx="1612392" cy="1280160"/>
          </a:xfrm>
          <a:prstGeom prst="rect">
            <a:avLst/>
          </a:prstGeom>
          <a:solidFill>
            <a:srgbClr val="F7F8F9"/>
          </a:solidFill>
          <a:ln w="6350">
            <a:solidFill>
              <a:srgbClr val="C8C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890760" y="4526280"/>
            <a:ext cx="161239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5352" y="4754880"/>
            <a:ext cx="1283208" cy="1005840"/>
          </a:xfrm>
          <a:prstGeom prst="rect">
            <a:avLst/>
          </a:prstGeom>
          <a:noFill/>
        </p:spPr>
        <p:txBody>
          <a:bodyPr wrap="square" anchor="t" lIns="0" rIns="0" tIns="0" bIns="0">
            <a:spAutoFit/>
          </a:bodyPr>
          <a:lstStyle/>
          <a:p>
            <a:pPr algn="l">
              <a:spcAft>
                <a:spcPts val="400"/>
              </a:spcAft>
            </a:pPr>
            <a:r>
              <a:rPr sz="1100" b="1" i="0">
                <a:solidFill>
                  <a:srgbClr val="A9AEB5"/>
                </a:solidFill>
                <a:latin typeface="Arial"/>
              </a:rPr>
              <a:t>06</a:t>
            </a:r>
          </a:p>
          <a:p>
            <a:pPr algn="l">
              <a:lnSpc>
                <a:spcPct val="110000"/>
              </a:lnSpc>
            </a:pPr>
            <a:r>
              <a:rPr sz="1150" b="1" i="0">
                <a:solidFill>
                  <a:srgbClr val="1A1A1C"/>
                </a:solidFill>
                <a:latin typeface="Arial"/>
              </a:rPr>
              <a:t>AI-enabled Design</a:t>
            </a:r>
          </a:p>
        </p:txBody>
      </p:sp>
      <p:sp>
        <p:nvSpPr>
          <p:cNvPr id="36" name="TextBox 35"/>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37" name="TextBox 36"/>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19</a:t>
            </a:r>
          </a:p>
        </p:txBody>
      </p:sp>
      <p:sp>
        <p:nvSpPr>
          <p:cNvPr id="38" name="TextBox 37"/>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017520"/>
          </a:xfrm>
          <a:prstGeom prst="rect">
            <a:avLst/>
          </a:prstGeom>
          <a:solidFill>
            <a:srgbClr val="F7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0"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0"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953951" y="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1695" y="0"/>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0" y="30175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0" y="277977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953951" y="3017520"/>
            <a:ext cx="237744" cy="0"/>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191695" y="2779776"/>
            <a:ext cx="0" cy="237744"/>
          </a:xfrm>
          <a:prstGeom prst="bentConnector3">
            <a:avLst/>
          </a:prstGeom>
          <a:ln w="15875">
            <a:solidFill>
              <a:srgbClr val="A9AEB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0" y="1307592"/>
            <a:ext cx="12191695" cy="365760"/>
          </a:xfrm>
          <a:prstGeom prst="rect">
            <a:avLst/>
          </a:prstGeom>
          <a:noFill/>
        </p:spPr>
        <p:txBody>
          <a:bodyPr wrap="square" anchor="t" lIns="0" rIns="0" tIns="0" bIns="0">
            <a:spAutoFit/>
          </a:bodyPr>
          <a:lstStyle/>
          <a:p>
            <a:pPr algn="ctr"/>
            <a:r>
              <a:rPr sz="1050" b="1" i="0" spc="200">
                <a:solidFill>
                  <a:srgbClr val="868B94"/>
                </a:solidFill>
                <a:latin typeface="Arial"/>
              </a:rPr>
              <a:t>CLOSING HERO IMAGE</a:t>
            </a:r>
          </a:p>
        </p:txBody>
      </p:sp>
      <p:sp>
        <p:nvSpPr>
          <p:cNvPr id="12" name="TextBox 11"/>
          <p:cNvSpPr txBox="1"/>
          <p:nvPr/>
        </p:nvSpPr>
        <p:spPr>
          <a:xfrm>
            <a:off x="0" y="1581912"/>
            <a:ext cx="12191695" cy="274320"/>
          </a:xfrm>
          <a:prstGeom prst="rect">
            <a:avLst/>
          </a:prstGeom>
          <a:noFill/>
        </p:spPr>
        <p:txBody>
          <a:bodyPr wrap="square" anchor="t" lIns="0" rIns="0" tIns="0" bIns="0">
            <a:spAutoFit/>
          </a:bodyPr>
          <a:lstStyle/>
          <a:p>
            <a:pPr algn="ctr"/>
            <a:r>
              <a:rPr sz="800" b="0" i="0" spc="80">
                <a:solidFill>
                  <a:srgbClr val="C8CCD2"/>
                </a:solidFill>
                <a:latin typeface="Arial"/>
              </a:rPr>
              <a:t>Replace · aspirational closing visual</a:t>
            </a:r>
          </a:p>
        </p:txBody>
      </p:sp>
      <p:sp>
        <p:nvSpPr>
          <p:cNvPr id="13" name="TextBox 12"/>
          <p:cNvSpPr txBox="1"/>
          <p:nvPr/>
        </p:nvSpPr>
        <p:spPr>
          <a:xfrm>
            <a:off x="685800" y="3291840"/>
            <a:ext cx="7315200" cy="274320"/>
          </a:xfrm>
          <a:prstGeom prst="rect">
            <a:avLst/>
          </a:prstGeom>
          <a:noFill/>
        </p:spPr>
        <p:txBody>
          <a:bodyPr wrap="square" anchor="t" lIns="0" rIns="0" tIns="0" bIns="0">
            <a:spAutoFit/>
          </a:bodyPr>
          <a:lstStyle/>
          <a:p>
            <a:pPr algn="l"/>
            <a:r>
              <a:rPr sz="1100" b="1" i="0" spc="300">
                <a:solidFill>
                  <a:srgbClr val="1B2A4A"/>
                </a:solidFill>
                <a:latin typeface="Arial"/>
              </a:rPr>
              <a:t>IN CLOSING</a:t>
            </a:r>
          </a:p>
        </p:txBody>
      </p:sp>
      <p:sp>
        <p:nvSpPr>
          <p:cNvPr id="14" name="TextBox 13"/>
          <p:cNvSpPr txBox="1"/>
          <p:nvPr/>
        </p:nvSpPr>
        <p:spPr>
          <a:xfrm>
            <a:off x="658368" y="3611880"/>
            <a:ext cx="10058400" cy="548640"/>
          </a:xfrm>
          <a:prstGeom prst="rect">
            <a:avLst/>
          </a:prstGeom>
          <a:noFill/>
        </p:spPr>
        <p:txBody>
          <a:bodyPr wrap="square" anchor="t" lIns="0" rIns="0" tIns="0" bIns="0">
            <a:spAutoFit/>
          </a:bodyPr>
          <a:lstStyle/>
          <a:p>
            <a:pPr algn="l"/>
            <a:r>
              <a:rPr sz="3000" b="1" i="0">
                <a:solidFill>
                  <a:srgbClr val="1A1A1C"/>
                </a:solidFill>
                <a:latin typeface="Arial"/>
              </a:rPr>
              <a:t>The Future of Chrysler</a:t>
            </a:r>
          </a:p>
        </p:txBody>
      </p:sp>
      <p:sp>
        <p:nvSpPr>
          <p:cNvPr id="15" name="TextBox 14"/>
          <p:cNvSpPr txBox="1"/>
          <p:nvPr/>
        </p:nvSpPr>
        <p:spPr>
          <a:xfrm>
            <a:off x="685800" y="4114800"/>
            <a:ext cx="10817352" cy="457200"/>
          </a:xfrm>
          <a:prstGeom prst="rect">
            <a:avLst/>
          </a:prstGeom>
          <a:noFill/>
        </p:spPr>
        <p:txBody>
          <a:bodyPr wrap="square" anchor="t" lIns="0" rIns="0" tIns="0" bIns="0">
            <a:spAutoFit/>
          </a:bodyPr>
          <a:lstStyle/>
          <a:p>
            <a:pPr algn="l">
              <a:lnSpc>
                <a:spcPct val="120000"/>
              </a:lnSpc>
            </a:pPr>
            <a:r>
              <a:rPr sz="1300" b="0" i="1">
                <a:solidFill>
                  <a:srgbClr val="4A4E57"/>
                </a:solidFill>
                <a:latin typeface="Arial"/>
              </a:rPr>
              <a:t>When every decision begins with people, thoughtful design becomes effortless living — that is the future of Chrysler.</a:t>
            </a:r>
          </a:p>
        </p:txBody>
      </p:sp>
      <p:sp>
        <p:nvSpPr>
          <p:cNvPr id="16" name="TextBox 15"/>
          <p:cNvSpPr txBox="1"/>
          <p:nvPr/>
        </p:nvSpPr>
        <p:spPr>
          <a:xfrm>
            <a:off x="685800"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01</a:t>
            </a:r>
          </a:p>
        </p:txBody>
      </p:sp>
      <p:cxnSp>
        <p:nvCxnSpPr>
          <p:cNvPr id="17" name="Connector 16"/>
          <p:cNvCxnSpPr/>
          <p:nvPr/>
        </p:nvCxnSpPr>
        <p:spPr>
          <a:xfrm>
            <a:off x="685800"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Designed Around People</a:t>
            </a:r>
          </a:p>
          <a:p>
            <a:pPr algn="l">
              <a:lnSpc>
                <a:spcPct val="125000"/>
              </a:lnSpc>
            </a:pPr>
            <a:r>
              <a:rPr sz="1150" b="0" i="0">
                <a:solidFill>
                  <a:srgbClr val="4A4E57"/>
                </a:solidFill>
                <a:latin typeface="Arial"/>
              </a:rPr>
              <a:t>Every decision begins with the people who use it.</a:t>
            </a:r>
          </a:p>
        </p:txBody>
      </p:sp>
      <p:sp>
        <p:nvSpPr>
          <p:cNvPr id="19" name="TextBox 18"/>
          <p:cNvSpPr txBox="1"/>
          <p:nvPr/>
        </p:nvSpPr>
        <p:spPr>
          <a:xfrm>
            <a:off x="4413504"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02</a:t>
            </a:r>
          </a:p>
        </p:txBody>
      </p:sp>
      <p:cxnSp>
        <p:nvCxnSpPr>
          <p:cNvPr id="20" name="Connector 19"/>
          <p:cNvCxnSpPr/>
          <p:nvPr/>
        </p:nvCxnSpPr>
        <p:spPr>
          <a:xfrm>
            <a:off x="4413504"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13504"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Removing Everyday Friction</a:t>
            </a:r>
          </a:p>
          <a:p>
            <a:pPr algn="l">
              <a:lnSpc>
                <a:spcPct val="125000"/>
              </a:lnSpc>
            </a:pPr>
            <a:r>
              <a:rPr sz="1150" b="0" i="0">
                <a:solidFill>
                  <a:srgbClr val="4A4E57"/>
                </a:solidFill>
                <a:latin typeface="Arial"/>
              </a:rPr>
              <a:t>Thoughtful design that makes life effortless.</a:t>
            </a:r>
          </a:p>
        </p:txBody>
      </p:sp>
      <p:sp>
        <p:nvSpPr>
          <p:cNvPr id="22" name="TextBox 21"/>
          <p:cNvSpPr txBox="1"/>
          <p:nvPr/>
        </p:nvSpPr>
        <p:spPr>
          <a:xfrm>
            <a:off x="8141208" y="4572000"/>
            <a:ext cx="3361944" cy="640080"/>
          </a:xfrm>
          <a:prstGeom prst="rect">
            <a:avLst/>
          </a:prstGeom>
          <a:noFill/>
        </p:spPr>
        <p:txBody>
          <a:bodyPr wrap="square" anchor="t" lIns="0" rIns="0" tIns="0" bIns="0">
            <a:spAutoFit/>
          </a:bodyPr>
          <a:lstStyle/>
          <a:p>
            <a:pPr algn="l"/>
            <a:r>
              <a:rPr sz="3000" b="1" i="0">
                <a:solidFill>
                  <a:srgbClr val="A9AEB5"/>
                </a:solidFill>
                <a:latin typeface="Arial"/>
              </a:rPr>
              <a:t>03</a:t>
            </a:r>
          </a:p>
        </p:txBody>
      </p:sp>
      <p:cxnSp>
        <p:nvCxnSpPr>
          <p:cNvPr id="23" name="Connector 22"/>
          <p:cNvCxnSpPr/>
          <p:nvPr/>
        </p:nvCxnSpPr>
        <p:spPr>
          <a:xfrm>
            <a:off x="8141208" y="5212080"/>
            <a:ext cx="3361944" cy="0"/>
          </a:xfrm>
          <a:prstGeom prst="bentConnector3">
            <a:avLst/>
          </a:prstGeom>
          <a:ln w="12700">
            <a:solidFill>
              <a:srgbClr val="C8CCD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41208" y="5349240"/>
            <a:ext cx="3361944" cy="1097280"/>
          </a:xfrm>
          <a:prstGeom prst="rect">
            <a:avLst/>
          </a:prstGeom>
          <a:noFill/>
        </p:spPr>
        <p:txBody>
          <a:bodyPr wrap="square" anchor="t" lIns="0" rIns="0" tIns="0" bIns="0">
            <a:spAutoFit/>
          </a:bodyPr>
          <a:lstStyle/>
          <a:p>
            <a:pPr algn="l">
              <a:spcAft>
                <a:spcPts val="500"/>
              </a:spcAft>
            </a:pPr>
            <a:r>
              <a:rPr sz="1600" b="1" i="0">
                <a:solidFill>
                  <a:srgbClr val="1A1A1C"/>
                </a:solidFill>
                <a:latin typeface="Arial"/>
              </a:rPr>
              <a:t>Modern American Design</a:t>
            </a:r>
          </a:p>
          <a:p>
            <a:pPr algn="l">
              <a:lnSpc>
                <a:spcPct val="125000"/>
              </a:lnSpc>
            </a:pPr>
            <a:r>
              <a:rPr sz="1150" b="0" i="0">
                <a:solidFill>
                  <a:srgbClr val="4A4E57"/>
                </a:solidFill>
                <a:latin typeface="Arial"/>
              </a:rPr>
              <a:t>Confident, optimistic, unmistakably Chrysler.</a:t>
            </a:r>
          </a:p>
        </p:txBody>
      </p:sp>
      <p:sp>
        <p:nvSpPr>
          <p:cNvPr id="25" name="TextBox 24"/>
          <p:cNvSpPr txBox="1"/>
          <p:nvPr/>
        </p:nvSpPr>
        <p:spPr>
          <a:xfrm>
            <a:off x="640080" y="6437376"/>
            <a:ext cx="7315200" cy="274320"/>
          </a:xfrm>
          <a:prstGeom prst="rect">
            <a:avLst/>
          </a:prstGeom>
          <a:noFill/>
        </p:spPr>
        <p:txBody>
          <a:bodyPr wrap="square" anchor="t" lIns="0" rIns="0" tIns="0" bIns="0">
            <a:spAutoFit/>
          </a:bodyPr>
          <a:lstStyle/>
          <a:p>
            <a:pPr algn="l"/>
            <a:r>
              <a:rPr sz="800" b="0" i="0" spc="150">
                <a:solidFill>
                  <a:srgbClr val="868B94"/>
                </a:solidFill>
                <a:latin typeface="Arial"/>
              </a:rPr>
              <a:t>CHRYSLER  ·  BRAND DESIGN VISION</a:t>
            </a:r>
          </a:p>
        </p:txBody>
      </p:sp>
      <p:sp>
        <p:nvSpPr>
          <p:cNvPr id="26" name="TextBox 25"/>
          <p:cNvSpPr txBox="1"/>
          <p:nvPr/>
        </p:nvSpPr>
        <p:spPr>
          <a:xfrm>
            <a:off x="10607040" y="6437376"/>
            <a:ext cx="914400" cy="274320"/>
          </a:xfrm>
          <a:prstGeom prst="rect">
            <a:avLst/>
          </a:prstGeom>
          <a:noFill/>
        </p:spPr>
        <p:txBody>
          <a:bodyPr wrap="square" anchor="t" lIns="0" rIns="0" tIns="0" bIns="0">
            <a:spAutoFit/>
          </a:bodyPr>
          <a:lstStyle/>
          <a:p>
            <a:pPr algn="r"/>
            <a:r>
              <a:rPr sz="800" b="0" i="0" spc="150">
                <a:solidFill>
                  <a:srgbClr val="868B94"/>
                </a:solidFill>
                <a:latin typeface="Arial"/>
              </a:rPr>
              <a:t>20</a:t>
            </a:r>
          </a:p>
        </p:txBody>
      </p:sp>
      <p:sp>
        <p:nvSpPr>
          <p:cNvPr id="27" name="TextBox 26"/>
          <p:cNvSpPr txBox="1"/>
          <p:nvPr/>
        </p:nvSpPr>
        <p:spPr>
          <a:xfrm>
            <a:off x="10424160" y="310896"/>
            <a:ext cx="1097280" cy="274320"/>
          </a:xfrm>
          <a:prstGeom prst="rect">
            <a:avLst/>
          </a:prstGeom>
          <a:noFill/>
        </p:spPr>
        <p:txBody>
          <a:bodyPr wrap="square" anchor="t" lIns="0" rIns="0" tIns="0" bIns="0">
            <a:spAutoFit/>
          </a:bodyPr>
          <a:lstStyle/>
          <a:p>
            <a:pPr algn="r"/>
            <a:r>
              <a:rPr sz="750" b="0" i="0" spc="200">
                <a:solidFill>
                  <a:srgbClr val="C8CCD2"/>
                </a:solidFill>
                <a:latin typeface="Arial"/>
              </a:rPr>
              <a:t>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