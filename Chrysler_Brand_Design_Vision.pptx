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(placeholder) — Open with the through-line of the whole deck: Chrysler removes friction from everyday life through thoughtful, people-first design. Set a calm, confident, design-led tone — and signal the audience will never lose sight of that idea.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(placeholder) — Open the story: this is why Chrysler exists. State the central philosophy plainly, then the three ideas it rests on — we return to exactly these three at the close. Transition: 'This belief is not abstract. It begins with how we think.'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(placeholder) — How Chrysler thinks differently. The quote reframes luxury as the removal of friction. Introduce the four pillars that guide every design decision — People First, Everyday Ingenuity, Human-Centered Intelligence, Modern American Design. Transition: 'These principles are not abstract. They become tangible in every vehicle.'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(placeholder) — Chrysler thinks differently: rational rigor and human emotion are not opposites — together they remove friction. Transition: 'This way of thinking resolves into a clear design DNA.'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(placeholder) — The shared DNA every Chrysler carries — the four pillars made tangible. Transition: 'These principles are not abstract ideas. They come to life in every vehicle.'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(placeholder) — Reveal the full family at once. Frame it as evidence: 'Together, the portfolio shows how one philosophy serves different lifestyles while remaining unmistakably Chrysler.' Each vehicle that follows expresses one primary pillar. Image placeholders only; no specs.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(placeholder) — Pacifica — primary principle: People First. Let the image carry the emotion; the summary states the role this vehicle plays in the philosophy, and the bullets reinforce that one principle while quietly supporting the others. Tie every point back to removing friction for the people who use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(placeholder) — Pacifica Interior — primary principle: People First. One immersive rendering, one short caption. Speak to the lived experience and the calm of everyday use, not the features.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(placeholder) — 300 Concept — primary principle: Modern American Design. Let the image carry the emotion; the summary states the role this vehicle plays in the philosophy, and the bullets reinforce that one principle while quietly supporting the others. Tie every point back to removing friction for the people who use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(placeholder) — 300 Interior — primary principle: Modern American Design. One immersive rendering, one short caption. Speak to the lived experience and the calm of everyday use, not the features.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(placeholder) — Airflow — primary principle: Everyday Ingenuity. Let the image carry the emotion; the summary states the role this vehicle plays in the philosophy, and the bullets reinforce that one principle while quietly supporting the others. Tie every point back to removing friction for the people who use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(placeholder) — Airflow Interior — primary principle: Everyday Ingenuity. One immersive rendering, one short caption. Speak to the lived experience and the calm of everyday use, not the features.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(placeholder) — Arrow — primary principle: Accessible Design. Let the image carry the emotion; the summary states the role this vehicle plays in the philosophy, and the bullets reinforce that one principle while quietly supporting the others. Tie every point back to removing friction for the people who use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(placeholder) — Arrow Interior — primary principle: Accessible Design. One immersive rendering, one short caption. Speak to the lived experience and the calm of everyday use, not the features.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(placeholder) — Arrow Cross — primary principle: Purposeful Versatility. Let the image carry the emotion; the summary states the role this vehicle plays in the philosophy, and the bullets reinforce that one principle while quietly supporting the others. Tie every point back to removing friction for the people who use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(placeholder) — Arrow Cross Interior — primary principle: Purposeful Versatility. One immersive rendering, one short caption. Speak to the lived experience and the calm of everyday use, not the features.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(placeholder) — Why this philosophy creates a unique position: within Stellantis, only Chrysler owns human-centered, friction-free design. Differentiation, not overlap. Replace BRAND A–D with the relevant siblings. Transition: 'Together, these vehicles are more than a portfolio — they define Chrysler's future.'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(placeholder) — Human-Centered Intelligence in practice: technology that quietly supports and removes friction. AI is an enabler, never the brand. Six themes — swap ICON boxes for final iconography. Keep words minimal.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(placeholder) — Breadth of design capability across six domains, unified by one philosophy. Replace nodes as needed. Transition into the close: 'When every decision begins with people, this is what design becomes.'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(placeholder) — Come full circle: these are the same three ideas opened on slide 2 — Designed Around People, Removing Everyday Friction, Modern American Design. Deliver the closing statement as the final word; it should feel like a vision, not a summary.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0" y="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953951" y="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2191695" y="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0" y="685800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0" y="662025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11953951" y="685800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2191695" y="662025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839815" y="2953512"/>
            <a:ext cx="512064" cy="512064"/>
          </a:xfrm>
          <a:prstGeom prst="roundRect">
            <a:avLst/>
          </a:prstGeom>
          <a:noFill/>
          <a:ln w="19050">
            <a:solidFill>
              <a:srgbClr val="A9AE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952469" y="3055924"/>
            <a:ext cx="100584" cy="100584"/>
          </a:xfrm>
          <a:prstGeom prst="ellips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a:off x="5993434" y="3178820"/>
            <a:ext cx="274320" cy="164592"/>
          </a:xfrm>
          <a:prstGeom prst="triangl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0" y="3557016"/>
            <a:ext cx="12191695" cy="365760"/>
          </a:xfrm>
          <a:prstGeom prst="rect">
            <a:avLst/>
          </a:prstGeom>
          <a:noFill/>
        </p:spPr>
        <p:txBody>
          <a:bodyPr wrap="square" anchor="t" lIns="0" rIns="0" tIns="0" bIns="0">
            <a:spAutoFit/>
          </a:bodyPr>
          <a:lstStyle/>
          <a:p>
            <a:pPr algn="ctr"/>
            <a:r>
              <a:rPr sz="1050" b="1" i="0" spc="200">
                <a:solidFill>
                  <a:srgbClr val="868B94"/>
                </a:solidFill>
                <a:latin typeface="Arial"/>
              </a:rPr>
              <a:t>FULL-WIDTH HERO VEHICLE IMAGE</a:t>
            </a:r>
          </a:p>
        </p:txBody>
      </p:sp>
      <p:sp>
        <p:nvSpPr>
          <p:cNvPr id="15" name="TextBox 14"/>
          <p:cNvSpPr txBox="1"/>
          <p:nvPr/>
        </p:nvSpPr>
        <p:spPr>
          <a:xfrm>
            <a:off x="0" y="3831336"/>
            <a:ext cx="12191695" cy="274320"/>
          </a:xfrm>
          <a:prstGeom prst="rect">
            <a:avLst/>
          </a:prstGeom>
          <a:noFill/>
        </p:spPr>
        <p:txBody>
          <a:bodyPr wrap="square" anchor="t" lIns="0" rIns="0" tIns="0" bIns="0">
            <a:spAutoFit/>
          </a:bodyPr>
          <a:lstStyle/>
          <a:p>
            <a:pPr algn="ctr"/>
            <a:r>
              <a:rPr sz="800" b="0" i="0" spc="80">
                <a:solidFill>
                  <a:srgbClr val="C8CCD2"/>
                </a:solidFill>
                <a:latin typeface="Arial"/>
              </a:rPr>
              <a:t>Replace · cinematic full-bleed key visual</a:t>
            </a:r>
          </a:p>
        </p:txBody>
      </p:sp>
      <p:sp>
        <p:nvSpPr>
          <p:cNvPr id="16" name="Rectangle 15"/>
          <p:cNvSpPr/>
          <p:nvPr/>
        </p:nvSpPr>
        <p:spPr>
          <a:xfrm>
            <a:off x="0" y="4297680"/>
            <a:ext cx="7498079" cy="2560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777240" y="4709160"/>
            <a:ext cx="1828800" cy="0"/>
          </a:xfrm>
          <a:prstGeom prst="bentConnector3">
            <a:avLst/>
          </a:prstGeom>
          <a:ln w="19050">
            <a:solidFill>
              <a:srgbClr val="A9AEB5"/>
            </a:solidFill>
          </a:ln>
        </p:spPr>
        <p:style>
          <a:lnRef idx="2">
            <a:schemeClr val="accent1"/>
          </a:lnRef>
          <a:fillRef idx="0">
            <a:schemeClr val="accent1"/>
          </a:fillRef>
          <a:effectRef idx="1">
            <a:schemeClr val="accent1"/>
          </a:effectRef>
          <a:fontRef idx="minor">
            <a:schemeClr val="tx1"/>
          </a:fontRef>
        </p:style>
      </p:cxnSp>
      <p:sp>
        <p:nvSpPr>
          <p:cNvPr id="18" name="Diamond 17"/>
          <p:cNvSpPr/>
          <p:nvPr/>
        </p:nvSpPr>
        <p:spPr>
          <a:xfrm>
            <a:off x="1627632" y="4645152"/>
            <a:ext cx="128016" cy="128016"/>
          </a:xfrm>
          <a:prstGeom prst="diamond">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892040"/>
            <a:ext cx="7315200" cy="274320"/>
          </a:xfrm>
          <a:prstGeom prst="rect">
            <a:avLst/>
          </a:prstGeom>
          <a:noFill/>
        </p:spPr>
        <p:txBody>
          <a:bodyPr wrap="square" anchor="t" lIns="0" rIns="0" tIns="0" bIns="0">
            <a:spAutoFit/>
          </a:bodyPr>
          <a:lstStyle/>
          <a:p>
            <a:pPr algn="l"/>
            <a:r>
              <a:rPr sz="1100" b="1" i="0" spc="300">
                <a:solidFill>
                  <a:srgbClr val="1B2A4A"/>
                </a:solidFill>
                <a:latin typeface="Arial"/>
              </a:rPr>
              <a:t>STELLANTIS · CHRYSLER</a:t>
            </a:r>
          </a:p>
        </p:txBody>
      </p:sp>
      <p:sp>
        <p:nvSpPr>
          <p:cNvPr id="20" name="TextBox 19"/>
          <p:cNvSpPr txBox="1"/>
          <p:nvPr/>
        </p:nvSpPr>
        <p:spPr>
          <a:xfrm>
            <a:off x="749808" y="5212080"/>
            <a:ext cx="6400800" cy="914400"/>
          </a:xfrm>
          <a:prstGeom prst="rect">
            <a:avLst/>
          </a:prstGeom>
          <a:noFill/>
        </p:spPr>
        <p:txBody>
          <a:bodyPr wrap="square" anchor="t" lIns="0" rIns="0" tIns="0" bIns="0">
            <a:spAutoFit/>
          </a:bodyPr>
          <a:lstStyle/>
          <a:p>
            <a:pPr algn="l"/>
            <a:r>
              <a:rPr sz="4400" b="1" i="0">
                <a:solidFill>
                  <a:srgbClr val="1A1A1C"/>
                </a:solidFill>
                <a:latin typeface="Arial"/>
              </a:rPr>
              <a:t>Chrysler Design Vision</a:t>
            </a:r>
          </a:p>
        </p:txBody>
      </p:sp>
      <p:sp>
        <p:nvSpPr>
          <p:cNvPr id="21" name="TextBox 20"/>
          <p:cNvSpPr txBox="1"/>
          <p:nvPr/>
        </p:nvSpPr>
        <p:spPr>
          <a:xfrm>
            <a:off x="777240" y="6080760"/>
            <a:ext cx="6400800" cy="457200"/>
          </a:xfrm>
          <a:prstGeom prst="rect">
            <a:avLst/>
          </a:prstGeom>
          <a:noFill/>
        </p:spPr>
        <p:txBody>
          <a:bodyPr wrap="square" anchor="t" lIns="0" rIns="0" tIns="0" bIns="0">
            <a:spAutoFit/>
          </a:bodyPr>
          <a:lstStyle/>
          <a:p>
            <a:pPr algn="l"/>
            <a:r>
              <a:rPr sz="1600" b="0" i="0">
                <a:solidFill>
                  <a:srgbClr val="4A4E57"/>
                </a:solidFill>
                <a:latin typeface="Arial"/>
              </a:rPr>
              <a:t>The Future of Chrysler Design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40080"/>
            <a:ext cx="7315200" cy="274320"/>
          </a:xfrm>
          <a:prstGeom prst="rect">
            <a:avLst/>
          </a:prstGeom>
          <a:noFill/>
        </p:spPr>
        <p:txBody>
          <a:bodyPr wrap="square" anchor="t" lIns="0" rIns="0" tIns="0" bIns="0">
            <a:spAutoFit/>
          </a:bodyPr>
          <a:lstStyle/>
          <a:p>
            <a:pPr algn="l"/>
            <a:r>
              <a:rPr sz="1100" b="1" i="0" spc="300">
                <a:solidFill>
                  <a:srgbClr val="1B2A4A"/>
                </a:solidFill>
                <a:latin typeface="Arial"/>
              </a:rPr>
              <a:t>EXECUTIVE STORY</a:t>
            </a:r>
          </a:p>
        </p:txBody>
      </p:sp>
      <p:sp>
        <p:nvSpPr>
          <p:cNvPr id="3" name="TextBox 2"/>
          <p:cNvSpPr txBox="1"/>
          <p:nvPr/>
        </p:nvSpPr>
        <p:spPr>
          <a:xfrm>
            <a:off x="658368" y="960120"/>
            <a:ext cx="10058400" cy="822960"/>
          </a:xfrm>
          <a:prstGeom prst="rect">
            <a:avLst/>
          </a:prstGeom>
          <a:noFill/>
        </p:spPr>
        <p:txBody>
          <a:bodyPr wrap="square" anchor="t" lIns="0" rIns="0" tIns="0" bIns="0">
            <a:spAutoFit/>
          </a:bodyPr>
          <a:lstStyle/>
          <a:p>
            <a:pPr algn="l"/>
            <a:r>
              <a:rPr sz="3200" b="1" i="0">
                <a:solidFill>
                  <a:srgbClr val="1A1A1C"/>
                </a:solidFill>
                <a:latin typeface="Arial"/>
              </a:rPr>
              <a:t>Why Chrysler?</a:t>
            </a:r>
          </a:p>
        </p:txBody>
      </p:sp>
      <p:sp>
        <p:nvSpPr>
          <p:cNvPr id="4" name="Rectangle 3"/>
          <p:cNvSpPr/>
          <p:nvPr/>
        </p:nvSpPr>
        <p:spPr>
          <a:xfrm>
            <a:off x="685800" y="1920240"/>
            <a:ext cx="10817352" cy="109728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920240"/>
            <a:ext cx="10149840" cy="1097280"/>
          </a:xfrm>
          <a:prstGeom prst="rect">
            <a:avLst/>
          </a:prstGeom>
          <a:noFill/>
        </p:spPr>
        <p:txBody>
          <a:bodyPr wrap="square" anchor="ctr" lIns="0" rIns="0" tIns="0" bIns="0">
            <a:spAutoFit/>
          </a:bodyPr>
          <a:lstStyle/>
          <a:p>
            <a:pPr algn="l">
              <a:lnSpc>
                <a:spcPct val="125000"/>
              </a:lnSpc>
            </a:pPr>
            <a:r>
              <a:rPr sz="1700" b="0" i="1">
                <a:solidFill>
                  <a:srgbClr val="4A4E57"/>
                </a:solidFill>
                <a:latin typeface="Arial"/>
              </a:rPr>
              <a:t>Chrysler removes friction from everyday life through thoughtful, people-first design.</a:t>
            </a:r>
          </a:p>
        </p:txBody>
      </p:sp>
      <p:sp>
        <p:nvSpPr>
          <p:cNvPr id="6" name="Oval 5"/>
          <p:cNvSpPr/>
          <p:nvPr/>
        </p:nvSpPr>
        <p:spPr>
          <a:xfrm>
            <a:off x="685800" y="3611880"/>
            <a:ext cx="566928" cy="566928"/>
          </a:xfrm>
          <a:prstGeom prst="ellipse">
            <a:avLst/>
          </a:prstGeom>
          <a:noFill/>
          <a:ln w="15875">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86968" y="3813048"/>
            <a:ext cx="164592" cy="164592"/>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685800" y="4434840"/>
            <a:ext cx="3361944" cy="0"/>
          </a:xfrm>
          <a:prstGeom prst="bentConnector3">
            <a:avLst/>
          </a:prstGeom>
          <a:ln w="12700">
            <a:solidFill>
              <a:srgbClr val="C8CCD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4572000"/>
            <a:ext cx="3361944" cy="1371600"/>
          </a:xfrm>
          <a:prstGeom prst="rect">
            <a:avLst/>
          </a:prstGeom>
          <a:noFill/>
        </p:spPr>
        <p:txBody>
          <a:bodyPr wrap="square" anchor="t" lIns="0" rIns="0" tIns="0" bIns="0">
            <a:spAutoFit/>
          </a:bodyPr>
          <a:lstStyle/>
          <a:p>
            <a:pPr algn="l">
              <a:spcAft>
                <a:spcPts val="600"/>
              </a:spcAft>
            </a:pPr>
            <a:r>
              <a:rPr sz="1200" b="1" i="0" spc="200">
                <a:solidFill>
                  <a:srgbClr val="A9AEB5"/>
                </a:solidFill>
                <a:latin typeface="Arial"/>
              </a:rPr>
              <a:t>01</a:t>
            </a:r>
          </a:p>
          <a:p>
            <a:pPr algn="l">
              <a:spcAft>
                <a:spcPts val="500"/>
              </a:spcAft>
            </a:pPr>
            <a:r>
              <a:rPr sz="1600" b="1" i="0">
                <a:solidFill>
                  <a:srgbClr val="1A1A1C"/>
                </a:solidFill>
                <a:latin typeface="Arial"/>
              </a:rPr>
              <a:t>Designed Around People</a:t>
            </a:r>
          </a:p>
          <a:p>
            <a:pPr algn="l">
              <a:lnSpc>
                <a:spcPct val="120000"/>
              </a:lnSpc>
            </a:pPr>
            <a:r>
              <a:rPr sz="1100" b="0" i="0">
                <a:solidFill>
                  <a:srgbClr val="868B94"/>
                </a:solidFill>
                <a:latin typeface="Arial"/>
              </a:rPr>
              <a:t>Every decision begins with the people who use it.</a:t>
            </a:r>
          </a:p>
        </p:txBody>
      </p:sp>
      <p:sp>
        <p:nvSpPr>
          <p:cNvPr id="10" name="Oval 9"/>
          <p:cNvSpPr/>
          <p:nvPr/>
        </p:nvSpPr>
        <p:spPr>
          <a:xfrm>
            <a:off x="4413504" y="3611880"/>
            <a:ext cx="566928" cy="566928"/>
          </a:xfrm>
          <a:prstGeom prst="ellipse">
            <a:avLst/>
          </a:prstGeom>
          <a:noFill/>
          <a:ln w="15875">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14672" y="3813048"/>
            <a:ext cx="164592" cy="164592"/>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4413504" y="4434840"/>
            <a:ext cx="3361944" cy="0"/>
          </a:xfrm>
          <a:prstGeom prst="bentConnector3">
            <a:avLst/>
          </a:prstGeom>
          <a:ln w="12700">
            <a:solidFill>
              <a:srgbClr val="C8CCD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413504" y="4572000"/>
            <a:ext cx="3361944" cy="1371600"/>
          </a:xfrm>
          <a:prstGeom prst="rect">
            <a:avLst/>
          </a:prstGeom>
          <a:noFill/>
        </p:spPr>
        <p:txBody>
          <a:bodyPr wrap="square" anchor="t" lIns="0" rIns="0" tIns="0" bIns="0">
            <a:spAutoFit/>
          </a:bodyPr>
          <a:lstStyle/>
          <a:p>
            <a:pPr algn="l">
              <a:spcAft>
                <a:spcPts val="600"/>
              </a:spcAft>
            </a:pPr>
            <a:r>
              <a:rPr sz="1200" b="1" i="0" spc="200">
                <a:solidFill>
                  <a:srgbClr val="A9AEB5"/>
                </a:solidFill>
                <a:latin typeface="Arial"/>
              </a:rPr>
              <a:t>02</a:t>
            </a:r>
          </a:p>
          <a:p>
            <a:pPr algn="l">
              <a:spcAft>
                <a:spcPts val="500"/>
              </a:spcAft>
            </a:pPr>
            <a:r>
              <a:rPr sz="1600" b="1" i="0">
                <a:solidFill>
                  <a:srgbClr val="1A1A1C"/>
                </a:solidFill>
                <a:latin typeface="Arial"/>
              </a:rPr>
              <a:t>Removing Everyday Friction</a:t>
            </a:r>
          </a:p>
          <a:p>
            <a:pPr algn="l">
              <a:lnSpc>
                <a:spcPct val="120000"/>
              </a:lnSpc>
            </a:pPr>
            <a:r>
              <a:rPr sz="1100" b="0" i="0">
                <a:solidFill>
                  <a:srgbClr val="868B94"/>
                </a:solidFill>
                <a:latin typeface="Arial"/>
              </a:rPr>
              <a:t>Thoughtful design that makes daily life easier.</a:t>
            </a:r>
          </a:p>
        </p:txBody>
      </p:sp>
      <p:sp>
        <p:nvSpPr>
          <p:cNvPr id="14" name="Oval 13"/>
          <p:cNvSpPr/>
          <p:nvPr/>
        </p:nvSpPr>
        <p:spPr>
          <a:xfrm>
            <a:off x="8141208" y="3611880"/>
            <a:ext cx="566928" cy="566928"/>
          </a:xfrm>
          <a:prstGeom prst="ellipse">
            <a:avLst/>
          </a:prstGeom>
          <a:noFill/>
          <a:ln w="15875">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342376" y="3813048"/>
            <a:ext cx="164592" cy="164592"/>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8141208" y="4434840"/>
            <a:ext cx="3361944" cy="0"/>
          </a:xfrm>
          <a:prstGeom prst="bentConnector3">
            <a:avLst/>
          </a:prstGeom>
          <a:ln w="12700">
            <a:solidFill>
              <a:srgbClr val="C8CCD2"/>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141208" y="4572000"/>
            <a:ext cx="3361944" cy="1371600"/>
          </a:xfrm>
          <a:prstGeom prst="rect">
            <a:avLst/>
          </a:prstGeom>
          <a:noFill/>
        </p:spPr>
        <p:txBody>
          <a:bodyPr wrap="square" anchor="t" lIns="0" rIns="0" tIns="0" bIns="0">
            <a:spAutoFit/>
          </a:bodyPr>
          <a:lstStyle/>
          <a:p>
            <a:pPr algn="l">
              <a:spcAft>
                <a:spcPts val="600"/>
              </a:spcAft>
            </a:pPr>
            <a:r>
              <a:rPr sz="1200" b="1" i="0" spc="200">
                <a:solidFill>
                  <a:srgbClr val="A9AEB5"/>
                </a:solidFill>
                <a:latin typeface="Arial"/>
              </a:rPr>
              <a:t>03</a:t>
            </a:r>
          </a:p>
          <a:p>
            <a:pPr algn="l">
              <a:spcAft>
                <a:spcPts val="500"/>
              </a:spcAft>
            </a:pPr>
            <a:r>
              <a:rPr sz="1600" b="1" i="0">
                <a:solidFill>
                  <a:srgbClr val="1A1A1C"/>
                </a:solidFill>
                <a:latin typeface="Arial"/>
              </a:rPr>
              <a:t>Modern American Design</a:t>
            </a:r>
          </a:p>
          <a:p>
            <a:pPr algn="l">
              <a:lnSpc>
                <a:spcPct val="120000"/>
              </a:lnSpc>
            </a:pPr>
            <a:r>
              <a:rPr sz="1100" b="0" i="0">
                <a:solidFill>
                  <a:srgbClr val="868B94"/>
                </a:solidFill>
                <a:latin typeface="Arial"/>
              </a:rPr>
              <a:t>Confident, optimistic, unmistakably Chrysler.</a:t>
            </a:r>
          </a:p>
        </p:txBody>
      </p:sp>
      <p:sp>
        <p:nvSpPr>
          <p:cNvPr id="18" name="TextBox 17"/>
          <p:cNvSpPr txBox="1"/>
          <p:nvPr/>
        </p:nvSpPr>
        <p:spPr>
          <a:xfrm>
            <a:off x="640080" y="6437376"/>
            <a:ext cx="7315200" cy="274320"/>
          </a:xfrm>
          <a:prstGeom prst="rect">
            <a:avLst/>
          </a:prstGeom>
          <a:noFill/>
        </p:spPr>
        <p:txBody>
          <a:bodyPr wrap="square" anchor="t" lIns="0" rIns="0" tIns="0" bIns="0">
            <a:spAutoFit/>
          </a:bodyPr>
          <a:lstStyle/>
          <a:p>
            <a:pPr algn="l"/>
            <a:r>
              <a:rPr sz="800" b="0" i="0" spc="150">
                <a:solidFill>
                  <a:srgbClr val="868B94"/>
                </a:solidFill>
                <a:latin typeface="Arial"/>
              </a:rPr>
              <a:t>CHRYSLER  ·  BRAND DESIGN VISION</a:t>
            </a:r>
          </a:p>
        </p:txBody>
      </p:sp>
      <p:sp>
        <p:nvSpPr>
          <p:cNvPr id="19" name="TextBox 18"/>
          <p:cNvSpPr txBox="1"/>
          <p:nvPr/>
        </p:nvSpPr>
        <p:spPr>
          <a:xfrm>
            <a:off x="10607040" y="6437376"/>
            <a:ext cx="914400" cy="274320"/>
          </a:xfrm>
          <a:prstGeom prst="rect">
            <a:avLst/>
          </a:prstGeom>
          <a:noFill/>
        </p:spPr>
        <p:txBody>
          <a:bodyPr wrap="square" anchor="t" lIns="0" rIns="0" tIns="0" bIns="0">
            <a:spAutoFit/>
          </a:bodyPr>
          <a:lstStyle/>
          <a:p>
            <a:pPr algn="r"/>
            <a:r>
              <a:rPr sz="800" b="0" i="0" spc="150">
                <a:solidFill>
                  <a:srgbClr val="868B94"/>
                </a:solidFill>
                <a:latin typeface="Arial"/>
              </a:rPr>
              <a:t>02</a:t>
            </a:r>
          </a:p>
        </p:txBody>
      </p:sp>
      <p:sp>
        <p:nvSpPr>
          <p:cNvPr id="20" name="TextBox 19"/>
          <p:cNvSpPr txBox="1"/>
          <p:nvPr/>
        </p:nvSpPr>
        <p:spPr>
          <a:xfrm>
            <a:off x="10424160" y="310896"/>
            <a:ext cx="1097280" cy="274320"/>
          </a:xfrm>
          <a:prstGeom prst="rect">
            <a:avLst/>
          </a:prstGeom>
          <a:noFill/>
        </p:spPr>
        <p:txBody>
          <a:bodyPr wrap="square" anchor="t" lIns="0" rIns="0" tIns="0" bIns="0">
            <a:spAutoFit/>
          </a:bodyPr>
          <a:lstStyle/>
          <a:p>
            <a:pPr algn="r"/>
            <a:r>
              <a:rPr sz="750" b="0" i="0" spc="200">
                <a:solidFill>
                  <a:srgbClr val="C8CCD2"/>
                </a:solidFill>
                <a:latin typeface="Arial"/>
              </a:rPr>
              <a:t>CONFIDENTIAL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40080"/>
            <a:ext cx="7315200" cy="274320"/>
          </a:xfrm>
          <a:prstGeom prst="rect">
            <a:avLst/>
          </a:prstGeom>
          <a:noFill/>
        </p:spPr>
        <p:txBody>
          <a:bodyPr wrap="square" anchor="t" lIns="0" rIns="0" tIns="0" bIns="0">
            <a:spAutoFit/>
          </a:bodyPr>
          <a:lstStyle/>
          <a:p>
            <a:pPr algn="l"/>
            <a:r>
              <a:rPr sz="1100" b="1" i="0" spc="300">
                <a:solidFill>
                  <a:srgbClr val="1B2A4A"/>
                </a:solidFill>
                <a:latin typeface="Arial"/>
              </a:rPr>
              <a:t>THE VISION</a:t>
            </a:r>
          </a:p>
        </p:txBody>
      </p:sp>
      <p:sp>
        <p:nvSpPr>
          <p:cNvPr id="3" name="TextBox 2"/>
          <p:cNvSpPr txBox="1"/>
          <p:nvPr/>
        </p:nvSpPr>
        <p:spPr>
          <a:xfrm>
            <a:off x="658368" y="960120"/>
            <a:ext cx="10515600" cy="822960"/>
          </a:xfrm>
          <a:prstGeom prst="rect">
            <a:avLst/>
          </a:prstGeom>
          <a:noFill/>
        </p:spPr>
        <p:txBody>
          <a:bodyPr wrap="square" anchor="t" lIns="0" rIns="0" tIns="0" bIns="0">
            <a:spAutoFit/>
          </a:bodyPr>
          <a:lstStyle/>
          <a:p>
            <a:pPr algn="l"/>
            <a:r>
              <a:rPr sz="2800" b="1" i="0">
                <a:solidFill>
                  <a:srgbClr val="1A1A1C"/>
                </a:solidFill>
                <a:latin typeface="Arial"/>
              </a:rPr>
              <a:t>What is the Vision of Chrysler Design?</a:t>
            </a:r>
          </a:p>
        </p:txBody>
      </p:sp>
      <p:sp>
        <p:nvSpPr>
          <p:cNvPr id="4" name="TextBox 3"/>
          <p:cNvSpPr txBox="1"/>
          <p:nvPr/>
        </p:nvSpPr>
        <p:spPr>
          <a:xfrm>
            <a:off x="685800" y="2103120"/>
            <a:ext cx="5852160" cy="2377440"/>
          </a:xfrm>
          <a:prstGeom prst="rect">
            <a:avLst/>
          </a:prstGeom>
          <a:noFill/>
        </p:spPr>
        <p:txBody>
          <a:bodyPr wrap="square" anchor="t" lIns="0" rIns="0" tIns="0" bIns="0">
            <a:spAutoFit/>
          </a:bodyPr>
          <a:lstStyle/>
          <a:p>
            <a:pPr algn="l">
              <a:spcAft>
                <a:spcPts val="0"/>
              </a:spcAft>
            </a:pPr>
            <a:r>
              <a:rPr sz="6000" b="1" i="0">
                <a:solidFill>
                  <a:srgbClr val="C8CCD2"/>
                </a:solidFill>
                <a:latin typeface="Arial"/>
              </a:rPr>
              <a:t>“</a:t>
            </a:r>
          </a:p>
          <a:p>
            <a:pPr algn="l">
              <a:lnSpc>
                <a:spcPct val="120000"/>
              </a:lnSpc>
            </a:pPr>
            <a:r>
              <a:rPr sz="2200" b="0" i="0">
                <a:solidFill>
                  <a:srgbClr val="1A1A1C"/>
                </a:solidFill>
                <a:latin typeface="Arial"/>
              </a:rPr>
              <a:t>Luxury is no longer ornament. It is the removal of friction from everyday life.</a:t>
            </a:r>
          </a:p>
        </p:txBody>
      </p:sp>
      <p:sp>
        <p:nvSpPr>
          <p:cNvPr id="5" name="Diamond 4"/>
          <p:cNvSpPr/>
          <p:nvPr/>
        </p:nvSpPr>
        <p:spPr>
          <a:xfrm>
            <a:off x="713232" y="4562856"/>
            <a:ext cx="146304" cy="146304"/>
          </a:xfrm>
          <a:prstGeom prst="diamond">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4526280"/>
            <a:ext cx="5577840" cy="457200"/>
          </a:xfrm>
          <a:prstGeom prst="rect">
            <a:avLst/>
          </a:prstGeom>
          <a:noFill/>
        </p:spPr>
        <p:txBody>
          <a:bodyPr wrap="square" anchor="t" lIns="0" rIns="0" tIns="0" bIns="0">
            <a:spAutoFit/>
          </a:bodyPr>
          <a:lstStyle/>
          <a:p>
            <a:pPr algn="l"/>
            <a:r>
              <a:rPr sz="1300" b="0" i="0">
                <a:solidFill>
                  <a:srgbClr val="4A4E57"/>
                </a:solidFill>
                <a:latin typeface="Arial"/>
              </a:rPr>
              <a:t>People First  —  every decision begins with people</a:t>
            </a:r>
          </a:p>
        </p:txBody>
      </p:sp>
      <p:sp>
        <p:nvSpPr>
          <p:cNvPr id="7" name="Diamond 6"/>
          <p:cNvSpPr/>
          <p:nvPr/>
        </p:nvSpPr>
        <p:spPr>
          <a:xfrm>
            <a:off x="713232" y="5020056"/>
            <a:ext cx="146304" cy="146304"/>
          </a:xfrm>
          <a:prstGeom prst="diamond">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4983480"/>
            <a:ext cx="5577840" cy="457200"/>
          </a:xfrm>
          <a:prstGeom prst="rect">
            <a:avLst/>
          </a:prstGeom>
          <a:noFill/>
        </p:spPr>
        <p:txBody>
          <a:bodyPr wrap="square" anchor="t" lIns="0" rIns="0" tIns="0" bIns="0">
            <a:spAutoFit/>
          </a:bodyPr>
          <a:lstStyle/>
          <a:p>
            <a:pPr algn="l"/>
            <a:r>
              <a:rPr sz="1300" b="0" i="0">
                <a:solidFill>
                  <a:srgbClr val="4A4E57"/>
                </a:solidFill>
                <a:latin typeface="Arial"/>
              </a:rPr>
              <a:t>Everyday Ingenuity  —  solutions that make daily life easier</a:t>
            </a:r>
          </a:p>
        </p:txBody>
      </p:sp>
      <p:sp>
        <p:nvSpPr>
          <p:cNvPr id="9" name="Diamond 8"/>
          <p:cNvSpPr/>
          <p:nvPr/>
        </p:nvSpPr>
        <p:spPr>
          <a:xfrm>
            <a:off x="713232" y="5477256"/>
            <a:ext cx="146304" cy="146304"/>
          </a:xfrm>
          <a:prstGeom prst="diamond">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440680"/>
            <a:ext cx="5577840" cy="457200"/>
          </a:xfrm>
          <a:prstGeom prst="rect">
            <a:avLst/>
          </a:prstGeom>
          <a:noFill/>
        </p:spPr>
        <p:txBody>
          <a:bodyPr wrap="square" anchor="t" lIns="0" rIns="0" tIns="0" bIns="0">
            <a:spAutoFit/>
          </a:bodyPr>
          <a:lstStyle/>
          <a:p>
            <a:pPr algn="l"/>
            <a:r>
              <a:rPr sz="1300" b="0" i="0">
                <a:solidFill>
                  <a:srgbClr val="4A4E57"/>
                </a:solidFill>
                <a:latin typeface="Arial"/>
              </a:rPr>
              <a:t>Human-Centered Intelligence  —  technology that quietly supports</a:t>
            </a:r>
          </a:p>
        </p:txBody>
      </p:sp>
      <p:sp>
        <p:nvSpPr>
          <p:cNvPr id="11" name="Diamond 10"/>
          <p:cNvSpPr/>
          <p:nvPr/>
        </p:nvSpPr>
        <p:spPr>
          <a:xfrm>
            <a:off x="713232" y="5934456"/>
            <a:ext cx="146304" cy="146304"/>
          </a:xfrm>
          <a:prstGeom prst="diamond">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5897880"/>
            <a:ext cx="5577840" cy="457200"/>
          </a:xfrm>
          <a:prstGeom prst="rect">
            <a:avLst/>
          </a:prstGeom>
          <a:noFill/>
        </p:spPr>
        <p:txBody>
          <a:bodyPr wrap="square" anchor="t" lIns="0" rIns="0" tIns="0" bIns="0">
            <a:spAutoFit/>
          </a:bodyPr>
          <a:lstStyle/>
          <a:p>
            <a:pPr algn="l"/>
            <a:r>
              <a:rPr sz="1300" b="0" i="0">
                <a:solidFill>
                  <a:srgbClr val="4A4E57"/>
                </a:solidFill>
                <a:latin typeface="Arial"/>
              </a:rPr>
              <a:t>Modern American Design  —  confident, optimistic, unmistakably Chrysler</a:t>
            </a:r>
          </a:p>
        </p:txBody>
      </p:sp>
      <p:sp>
        <p:nvSpPr>
          <p:cNvPr id="13" name="Rectangle 12"/>
          <p:cNvSpPr/>
          <p:nvPr/>
        </p:nvSpPr>
        <p:spPr>
          <a:xfrm>
            <a:off x="6858000" y="2011680"/>
            <a:ext cx="4645152" cy="4023360"/>
          </a:xfrm>
          <a:prstGeom prst="rect">
            <a:avLst/>
          </a:prstGeom>
          <a:solidFill>
            <a:srgbClr val="EF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6858000" y="201168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858000" y="201168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1265408" y="201168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503152" y="201168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858000" y="603504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6858000" y="579729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1265408" y="603504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1503152" y="579729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924544" y="3547872"/>
            <a:ext cx="512064" cy="512064"/>
          </a:xfrm>
          <a:prstGeom prst="roundRect">
            <a:avLst/>
          </a:prstGeom>
          <a:noFill/>
          <a:ln w="19050">
            <a:solidFill>
              <a:srgbClr val="A9AE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037198" y="3650284"/>
            <a:ext cx="100584" cy="100584"/>
          </a:xfrm>
          <a:prstGeom prst="ellips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9078163" y="3773180"/>
            <a:ext cx="274320" cy="164592"/>
          </a:xfrm>
          <a:prstGeom prst="triangl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0" y="4151376"/>
            <a:ext cx="4645152" cy="365760"/>
          </a:xfrm>
          <a:prstGeom prst="rect">
            <a:avLst/>
          </a:prstGeom>
          <a:noFill/>
        </p:spPr>
        <p:txBody>
          <a:bodyPr wrap="square" anchor="t" lIns="0" rIns="0" tIns="0" bIns="0">
            <a:spAutoFit/>
          </a:bodyPr>
          <a:lstStyle/>
          <a:p>
            <a:pPr algn="ctr"/>
            <a:r>
              <a:rPr sz="1050" b="1" i="0" spc="200">
                <a:solidFill>
                  <a:srgbClr val="868B94"/>
                </a:solidFill>
                <a:latin typeface="Arial"/>
              </a:rPr>
              <a:t>SUPPORTING VISUAL</a:t>
            </a:r>
          </a:p>
        </p:txBody>
      </p:sp>
      <p:sp>
        <p:nvSpPr>
          <p:cNvPr id="26" name="TextBox 25"/>
          <p:cNvSpPr txBox="1"/>
          <p:nvPr/>
        </p:nvSpPr>
        <p:spPr>
          <a:xfrm>
            <a:off x="6858000" y="4425696"/>
            <a:ext cx="4645152" cy="274320"/>
          </a:xfrm>
          <a:prstGeom prst="rect">
            <a:avLst/>
          </a:prstGeom>
          <a:noFill/>
        </p:spPr>
        <p:txBody>
          <a:bodyPr wrap="square" anchor="t" lIns="0" rIns="0" tIns="0" bIns="0">
            <a:spAutoFit/>
          </a:bodyPr>
          <a:lstStyle/>
          <a:p>
            <a:pPr algn="ctr"/>
            <a:r>
              <a:rPr sz="800" b="0" i="0" spc="80">
                <a:solidFill>
                  <a:srgbClr val="C8CCD2"/>
                </a:solidFill>
                <a:latin typeface="Arial"/>
              </a:rPr>
              <a:t>Replace · 16:9 · 300dpi</a:t>
            </a:r>
          </a:p>
        </p:txBody>
      </p:sp>
      <p:sp>
        <p:nvSpPr>
          <p:cNvPr id="27" name="TextBox 26"/>
          <p:cNvSpPr txBox="1"/>
          <p:nvPr/>
        </p:nvSpPr>
        <p:spPr>
          <a:xfrm>
            <a:off x="640080" y="6437376"/>
            <a:ext cx="7315200" cy="274320"/>
          </a:xfrm>
          <a:prstGeom prst="rect">
            <a:avLst/>
          </a:prstGeom>
          <a:noFill/>
        </p:spPr>
        <p:txBody>
          <a:bodyPr wrap="square" anchor="t" lIns="0" rIns="0" tIns="0" bIns="0">
            <a:spAutoFit/>
          </a:bodyPr>
          <a:lstStyle/>
          <a:p>
            <a:pPr algn="l"/>
            <a:r>
              <a:rPr sz="800" b="0" i="0" spc="150">
                <a:solidFill>
                  <a:srgbClr val="868B94"/>
                </a:solidFill>
                <a:latin typeface="Arial"/>
              </a:rPr>
              <a:t>CHRYSLER  ·  BRAND DESIGN VISION</a:t>
            </a:r>
          </a:p>
        </p:txBody>
      </p:sp>
      <p:sp>
        <p:nvSpPr>
          <p:cNvPr id="28" name="TextBox 27"/>
          <p:cNvSpPr txBox="1"/>
          <p:nvPr/>
        </p:nvSpPr>
        <p:spPr>
          <a:xfrm>
            <a:off x="10607040" y="6437376"/>
            <a:ext cx="914400" cy="274320"/>
          </a:xfrm>
          <a:prstGeom prst="rect">
            <a:avLst/>
          </a:prstGeom>
          <a:noFill/>
        </p:spPr>
        <p:txBody>
          <a:bodyPr wrap="square" anchor="t" lIns="0" rIns="0" tIns="0" bIns="0">
            <a:spAutoFit/>
          </a:bodyPr>
          <a:lstStyle/>
          <a:p>
            <a:pPr algn="r"/>
            <a:r>
              <a:rPr sz="800" b="0" i="0" spc="150">
                <a:solidFill>
                  <a:srgbClr val="868B94"/>
                </a:solidFill>
                <a:latin typeface="Arial"/>
              </a:rPr>
              <a:t>03</a:t>
            </a:r>
          </a:p>
        </p:txBody>
      </p:sp>
      <p:sp>
        <p:nvSpPr>
          <p:cNvPr id="29" name="TextBox 28"/>
          <p:cNvSpPr txBox="1"/>
          <p:nvPr/>
        </p:nvSpPr>
        <p:spPr>
          <a:xfrm>
            <a:off x="10424160" y="310896"/>
            <a:ext cx="1097280" cy="274320"/>
          </a:xfrm>
          <a:prstGeom prst="rect">
            <a:avLst/>
          </a:prstGeom>
          <a:noFill/>
        </p:spPr>
        <p:txBody>
          <a:bodyPr wrap="square" anchor="t" lIns="0" rIns="0" tIns="0" bIns="0">
            <a:spAutoFit/>
          </a:bodyPr>
          <a:lstStyle/>
          <a:p>
            <a:pPr algn="r"/>
            <a:r>
              <a:rPr sz="750" b="0" i="0" spc="200">
                <a:solidFill>
                  <a:srgbClr val="C8CCD2"/>
                </a:solidFill>
                <a:latin typeface="Arial"/>
              </a:rPr>
              <a:t>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40080"/>
            <a:ext cx="7315200" cy="274320"/>
          </a:xfrm>
          <a:prstGeom prst="rect">
            <a:avLst/>
          </a:prstGeom>
          <a:noFill/>
        </p:spPr>
        <p:txBody>
          <a:bodyPr wrap="square" anchor="t" lIns="0" rIns="0" tIns="0" bIns="0">
            <a:spAutoFit/>
          </a:bodyPr>
          <a:lstStyle/>
          <a:p>
            <a:pPr algn="l"/>
            <a:r>
              <a:rPr sz="1100" b="1" i="0" spc="300">
                <a:solidFill>
                  <a:srgbClr val="1B2A4A"/>
                </a:solidFill>
                <a:latin typeface="Arial"/>
              </a:rPr>
              <a:t>STRATEGIC FRAMEWORK</a:t>
            </a:r>
          </a:p>
        </p:txBody>
      </p:sp>
      <p:sp>
        <p:nvSpPr>
          <p:cNvPr id="3" name="TextBox 2"/>
          <p:cNvSpPr txBox="1"/>
          <p:nvPr/>
        </p:nvSpPr>
        <p:spPr>
          <a:xfrm>
            <a:off x="658368" y="960120"/>
            <a:ext cx="10515600" cy="822960"/>
          </a:xfrm>
          <a:prstGeom prst="rect">
            <a:avLst/>
          </a:prstGeom>
          <a:noFill/>
        </p:spPr>
        <p:txBody>
          <a:bodyPr wrap="square" anchor="t" lIns="0" rIns="0" tIns="0" bIns="0">
            <a:spAutoFit/>
          </a:bodyPr>
          <a:lstStyle/>
          <a:p>
            <a:pPr algn="l"/>
            <a:r>
              <a:rPr sz="2800" b="1" i="0">
                <a:solidFill>
                  <a:srgbClr val="1A1A1C"/>
                </a:solidFill>
                <a:latin typeface="Arial"/>
              </a:rPr>
              <a:t>Left Brain / Right Brain</a:t>
            </a:r>
          </a:p>
        </p:txBody>
      </p:sp>
      <p:sp>
        <p:nvSpPr>
          <p:cNvPr id="4" name="TextBox 3"/>
          <p:cNvSpPr txBox="1"/>
          <p:nvPr/>
        </p:nvSpPr>
        <p:spPr>
          <a:xfrm>
            <a:off x="685800" y="1600200"/>
            <a:ext cx="10515600" cy="365760"/>
          </a:xfrm>
          <a:prstGeom prst="rect">
            <a:avLst/>
          </a:prstGeom>
          <a:noFill/>
        </p:spPr>
        <p:txBody>
          <a:bodyPr wrap="square" anchor="t" lIns="0" rIns="0" tIns="0" bIns="0">
            <a:spAutoFit/>
          </a:bodyPr>
          <a:lstStyle/>
          <a:p>
            <a:pPr algn="l"/>
            <a:r>
              <a:rPr sz="1400" b="0" i="0">
                <a:solidFill>
                  <a:srgbClr val="4A4E57"/>
                </a:solidFill>
                <a:latin typeface="Arial"/>
              </a:rPr>
              <a:t>How Chrysler thinks — logic and feeling, held together.</a:t>
            </a:r>
          </a:p>
        </p:txBody>
      </p:sp>
      <p:sp>
        <p:nvSpPr>
          <p:cNvPr id="5" name="Rectangle 4"/>
          <p:cNvSpPr/>
          <p:nvPr/>
        </p:nvSpPr>
        <p:spPr>
          <a:xfrm>
            <a:off x="685800" y="2148840"/>
            <a:ext cx="5330952" cy="3794760"/>
          </a:xfrm>
          <a:prstGeom prst="rect">
            <a:avLst/>
          </a:prstGeom>
          <a:solidFill>
            <a:srgbClr val="EF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685800" y="214884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85800" y="214884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5779008" y="214884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16752" y="214884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 y="594360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685800" y="570585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779008" y="594360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6016752" y="570585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095244" y="3570732"/>
            <a:ext cx="512064" cy="512064"/>
          </a:xfrm>
          <a:prstGeom prst="roundRect">
            <a:avLst/>
          </a:prstGeom>
          <a:noFill/>
          <a:ln w="19050">
            <a:solidFill>
              <a:srgbClr val="A9AE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207898" y="3673144"/>
            <a:ext cx="100584" cy="100584"/>
          </a:xfrm>
          <a:prstGeom prst="ellips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3248863" y="3796040"/>
            <a:ext cx="274320" cy="164592"/>
          </a:xfrm>
          <a:prstGeom prst="triangl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174236"/>
            <a:ext cx="5330952" cy="365760"/>
          </a:xfrm>
          <a:prstGeom prst="rect">
            <a:avLst/>
          </a:prstGeom>
          <a:noFill/>
        </p:spPr>
        <p:txBody>
          <a:bodyPr wrap="square" anchor="t" lIns="0" rIns="0" tIns="0" bIns="0">
            <a:spAutoFit/>
          </a:bodyPr>
          <a:lstStyle/>
          <a:p>
            <a:pPr algn="ctr"/>
            <a:r>
              <a:rPr sz="1050" b="1" i="0" spc="200">
                <a:solidFill>
                  <a:srgbClr val="868B94"/>
                </a:solidFill>
                <a:latin typeface="Arial"/>
              </a:rPr>
              <a:t>LEFT BRAIN  ·  ENGINEERED FOR LIFE</a:t>
            </a:r>
          </a:p>
        </p:txBody>
      </p:sp>
      <p:sp>
        <p:nvSpPr>
          <p:cNvPr id="18" name="TextBox 17"/>
          <p:cNvSpPr txBox="1"/>
          <p:nvPr/>
        </p:nvSpPr>
        <p:spPr>
          <a:xfrm>
            <a:off x="685800" y="4448556"/>
            <a:ext cx="5330952" cy="274320"/>
          </a:xfrm>
          <a:prstGeom prst="rect">
            <a:avLst/>
          </a:prstGeom>
          <a:noFill/>
        </p:spPr>
        <p:txBody>
          <a:bodyPr wrap="square" anchor="t" lIns="0" rIns="0" tIns="0" bIns="0">
            <a:spAutoFit/>
          </a:bodyPr>
          <a:lstStyle/>
          <a:p>
            <a:pPr algn="ctr"/>
            <a:r>
              <a:rPr sz="800" b="0" i="0" spc="80">
                <a:solidFill>
                  <a:srgbClr val="C8CCD2"/>
                </a:solidFill>
                <a:latin typeface="Arial"/>
              </a:rPr>
              <a:t>Replace · board imagery</a:t>
            </a:r>
          </a:p>
        </p:txBody>
      </p:sp>
      <p:sp>
        <p:nvSpPr>
          <p:cNvPr id="19" name="Rectangle 18"/>
          <p:cNvSpPr/>
          <p:nvPr/>
        </p:nvSpPr>
        <p:spPr>
          <a:xfrm>
            <a:off x="6172200" y="2148840"/>
            <a:ext cx="5330952" cy="3794760"/>
          </a:xfrm>
          <a:prstGeom prst="rect">
            <a:avLst/>
          </a:prstGeom>
          <a:solidFill>
            <a:srgbClr val="EF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6172200" y="214884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172200" y="214884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11265408" y="214884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1503152" y="214884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172200" y="594360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6172200" y="570585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11265408" y="594360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11503152" y="570585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8581644" y="3570732"/>
            <a:ext cx="512064" cy="512064"/>
          </a:xfrm>
          <a:prstGeom prst="roundRect">
            <a:avLst/>
          </a:prstGeom>
          <a:noFill/>
          <a:ln w="19050">
            <a:solidFill>
              <a:srgbClr val="A9AE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694298" y="3673144"/>
            <a:ext cx="100584" cy="100584"/>
          </a:xfrm>
          <a:prstGeom prst="ellips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Isosceles Triangle 29"/>
          <p:cNvSpPr/>
          <p:nvPr/>
        </p:nvSpPr>
        <p:spPr>
          <a:xfrm>
            <a:off x="8735263" y="3796040"/>
            <a:ext cx="274320" cy="164592"/>
          </a:xfrm>
          <a:prstGeom prst="triangl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72200" y="4174236"/>
            <a:ext cx="5330952" cy="365760"/>
          </a:xfrm>
          <a:prstGeom prst="rect">
            <a:avLst/>
          </a:prstGeom>
          <a:noFill/>
        </p:spPr>
        <p:txBody>
          <a:bodyPr wrap="square" anchor="t" lIns="0" rIns="0" tIns="0" bIns="0">
            <a:spAutoFit/>
          </a:bodyPr>
          <a:lstStyle/>
          <a:p>
            <a:pPr algn="ctr"/>
            <a:r>
              <a:rPr sz="1050" b="1" i="0" spc="200">
                <a:solidFill>
                  <a:srgbClr val="868B94"/>
                </a:solidFill>
                <a:latin typeface="Arial"/>
              </a:rPr>
              <a:t>RIGHT BRAIN  ·  DESIGNED FOR PEOPLE</a:t>
            </a:r>
          </a:p>
        </p:txBody>
      </p:sp>
      <p:sp>
        <p:nvSpPr>
          <p:cNvPr id="32" name="TextBox 31"/>
          <p:cNvSpPr txBox="1"/>
          <p:nvPr/>
        </p:nvSpPr>
        <p:spPr>
          <a:xfrm>
            <a:off x="6172200" y="4448556"/>
            <a:ext cx="5330952" cy="274320"/>
          </a:xfrm>
          <a:prstGeom prst="rect">
            <a:avLst/>
          </a:prstGeom>
          <a:noFill/>
        </p:spPr>
        <p:txBody>
          <a:bodyPr wrap="square" anchor="t" lIns="0" rIns="0" tIns="0" bIns="0">
            <a:spAutoFit/>
          </a:bodyPr>
          <a:lstStyle/>
          <a:p>
            <a:pPr algn="ctr"/>
            <a:r>
              <a:rPr sz="800" b="0" i="0" spc="80">
                <a:solidFill>
                  <a:srgbClr val="C8CCD2"/>
                </a:solidFill>
                <a:latin typeface="Arial"/>
              </a:rPr>
              <a:t>Replace · board imagery</a:t>
            </a:r>
          </a:p>
        </p:txBody>
      </p:sp>
      <p:cxnSp>
        <p:nvCxnSpPr>
          <p:cNvPr id="33" name="Connector 32"/>
          <p:cNvCxnSpPr/>
          <p:nvPr/>
        </p:nvCxnSpPr>
        <p:spPr>
          <a:xfrm>
            <a:off x="5650992" y="4023360"/>
            <a:ext cx="868680" cy="0"/>
          </a:xfrm>
          <a:prstGeom prst="bentConnector3">
            <a:avLst/>
          </a:prstGeom>
          <a:ln w="19050">
            <a:solidFill>
              <a:srgbClr val="A9AEB5"/>
            </a:solidFill>
          </a:ln>
        </p:spPr>
        <p:style>
          <a:lnRef idx="2">
            <a:schemeClr val="accent1"/>
          </a:lnRef>
          <a:fillRef idx="0">
            <a:schemeClr val="accent1"/>
          </a:fillRef>
          <a:effectRef idx="1">
            <a:schemeClr val="accent1"/>
          </a:effectRef>
          <a:fontRef idx="minor">
            <a:schemeClr val="tx1"/>
          </a:fontRef>
        </p:style>
      </p:cxnSp>
      <p:sp>
        <p:nvSpPr>
          <p:cNvPr id="34" name="Diamond 33"/>
          <p:cNvSpPr/>
          <p:nvPr/>
        </p:nvSpPr>
        <p:spPr>
          <a:xfrm>
            <a:off x="6021324" y="3959352"/>
            <a:ext cx="128016" cy="128016"/>
          </a:xfrm>
          <a:prstGeom prst="diamond">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6437376"/>
            <a:ext cx="7315200" cy="274320"/>
          </a:xfrm>
          <a:prstGeom prst="rect">
            <a:avLst/>
          </a:prstGeom>
          <a:noFill/>
        </p:spPr>
        <p:txBody>
          <a:bodyPr wrap="square" anchor="t" lIns="0" rIns="0" tIns="0" bIns="0">
            <a:spAutoFit/>
          </a:bodyPr>
          <a:lstStyle/>
          <a:p>
            <a:pPr algn="l"/>
            <a:r>
              <a:rPr sz="800" b="0" i="0" spc="150">
                <a:solidFill>
                  <a:srgbClr val="868B94"/>
                </a:solidFill>
                <a:latin typeface="Arial"/>
              </a:rPr>
              <a:t>CHRYSLER  ·  BRAND DESIGN VISION</a:t>
            </a:r>
          </a:p>
        </p:txBody>
      </p:sp>
      <p:sp>
        <p:nvSpPr>
          <p:cNvPr id="36" name="TextBox 35"/>
          <p:cNvSpPr txBox="1"/>
          <p:nvPr/>
        </p:nvSpPr>
        <p:spPr>
          <a:xfrm>
            <a:off x="10607040" y="6437376"/>
            <a:ext cx="914400" cy="274320"/>
          </a:xfrm>
          <a:prstGeom prst="rect">
            <a:avLst/>
          </a:prstGeom>
          <a:noFill/>
        </p:spPr>
        <p:txBody>
          <a:bodyPr wrap="square" anchor="t" lIns="0" rIns="0" tIns="0" bIns="0">
            <a:spAutoFit/>
          </a:bodyPr>
          <a:lstStyle/>
          <a:p>
            <a:pPr algn="r"/>
            <a:r>
              <a:rPr sz="800" b="0" i="0" spc="150">
                <a:solidFill>
                  <a:srgbClr val="868B94"/>
                </a:solidFill>
                <a:latin typeface="Arial"/>
              </a:rPr>
              <a:t>04</a:t>
            </a:r>
          </a:p>
        </p:txBody>
      </p:sp>
      <p:sp>
        <p:nvSpPr>
          <p:cNvPr id="37" name="TextBox 36"/>
          <p:cNvSpPr txBox="1"/>
          <p:nvPr/>
        </p:nvSpPr>
        <p:spPr>
          <a:xfrm>
            <a:off x="10424160" y="310896"/>
            <a:ext cx="1097280" cy="274320"/>
          </a:xfrm>
          <a:prstGeom prst="rect">
            <a:avLst/>
          </a:prstGeom>
          <a:noFill/>
        </p:spPr>
        <p:txBody>
          <a:bodyPr wrap="square" anchor="t" lIns="0" rIns="0" tIns="0" bIns="0">
            <a:spAutoFit/>
          </a:bodyPr>
          <a:lstStyle/>
          <a:p>
            <a:pPr algn="r"/>
            <a:r>
              <a:rPr sz="750" b="0" i="0" spc="200">
                <a:solidFill>
                  <a:srgbClr val="C8CCD2"/>
                </a:solidFill>
                <a:latin typeface="Arial"/>
              </a:rPr>
              <a:t>CONFIDENTIAL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40080"/>
            <a:ext cx="7315200" cy="274320"/>
          </a:xfrm>
          <a:prstGeom prst="rect">
            <a:avLst/>
          </a:prstGeom>
          <a:noFill/>
        </p:spPr>
        <p:txBody>
          <a:bodyPr wrap="square" anchor="t" lIns="0" rIns="0" tIns="0" bIns="0">
            <a:spAutoFit/>
          </a:bodyPr>
          <a:lstStyle/>
          <a:p>
            <a:pPr algn="l"/>
            <a:r>
              <a:rPr sz="1100" b="1" i="0" spc="300">
                <a:solidFill>
                  <a:srgbClr val="1B2A4A"/>
                </a:solidFill>
                <a:latin typeface="Arial"/>
              </a:rPr>
              <a:t>BRAND FOUNDATION</a:t>
            </a:r>
          </a:p>
        </p:txBody>
      </p:sp>
      <p:sp>
        <p:nvSpPr>
          <p:cNvPr id="3" name="TextBox 2"/>
          <p:cNvSpPr txBox="1"/>
          <p:nvPr/>
        </p:nvSpPr>
        <p:spPr>
          <a:xfrm>
            <a:off x="658368" y="960120"/>
            <a:ext cx="10515600" cy="822960"/>
          </a:xfrm>
          <a:prstGeom prst="rect">
            <a:avLst/>
          </a:prstGeom>
          <a:noFill/>
        </p:spPr>
        <p:txBody>
          <a:bodyPr wrap="square" anchor="t" lIns="0" rIns="0" tIns="0" bIns="0">
            <a:spAutoFit/>
          </a:bodyPr>
          <a:lstStyle/>
          <a:p>
            <a:pPr algn="l"/>
            <a:r>
              <a:rPr sz="2800" b="1" i="0">
                <a:solidFill>
                  <a:srgbClr val="1A1A1C"/>
                </a:solidFill>
                <a:latin typeface="Arial"/>
              </a:rPr>
              <a:t>Chrysler Design DNA</a:t>
            </a:r>
          </a:p>
        </p:txBody>
      </p:sp>
      <p:sp>
        <p:nvSpPr>
          <p:cNvPr id="4" name="Rectangle 3"/>
          <p:cNvSpPr/>
          <p:nvPr/>
        </p:nvSpPr>
        <p:spPr>
          <a:xfrm>
            <a:off x="685800" y="1920240"/>
            <a:ext cx="5760720" cy="4023360"/>
          </a:xfrm>
          <a:prstGeom prst="rect">
            <a:avLst/>
          </a:prstGeom>
          <a:solidFill>
            <a:srgbClr val="EF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685800" y="192024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85800" y="192024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6208776" y="192024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446520" y="192024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85800" y="594360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685800" y="570585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208776" y="594360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6446520" y="570585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310128" y="3456432"/>
            <a:ext cx="512064" cy="512064"/>
          </a:xfrm>
          <a:prstGeom prst="roundRect">
            <a:avLst/>
          </a:prstGeom>
          <a:noFill/>
          <a:ln w="19050">
            <a:solidFill>
              <a:srgbClr val="A9AE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22782" y="3558844"/>
            <a:ext cx="100584" cy="100584"/>
          </a:xfrm>
          <a:prstGeom prst="ellips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3463747" y="3681740"/>
            <a:ext cx="274320" cy="164592"/>
          </a:xfrm>
          <a:prstGeom prst="triangl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4059936"/>
            <a:ext cx="5760720" cy="365760"/>
          </a:xfrm>
          <a:prstGeom prst="rect">
            <a:avLst/>
          </a:prstGeom>
          <a:noFill/>
        </p:spPr>
        <p:txBody>
          <a:bodyPr wrap="square" anchor="t" lIns="0" rIns="0" tIns="0" bIns="0">
            <a:spAutoFit/>
          </a:bodyPr>
          <a:lstStyle/>
          <a:p>
            <a:pPr algn="ctr"/>
            <a:r>
              <a:rPr sz="1050" b="1" i="0" spc="200">
                <a:solidFill>
                  <a:srgbClr val="868B94"/>
                </a:solidFill>
                <a:latin typeface="Arial"/>
              </a:rPr>
              <a:t>LARGE DESIGN-DNA GRAPHIC</a:t>
            </a:r>
          </a:p>
        </p:txBody>
      </p:sp>
      <p:sp>
        <p:nvSpPr>
          <p:cNvPr id="17" name="TextBox 16"/>
          <p:cNvSpPr txBox="1"/>
          <p:nvPr/>
        </p:nvSpPr>
        <p:spPr>
          <a:xfrm>
            <a:off x="685800" y="4334256"/>
            <a:ext cx="5760720" cy="274320"/>
          </a:xfrm>
          <a:prstGeom prst="rect">
            <a:avLst/>
          </a:prstGeom>
          <a:noFill/>
        </p:spPr>
        <p:txBody>
          <a:bodyPr wrap="square" anchor="t" lIns="0" rIns="0" tIns="0" bIns="0">
            <a:spAutoFit/>
          </a:bodyPr>
          <a:lstStyle/>
          <a:p>
            <a:pPr algn="ctr"/>
            <a:r>
              <a:rPr sz="800" b="0" i="0" spc="80">
                <a:solidFill>
                  <a:srgbClr val="C8CCD2"/>
                </a:solidFill>
                <a:latin typeface="Arial"/>
              </a:rPr>
              <a:t>Replace · 16:9 · 300dpi</a:t>
            </a:r>
          </a:p>
        </p:txBody>
      </p:sp>
      <p:sp>
        <p:nvSpPr>
          <p:cNvPr id="18" name="Rectangle 17"/>
          <p:cNvSpPr/>
          <p:nvPr/>
        </p:nvSpPr>
        <p:spPr>
          <a:xfrm>
            <a:off x="6720840" y="2011680"/>
            <a:ext cx="4782312" cy="1097280"/>
          </a:xfrm>
          <a:prstGeom prst="rect">
            <a:avLst/>
          </a:prstGeom>
          <a:solidFill>
            <a:srgbClr val="F7F8F9"/>
          </a:solidFill>
          <a:ln w="6350">
            <a:solidFill>
              <a:srgbClr val="C8C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720840" y="2011680"/>
            <a:ext cx="54864" cy="109728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95160" y="2212848"/>
            <a:ext cx="4325112" cy="731520"/>
          </a:xfrm>
          <a:prstGeom prst="rect">
            <a:avLst/>
          </a:prstGeom>
          <a:noFill/>
        </p:spPr>
        <p:txBody>
          <a:bodyPr wrap="square" anchor="t" lIns="0" rIns="0" tIns="0" bIns="0">
            <a:spAutoFit/>
          </a:bodyPr>
          <a:lstStyle/>
          <a:p>
            <a:pPr algn="l">
              <a:spcAft>
                <a:spcPts val="400"/>
              </a:spcAft>
            </a:pPr>
            <a:r>
              <a:rPr sz="1300" b="1" i="0">
                <a:solidFill>
                  <a:srgbClr val="1A1A1C"/>
                </a:solidFill>
                <a:latin typeface="Arial"/>
              </a:rPr>
              <a:t>The Four Pillars</a:t>
            </a:r>
          </a:p>
          <a:p>
            <a:pPr algn="l">
              <a:lnSpc>
                <a:spcPct val="120000"/>
              </a:lnSpc>
            </a:pPr>
            <a:r>
              <a:rPr sz="1050" b="0" i="0">
                <a:solidFill>
                  <a:srgbClr val="868B94"/>
                </a:solidFill>
                <a:latin typeface="Arial"/>
              </a:rPr>
              <a:t>People First · Everyday Ingenuity · Human-Centered Intelligence · Modern American Design</a:t>
            </a:r>
          </a:p>
        </p:txBody>
      </p:sp>
      <p:sp>
        <p:nvSpPr>
          <p:cNvPr id="21" name="Rectangle 20"/>
          <p:cNvSpPr/>
          <p:nvPr/>
        </p:nvSpPr>
        <p:spPr>
          <a:xfrm>
            <a:off x="6720840" y="3337560"/>
            <a:ext cx="4782312" cy="1097280"/>
          </a:xfrm>
          <a:prstGeom prst="rect">
            <a:avLst/>
          </a:prstGeom>
          <a:solidFill>
            <a:srgbClr val="F7F8F9"/>
          </a:solidFill>
          <a:ln w="6350">
            <a:solidFill>
              <a:srgbClr val="C8C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720840" y="3337560"/>
            <a:ext cx="54864" cy="109728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95160" y="3538728"/>
            <a:ext cx="4325112" cy="731520"/>
          </a:xfrm>
          <a:prstGeom prst="rect">
            <a:avLst/>
          </a:prstGeom>
          <a:noFill/>
        </p:spPr>
        <p:txBody>
          <a:bodyPr wrap="square" anchor="t" lIns="0" rIns="0" tIns="0" bIns="0">
            <a:spAutoFit/>
          </a:bodyPr>
          <a:lstStyle/>
          <a:p>
            <a:pPr algn="l">
              <a:spcAft>
                <a:spcPts val="400"/>
              </a:spcAft>
            </a:pPr>
            <a:r>
              <a:rPr sz="1300" b="1" i="0">
                <a:solidFill>
                  <a:srgbClr val="1A1A1C"/>
                </a:solidFill>
                <a:latin typeface="Arial"/>
              </a:rPr>
              <a:t>Brand Attributes</a:t>
            </a:r>
          </a:p>
          <a:p>
            <a:pPr algn="l">
              <a:lnSpc>
                <a:spcPct val="120000"/>
              </a:lnSpc>
            </a:pPr>
            <a:r>
              <a:rPr sz="1050" b="0" i="0">
                <a:solidFill>
                  <a:srgbClr val="868B94"/>
                </a:solidFill>
                <a:latin typeface="Arial"/>
              </a:rPr>
              <a:t>Confident · Approachable · Effortless · Calm</a:t>
            </a:r>
          </a:p>
        </p:txBody>
      </p:sp>
      <p:sp>
        <p:nvSpPr>
          <p:cNvPr id="24" name="Rectangle 23"/>
          <p:cNvSpPr/>
          <p:nvPr/>
        </p:nvSpPr>
        <p:spPr>
          <a:xfrm>
            <a:off x="6720840" y="4663440"/>
            <a:ext cx="4782312" cy="1097280"/>
          </a:xfrm>
          <a:prstGeom prst="rect">
            <a:avLst/>
          </a:prstGeom>
          <a:solidFill>
            <a:srgbClr val="F7F8F9"/>
          </a:solidFill>
          <a:ln w="6350">
            <a:solidFill>
              <a:srgbClr val="C8C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720840" y="4663440"/>
            <a:ext cx="54864" cy="109728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95160" y="4864608"/>
            <a:ext cx="4325112" cy="731520"/>
          </a:xfrm>
          <a:prstGeom prst="rect">
            <a:avLst/>
          </a:prstGeom>
          <a:noFill/>
        </p:spPr>
        <p:txBody>
          <a:bodyPr wrap="square" anchor="t" lIns="0" rIns="0" tIns="0" bIns="0">
            <a:spAutoFit/>
          </a:bodyPr>
          <a:lstStyle/>
          <a:p>
            <a:pPr algn="l">
              <a:spcAft>
                <a:spcPts val="400"/>
              </a:spcAft>
            </a:pPr>
            <a:r>
              <a:rPr sz="1300" b="1" i="0">
                <a:solidFill>
                  <a:srgbClr val="1A1A1C"/>
                </a:solidFill>
                <a:latin typeface="Arial"/>
              </a:rPr>
              <a:t>Visual Language</a:t>
            </a:r>
          </a:p>
          <a:p>
            <a:pPr algn="l">
              <a:lnSpc>
                <a:spcPct val="120000"/>
              </a:lnSpc>
            </a:pPr>
            <a:r>
              <a:rPr sz="1050" b="0" i="0">
                <a:solidFill>
                  <a:srgbClr val="868B94"/>
                </a:solidFill>
                <a:latin typeface="Arial"/>
              </a:rPr>
              <a:t>Calm architecture · Warm materials · Human scale</a:t>
            </a:r>
          </a:p>
        </p:txBody>
      </p:sp>
      <p:sp>
        <p:nvSpPr>
          <p:cNvPr id="27" name="TextBox 26"/>
          <p:cNvSpPr txBox="1"/>
          <p:nvPr/>
        </p:nvSpPr>
        <p:spPr>
          <a:xfrm>
            <a:off x="640080" y="6437376"/>
            <a:ext cx="7315200" cy="274320"/>
          </a:xfrm>
          <a:prstGeom prst="rect">
            <a:avLst/>
          </a:prstGeom>
          <a:noFill/>
        </p:spPr>
        <p:txBody>
          <a:bodyPr wrap="square" anchor="t" lIns="0" rIns="0" tIns="0" bIns="0">
            <a:spAutoFit/>
          </a:bodyPr>
          <a:lstStyle/>
          <a:p>
            <a:pPr algn="l"/>
            <a:r>
              <a:rPr sz="800" b="0" i="0" spc="150">
                <a:solidFill>
                  <a:srgbClr val="868B94"/>
                </a:solidFill>
                <a:latin typeface="Arial"/>
              </a:rPr>
              <a:t>CHRYSLER  ·  BRAND DESIGN VISION</a:t>
            </a:r>
          </a:p>
        </p:txBody>
      </p:sp>
      <p:sp>
        <p:nvSpPr>
          <p:cNvPr id="28" name="TextBox 27"/>
          <p:cNvSpPr txBox="1"/>
          <p:nvPr/>
        </p:nvSpPr>
        <p:spPr>
          <a:xfrm>
            <a:off x="10607040" y="6437376"/>
            <a:ext cx="914400" cy="274320"/>
          </a:xfrm>
          <a:prstGeom prst="rect">
            <a:avLst/>
          </a:prstGeom>
          <a:noFill/>
        </p:spPr>
        <p:txBody>
          <a:bodyPr wrap="square" anchor="t" lIns="0" rIns="0" tIns="0" bIns="0">
            <a:spAutoFit/>
          </a:bodyPr>
          <a:lstStyle/>
          <a:p>
            <a:pPr algn="r"/>
            <a:r>
              <a:rPr sz="800" b="0" i="0" spc="150">
                <a:solidFill>
                  <a:srgbClr val="868B94"/>
                </a:solidFill>
                <a:latin typeface="Arial"/>
              </a:rPr>
              <a:t>05</a:t>
            </a:r>
          </a:p>
        </p:txBody>
      </p:sp>
      <p:sp>
        <p:nvSpPr>
          <p:cNvPr id="29" name="TextBox 28"/>
          <p:cNvSpPr txBox="1"/>
          <p:nvPr/>
        </p:nvSpPr>
        <p:spPr>
          <a:xfrm>
            <a:off x="10424160" y="310896"/>
            <a:ext cx="1097280" cy="274320"/>
          </a:xfrm>
          <a:prstGeom prst="rect">
            <a:avLst/>
          </a:prstGeom>
          <a:noFill/>
        </p:spPr>
        <p:txBody>
          <a:bodyPr wrap="square" anchor="t" lIns="0" rIns="0" tIns="0" bIns="0">
            <a:spAutoFit/>
          </a:bodyPr>
          <a:lstStyle/>
          <a:p>
            <a:pPr algn="r"/>
            <a:r>
              <a:rPr sz="750" b="0" i="0" spc="200">
                <a:solidFill>
                  <a:srgbClr val="C8CCD2"/>
                </a:solidFill>
                <a:latin typeface="Arial"/>
              </a:rPr>
              <a:t>CONFIDENTIAL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40080"/>
            <a:ext cx="7315200" cy="274320"/>
          </a:xfrm>
          <a:prstGeom prst="rect">
            <a:avLst/>
          </a:prstGeom>
          <a:noFill/>
        </p:spPr>
        <p:txBody>
          <a:bodyPr wrap="square" anchor="t" lIns="0" rIns="0" tIns="0" bIns="0">
            <a:spAutoFit/>
          </a:bodyPr>
          <a:lstStyle/>
          <a:p>
            <a:pPr algn="l"/>
            <a:r>
              <a:rPr sz="1100" b="1" i="0" spc="300">
                <a:solidFill>
                  <a:srgbClr val="1B2A4A"/>
                </a:solidFill>
                <a:latin typeface="Arial"/>
              </a:rPr>
              <a:t>THE LINEUP</a:t>
            </a:r>
          </a:p>
        </p:txBody>
      </p:sp>
      <p:sp>
        <p:nvSpPr>
          <p:cNvPr id="3" name="TextBox 2"/>
          <p:cNvSpPr txBox="1"/>
          <p:nvPr/>
        </p:nvSpPr>
        <p:spPr>
          <a:xfrm>
            <a:off x="658368" y="960120"/>
            <a:ext cx="10515600" cy="822960"/>
          </a:xfrm>
          <a:prstGeom prst="rect">
            <a:avLst/>
          </a:prstGeom>
          <a:noFill/>
        </p:spPr>
        <p:txBody>
          <a:bodyPr wrap="square" anchor="t" lIns="0" rIns="0" tIns="0" bIns="0">
            <a:spAutoFit/>
          </a:bodyPr>
          <a:lstStyle/>
          <a:p>
            <a:pPr algn="l"/>
            <a:r>
              <a:rPr sz="2800" b="1" i="0">
                <a:solidFill>
                  <a:srgbClr val="1A1A1C"/>
                </a:solidFill>
                <a:latin typeface="Arial"/>
              </a:rPr>
              <a:t>Future Chrysler Portfolio</a:t>
            </a:r>
          </a:p>
        </p:txBody>
      </p:sp>
      <p:sp>
        <p:nvSpPr>
          <p:cNvPr id="4" name="TextBox 3"/>
          <p:cNvSpPr txBox="1"/>
          <p:nvPr/>
        </p:nvSpPr>
        <p:spPr>
          <a:xfrm>
            <a:off x="685800" y="1572768"/>
            <a:ext cx="10515600" cy="365760"/>
          </a:xfrm>
          <a:prstGeom prst="rect">
            <a:avLst/>
          </a:prstGeom>
          <a:noFill/>
        </p:spPr>
        <p:txBody>
          <a:bodyPr wrap="square" anchor="t" lIns="0" rIns="0" tIns="0" bIns="0">
            <a:spAutoFit/>
          </a:bodyPr>
          <a:lstStyle/>
          <a:p>
            <a:pPr algn="l"/>
            <a:r>
              <a:rPr sz="1400" b="0" i="0">
                <a:solidFill>
                  <a:srgbClr val="4A4E57"/>
                </a:solidFill>
                <a:latin typeface="Arial"/>
              </a:rPr>
              <a:t>One philosophy, serving different lives — and unmistakably Chrysler in every one.</a:t>
            </a:r>
          </a:p>
        </p:txBody>
      </p:sp>
      <p:sp>
        <p:nvSpPr>
          <p:cNvPr id="5" name="Rectangle 4"/>
          <p:cNvSpPr/>
          <p:nvPr/>
        </p:nvSpPr>
        <p:spPr>
          <a:xfrm>
            <a:off x="685800" y="2103120"/>
            <a:ext cx="1944014" cy="3017520"/>
          </a:xfrm>
          <a:prstGeom prst="rect">
            <a:avLst/>
          </a:prstGeom>
          <a:solidFill>
            <a:srgbClr val="EF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685800" y="210312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85800" y="210312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2392070" y="210312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629814" y="210312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 y="512064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685800" y="488289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2392070" y="512064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2629814" y="488289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401775" y="3136392"/>
            <a:ext cx="512064" cy="512064"/>
          </a:xfrm>
          <a:prstGeom prst="roundRect">
            <a:avLst/>
          </a:prstGeom>
          <a:noFill/>
          <a:ln w="19050">
            <a:solidFill>
              <a:srgbClr val="A9AE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514429" y="3238804"/>
            <a:ext cx="100584" cy="100584"/>
          </a:xfrm>
          <a:prstGeom prst="ellips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1555394" y="3361700"/>
            <a:ext cx="274320" cy="164592"/>
          </a:xfrm>
          <a:prstGeom prst="triangl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739896"/>
            <a:ext cx="1944014" cy="365760"/>
          </a:xfrm>
          <a:prstGeom prst="rect">
            <a:avLst/>
          </a:prstGeom>
          <a:noFill/>
        </p:spPr>
        <p:txBody>
          <a:bodyPr wrap="square" anchor="t" lIns="0" rIns="0" tIns="0" bIns="0">
            <a:spAutoFit/>
          </a:bodyPr>
          <a:lstStyle/>
          <a:p>
            <a:pPr algn="ctr"/>
            <a:r>
              <a:rPr sz="1050" b="1" i="0" spc="200">
                <a:solidFill>
                  <a:srgbClr val="868B94"/>
                </a:solidFill>
                <a:latin typeface="Arial"/>
              </a:rPr>
              <a:t>VEHICLE 1</a:t>
            </a:r>
          </a:p>
        </p:txBody>
      </p:sp>
      <p:sp>
        <p:nvSpPr>
          <p:cNvPr id="18" name="TextBox 17"/>
          <p:cNvSpPr txBox="1"/>
          <p:nvPr/>
        </p:nvSpPr>
        <p:spPr>
          <a:xfrm>
            <a:off x="685800" y="4014216"/>
            <a:ext cx="1944014" cy="274320"/>
          </a:xfrm>
          <a:prstGeom prst="rect">
            <a:avLst/>
          </a:prstGeom>
          <a:noFill/>
        </p:spPr>
        <p:txBody>
          <a:bodyPr wrap="square" anchor="t" lIns="0" rIns="0" tIns="0" bIns="0">
            <a:spAutoFit/>
          </a:bodyPr>
          <a:lstStyle/>
          <a:p>
            <a:pPr algn="ctr"/>
            <a:r>
              <a:rPr sz="800" b="0" i="0" spc="80">
                <a:solidFill>
                  <a:srgbClr val="C8CCD2"/>
                </a:solidFill>
                <a:latin typeface="Arial"/>
              </a:rPr>
              <a:t>Replace</a:t>
            </a:r>
          </a:p>
        </p:txBody>
      </p:sp>
      <p:sp>
        <p:nvSpPr>
          <p:cNvPr id="19" name="TextBox 18"/>
          <p:cNvSpPr txBox="1"/>
          <p:nvPr/>
        </p:nvSpPr>
        <p:spPr>
          <a:xfrm>
            <a:off x="685800" y="5257800"/>
            <a:ext cx="1944014" cy="365760"/>
          </a:xfrm>
          <a:prstGeom prst="rect">
            <a:avLst/>
          </a:prstGeom>
          <a:noFill/>
        </p:spPr>
        <p:txBody>
          <a:bodyPr wrap="square" anchor="t" lIns="0" rIns="0" tIns="0" bIns="0">
            <a:spAutoFit/>
          </a:bodyPr>
          <a:lstStyle/>
          <a:p>
            <a:pPr algn="ctr"/>
            <a:r>
              <a:rPr sz="1200" b="1" i="0">
                <a:solidFill>
                  <a:srgbClr val="1A1A1C"/>
                </a:solidFill>
                <a:latin typeface="Arial"/>
              </a:rPr>
              <a:t>Future Pacifica</a:t>
            </a:r>
          </a:p>
        </p:txBody>
      </p:sp>
      <p:sp>
        <p:nvSpPr>
          <p:cNvPr id="20" name="Rectangle 19"/>
          <p:cNvSpPr/>
          <p:nvPr/>
        </p:nvSpPr>
        <p:spPr>
          <a:xfrm>
            <a:off x="2904134" y="2103120"/>
            <a:ext cx="1944014" cy="3017520"/>
          </a:xfrm>
          <a:prstGeom prst="rect">
            <a:avLst/>
          </a:prstGeom>
          <a:solidFill>
            <a:srgbClr val="EF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2904134" y="210312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904134" y="210312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4610404" y="210312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848148" y="210312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904134" y="512064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904134" y="488289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4610404" y="512064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4848148" y="488289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3620109" y="3136392"/>
            <a:ext cx="512064" cy="512064"/>
          </a:xfrm>
          <a:prstGeom prst="roundRect">
            <a:avLst/>
          </a:prstGeom>
          <a:noFill/>
          <a:ln w="19050">
            <a:solidFill>
              <a:srgbClr val="A9AE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732763" y="3238804"/>
            <a:ext cx="100584" cy="100584"/>
          </a:xfrm>
          <a:prstGeom prst="ellips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a:off x="3773728" y="3361700"/>
            <a:ext cx="274320" cy="164592"/>
          </a:xfrm>
          <a:prstGeom prst="triangl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904134" y="3739896"/>
            <a:ext cx="1944014" cy="365760"/>
          </a:xfrm>
          <a:prstGeom prst="rect">
            <a:avLst/>
          </a:prstGeom>
          <a:noFill/>
        </p:spPr>
        <p:txBody>
          <a:bodyPr wrap="square" anchor="t" lIns="0" rIns="0" tIns="0" bIns="0">
            <a:spAutoFit/>
          </a:bodyPr>
          <a:lstStyle/>
          <a:p>
            <a:pPr algn="ctr"/>
            <a:r>
              <a:rPr sz="1050" b="1" i="0" spc="200">
                <a:solidFill>
                  <a:srgbClr val="868B94"/>
                </a:solidFill>
                <a:latin typeface="Arial"/>
              </a:rPr>
              <a:t>VEHICLE 2</a:t>
            </a:r>
          </a:p>
        </p:txBody>
      </p:sp>
      <p:sp>
        <p:nvSpPr>
          <p:cNvPr id="33" name="TextBox 32"/>
          <p:cNvSpPr txBox="1"/>
          <p:nvPr/>
        </p:nvSpPr>
        <p:spPr>
          <a:xfrm>
            <a:off x="2904134" y="4014216"/>
            <a:ext cx="1944014" cy="274320"/>
          </a:xfrm>
          <a:prstGeom prst="rect">
            <a:avLst/>
          </a:prstGeom>
          <a:noFill/>
        </p:spPr>
        <p:txBody>
          <a:bodyPr wrap="square" anchor="t" lIns="0" rIns="0" tIns="0" bIns="0">
            <a:spAutoFit/>
          </a:bodyPr>
          <a:lstStyle/>
          <a:p>
            <a:pPr algn="ctr"/>
            <a:r>
              <a:rPr sz="800" b="0" i="0" spc="80">
                <a:solidFill>
                  <a:srgbClr val="C8CCD2"/>
                </a:solidFill>
                <a:latin typeface="Arial"/>
              </a:rPr>
              <a:t>Replace</a:t>
            </a:r>
          </a:p>
        </p:txBody>
      </p:sp>
      <p:sp>
        <p:nvSpPr>
          <p:cNvPr id="34" name="TextBox 33"/>
          <p:cNvSpPr txBox="1"/>
          <p:nvPr/>
        </p:nvSpPr>
        <p:spPr>
          <a:xfrm>
            <a:off x="2904134" y="5257800"/>
            <a:ext cx="1944014" cy="365760"/>
          </a:xfrm>
          <a:prstGeom prst="rect">
            <a:avLst/>
          </a:prstGeom>
          <a:noFill/>
        </p:spPr>
        <p:txBody>
          <a:bodyPr wrap="square" anchor="t" lIns="0" rIns="0" tIns="0" bIns="0">
            <a:spAutoFit/>
          </a:bodyPr>
          <a:lstStyle/>
          <a:p>
            <a:pPr algn="ctr"/>
            <a:r>
              <a:rPr sz="1200" b="1" i="0">
                <a:solidFill>
                  <a:srgbClr val="1A1A1C"/>
                </a:solidFill>
                <a:latin typeface="Arial"/>
              </a:rPr>
              <a:t>Airflow</a:t>
            </a:r>
          </a:p>
        </p:txBody>
      </p:sp>
      <p:sp>
        <p:nvSpPr>
          <p:cNvPr id="35" name="Rectangle 34"/>
          <p:cNvSpPr/>
          <p:nvPr/>
        </p:nvSpPr>
        <p:spPr>
          <a:xfrm>
            <a:off x="5122468" y="2103120"/>
            <a:ext cx="1944014" cy="3017520"/>
          </a:xfrm>
          <a:prstGeom prst="rect">
            <a:avLst/>
          </a:prstGeom>
          <a:solidFill>
            <a:srgbClr val="EF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5122468" y="210312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122468" y="210312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6828738" y="210312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7066482" y="210312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122468" y="512064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5122468" y="488289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6828738" y="512064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7066482" y="488289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5838443" y="3136392"/>
            <a:ext cx="512064" cy="512064"/>
          </a:xfrm>
          <a:prstGeom prst="roundRect">
            <a:avLst/>
          </a:prstGeom>
          <a:noFill/>
          <a:ln w="19050">
            <a:solidFill>
              <a:srgbClr val="A9AE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5951097" y="3238804"/>
            <a:ext cx="100584" cy="100584"/>
          </a:xfrm>
          <a:prstGeom prst="ellips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Isosceles Triangle 45"/>
          <p:cNvSpPr/>
          <p:nvPr/>
        </p:nvSpPr>
        <p:spPr>
          <a:xfrm>
            <a:off x="5992062" y="3361700"/>
            <a:ext cx="274320" cy="164592"/>
          </a:xfrm>
          <a:prstGeom prst="triangl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122468" y="3739896"/>
            <a:ext cx="1944014" cy="365760"/>
          </a:xfrm>
          <a:prstGeom prst="rect">
            <a:avLst/>
          </a:prstGeom>
          <a:noFill/>
        </p:spPr>
        <p:txBody>
          <a:bodyPr wrap="square" anchor="t" lIns="0" rIns="0" tIns="0" bIns="0">
            <a:spAutoFit/>
          </a:bodyPr>
          <a:lstStyle/>
          <a:p>
            <a:pPr algn="ctr"/>
            <a:r>
              <a:rPr sz="1050" b="1" i="0" spc="200">
                <a:solidFill>
                  <a:srgbClr val="868B94"/>
                </a:solidFill>
                <a:latin typeface="Arial"/>
              </a:rPr>
              <a:t>VEHICLE 3</a:t>
            </a:r>
          </a:p>
        </p:txBody>
      </p:sp>
      <p:sp>
        <p:nvSpPr>
          <p:cNvPr id="48" name="TextBox 47"/>
          <p:cNvSpPr txBox="1"/>
          <p:nvPr/>
        </p:nvSpPr>
        <p:spPr>
          <a:xfrm>
            <a:off x="5122468" y="4014216"/>
            <a:ext cx="1944014" cy="274320"/>
          </a:xfrm>
          <a:prstGeom prst="rect">
            <a:avLst/>
          </a:prstGeom>
          <a:noFill/>
        </p:spPr>
        <p:txBody>
          <a:bodyPr wrap="square" anchor="t" lIns="0" rIns="0" tIns="0" bIns="0">
            <a:spAutoFit/>
          </a:bodyPr>
          <a:lstStyle/>
          <a:p>
            <a:pPr algn="ctr"/>
            <a:r>
              <a:rPr sz="800" b="0" i="0" spc="80">
                <a:solidFill>
                  <a:srgbClr val="C8CCD2"/>
                </a:solidFill>
                <a:latin typeface="Arial"/>
              </a:rPr>
              <a:t>Replace</a:t>
            </a:r>
          </a:p>
        </p:txBody>
      </p:sp>
      <p:sp>
        <p:nvSpPr>
          <p:cNvPr id="49" name="TextBox 48"/>
          <p:cNvSpPr txBox="1"/>
          <p:nvPr/>
        </p:nvSpPr>
        <p:spPr>
          <a:xfrm>
            <a:off x="5122468" y="5257800"/>
            <a:ext cx="1944014" cy="365760"/>
          </a:xfrm>
          <a:prstGeom prst="rect">
            <a:avLst/>
          </a:prstGeom>
          <a:noFill/>
        </p:spPr>
        <p:txBody>
          <a:bodyPr wrap="square" anchor="t" lIns="0" rIns="0" tIns="0" bIns="0">
            <a:spAutoFit/>
          </a:bodyPr>
          <a:lstStyle/>
          <a:p>
            <a:pPr algn="ctr"/>
            <a:r>
              <a:rPr sz="1200" b="1" i="0">
                <a:solidFill>
                  <a:srgbClr val="1A1A1C"/>
                </a:solidFill>
                <a:latin typeface="Arial"/>
              </a:rPr>
              <a:t>Arrow</a:t>
            </a:r>
          </a:p>
        </p:txBody>
      </p:sp>
      <p:sp>
        <p:nvSpPr>
          <p:cNvPr id="50" name="Rectangle 49"/>
          <p:cNvSpPr/>
          <p:nvPr/>
        </p:nvSpPr>
        <p:spPr>
          <a:xfrm>
            <a:off x="7340802" y="2103120"/>
            <a:ext cx="1944014" cy="3017520"/>
          </a:xfrm>
          <a:prstGeom prst="rect">
            <a:avLst/>
          </a:prstGeom>
          <a:solidFill>
            <a:srgbClr val="EF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a:off x="7340802" y="210312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7340802" y="210312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9047072" y="210312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9284816" y="210312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7340802" y="512064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7340802" y="488289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9047072" y="512064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9284816" y="488289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8056777" y="3136392"/>
            <a:ext cx="512064" cy="512064"/>
          </a:xfrm>
          <a:prstGeom prst="roundRect">
            <a:avLst/>
          </a:prstGeom>
          <a:noFill/>
          <a:ln w="19050">
            <a:solidFill>
              <a:srgbClr val="A9AE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8169431" y="3238804"/>
            <a:ext cx="100584" cy="100584"/>
          </a:xfrm>
          <a:prstGeom prst="ellips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Isosceles Triangle 60"/>
          <p:cNvSpPr/>
          <p:nvPr/>
        </p:nvSpPr>
        <p:spPr>
          <a:xfrm>
            <a:off x="8210396" y="3361700"/>
            <a:ext cx="274320" cy="164592"/>
          </a:xfrm>
          <a:prstGeom prst="triangl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340802" y="3739896"/>
            <a:ext cx="1944014" cy="365760"/>
          </a:xfrm>
          <a:prstGeom prst="rect">
            <a:avLst/>
          </a:prstGeom>
          <a:noFill/>
        </p:spPr>
        <p:txBody>
          <a:bodyPr wrap="square" anchor="t" lIns="0" rIns="0" tIns="0" bIns="0">
            <a:spAutoFit/>
          </a:bodyPr>
          <a:lstStyle/>
          <a:p>
            <a:pPr algn="ctr"/>
            <a:r>
              <a:rPr sz="1050" b="1" i="0" spc="200">
                <a:solidFill>
                  <a:srgbClr val="868B94"/>
                </a:solidFill>
                <a:latin typeface="Arial"/>
              </a:rPr>
              <a:t>VEHICLE 4</a:t>
            </a:r>
          </a:p>
        </p:txBody>
      </p:sp>
      <p:sp>
        <p:nvSpPr>
          <p:cNvPr id="63" name="TextBox 62"/>
          <p:cNvSpPr txBox="1"/>
          <p:nvPr/>
        </p:nvSpPr>
        <p:spPr>
          <a:xfrm>
            <a:off x="7340802" y="4014216"/>
            <a:ext cx="1944014" cy="274320"/>
          </a:xfrm>
          <a:prstGeom prst="rect">
            <a:avLst/>
          </a:prstGeom>
          <a:noFill/>
        </p:spPr>
        <p:txBody>
          <a:bodyPr wrap="square" anchor="t" lIns="0" rIns="0" tIns="0" bIns="0">
            <a:spAutoFit/>
          </a:bodyPr>
          <a:lstStyle/>
          <a:p>
            <a:pPr algn="ctr"/>
            <a:r>
              <a:rPr sz="800" b="0" i="0" spc="80">
                <a:solidFill>
                  <a:srgbClr val="C8CCD2"/>
                </a:solidFill>
                <a:latin typeface="Arial"/>
              </a:rPr>
              <a:t>Replace</a:t>
            </a:r>
          </a:p>
        </p:txBody>
      </p:sp>
      <p:sp>
        <p:nvSpPr>
          <p:cNvPr id="64" name="TextBox 63"/>
          <p:cNvSpPr txBox="1"/>
          <p:nvPr/>
        </p:nvSpPr>
        <p:spPr>
          <a:xfrm>
            <a:off x="7340802" y="5257800"/>
            <a:ext cx="1944014" cy="365760"/>
          </a:xfrm>
          <a:prstGeom prst="rect">
            <a:avLst/>
          </a:prstGeom>
          <a:noFill/>
        </p:spPr>
        <p:txBody>
          <a:bodyPr wrap="square" anchor="t" lIns="0" rIns="0" tIns="0" bIns="0">
            <a:spAutoFit/>
          </a:bodyPr>
          <a:lstStyle/>
          <a:p>
            <a:pPr algn="ctr"/>
            <a:r>
              <a:rPr sz="1200" b="1" i="0">
                <a:solidFill>
                  <a:srgbClr val="1A1A1C"/>
                </a:solidFill>
                <a:latin typeface="Arial"/>
              </a:rPr>
              <a:t>Arrow Cross</a:t>
            </a:r>
          </a:p>
        </p:txBody>
      </p:sp>
      <p:sp>
        <p:nvSpPr>
          <p:cNvPr id="65" name="Rectangle 64"/>
          <p:cNvSpPr/>
          <p:nvPr/>
        </p:nvSpPr>
        <p:spPr>
          <a:xfrm>
            <a:off x="9559136" y="2103120"/>
            <a:ext cx="1944014" cy="3017520"/>
          </a:xfrm>
          <a:prstGeom prst="rect">
            <a:avLst/>
          </a:prstGeom>
          <a:solidFill>
            <a:srgbClr val="EF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6" name="Connector 65"/>
          <p:cNvCxnSpPr/>
          <p:nvPr/>
        </p:nvCxnSpPr>
        <p:spPr>
          <a:xfrm>
            <a:off x="9559136" y="210312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9559136" y="210312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11265406" y="210312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11503150" y="210312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559136" y="512064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9559136" y="488289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11265406" y="512064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11503150" y="488289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sp>
        <p:nvSpPr>
          <p:cNvPr id="74" name="Rounded Rectangle 73"/>
          <p:cNvSpPr/>
          <p:nvPr/>
        </p:nvSpPr>
        <p:spPr>
          <a:xfrm>
            <a:off x="10275111" y="3136392"/>
            <a:ext cx="512064" cy="512064"/>
          </a:xfrm>
          <a:prstGeom prst="roundRect">
            <a:avLst/>
          </a:prstGeom>
          <a:noFill/>
          <a:ln w="19050">
            <a:solidFill>
              <a:srgbClr val="A9AE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10387765" y="3238804"/>
            <a:ext cx="100584" cy="100584"/>
          </a:xfrm>
          <a:prstGeom prst="ellips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Isosceles Triangle 75"/>
          <p:cNvSpPr/>
          <p:nvPr/>
        </p:nvSpPr>
        <p:spPr>
          <a:xfrm>
            <a:off x="10428730" y="3361700"/>
            <a:ext cx="274320" cy="164592"/>
          </a:xfrm>
          <a:prstGeom prst="triangl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559136" y="3739896"/>
            <a:ext cx="1944014" cy="365760"/>
          </a:xfrm>
          <a:prstGeom prst="rect">
            <a:avLst/>
          </a:prstGeom>
          <a:noFill/>
        </p:spPr>
        <p:txBody>
          <a:bodyPr wrap="square" anchor="t" lIns="0" rIns="0" tIns="0" bIns="0">
            <a:spAutoFit/>
          </a:bodyPr>
          <a:lstStyle/>
          <a:p>
            <a:pPr algn="ctr"/>
            <a:r>
              <a:rPr sz="1050" b="1" i="0" spc="200">
                <a:solidFill>
                  <a:srgbClr val="868B94"/>
                </a:solidFill>
                <a:latin typeface="Arial"/>
              </a:rPr>
              <a:t>VEHICLE 5</a:t>
            </a:r>
          </a:p>
        </p:txBody>
      </p:sp>
      <p:sp>
        <p:nvSpPr>
          <p:cNvPr id="78" name="TextBox 77"/>
          <p:cNvSpPr txBox="1"/>
          <p:nvPr/>
        </p:nvSpPr>
        <p:spPr>
          <a:xfrm>
            <a:off x="9559136" y="4014216"/>
            <a:ext cx="1944014" cy="274320"/>
          </a:xfrm>
          <a:prstGeom prst="rect">
            <a:avLst/>
          </a:prstGeom>
          <a:noFill/>
        </p:spPr>
        <p:txBody>
          <a:bodyPr wrap="square" anchor="t" lIns="0" rIns="0" tIns="0" bIns="0">
            <a:spAutoFit/>
          </a:bodyPr>
          <a:lstStyle/>
          <a:p>
            <a:pPr algn="ctr"/>
            <a:r>
              <a:rPr sz="800" b="0" i="0" spc="80">
                <a:solidFill>
                  <a:srgbClr val="C8CCD2"/>
                </a:solidFill>
                <a:latin typeface="Arial"/>
              </a:rPr>
              <a:t>Replace</a:t>
            </a:r>
          </a:p>
        </p:txBody>
      </p:sp>
      <p:sp>
        <p:nvSpPr>
          <p:cNvPr id="79" name="TextBox 78"/>
          <p:cNvSpPr txBox="1"/>
          <p:nvPr/>
        </p:nvSpPr>
        <p:spPr>
          <a:xfrm>
            <a:off x="9559136" y="5257800"/>
            <a:ext cx="1944014" cy="365760"/>
          </a:xfrm>
          <a:prstGeom prst="rect">
            <a:avLst/>
          </a:prstGeom>
          <a:noFill/>
        </p:spPr>
        <p:txBody>
          <a:bodyPr wrap="square" anchor="t" lIns="0" rIns="0" tIns="0" bIns="0">
            <a:spAutoFit/>
          </a:bodyPr>
          <a:lstStyle/>
          <a:p>
            <a:pPr algn="ctr"/>
            <a:r>
              <a:rPr sz="1200" b="1" i="0">
                <a:solidFill>
                  <a:srgbClr val="1A1A1C"/>
                </a:solidFill>
                <a:latin typeface="Arial"/>
              </a:rPr>
              <a:t>300 Concept</a:t>
            </a:r>
          </a:p>
        </p:txBody>
      </p:sp>
      <p:sp>
        <p:nvSpPr>
          <p:cNvPr id="80" name="TextBox 79"/>
          <p:cNvSpPr txBox="1"/>
          <p:nvPr/>
        </p:nvSpPr>
        <p:spPr>
          <a:xfrm>
            <a:off x="640080" y="6437376"/>
            <a:ext cx="7315200" cy="274320"/>
          </a:xfrm>
          <a:prstGeom prst="rect">
            <a:avLst/>
          </a:prstGeom>
          <a:noFill/>
        </p:spPr>
        <p:txBody>
          <a:bodyPr wrap="square" anchor="t" lIns="0" rIns="0" tIns="0" bIns="0">
            <a:spAutoFit/>
          </a:bodyPr>
          <a:lstStyle/>
          <a:p>
            <a:pPr algn="l"/>
            <a:r>
              <a:rPr sz="800" b="0" i="0" spc="150">
                <a:solidFill>
                  <a:srgbClr val="868B94"/>
                </a:solidFill>
                <a:latin typeface="Arial"/>
              </a:rPr>
              <a:t>CHRYSLER  ·  BRAND DESIGN VISION</a:t>
            </a:r>
          </a:p>
        </p:txBody>
      </p:sp>
      <p:sp>
        <p:nvSpPr>
          <p:cNvPr id="81" name="TextBox 80"/>
          <p:cNvSpPr txBox="1"/>
          <p:nvPr/>
        </p:nvSpPr>
        <p:spPr>
          <a:xfrm>
            <a:off x="10607040" y="6437376"/>
            <a:ext cx="914400" cy="274320"/>
          </a:xfrm>
          <a:prstGeom prst="rect">
            <a:avLst/>
          </a:prstGeom>
          <a:noFill/>
        </p:spPr>
        <p:txBody>
          <a:bodyPr wrap="square" anchor="t" lIns="0" rIns="0" tIns="0" bIns="0">
            <a:spAutoFit/>
          </a:bodyPr>
          <a:lstStyle/>
          <a:p>
            <a:pPr algn="r"/>
            <a:r>
              <a:rPr sz="800" b="0" i="0" spc="150">
                <a:solidFill>
                  <a:srgbClr val="868B94"/>
                </a:solidFill>
                <a:latin typeface="Arial"/>
              </a:rPr>
              <a:t>06</a:t>
            </a:r>
          </a:p>
        </p:txBody>
      </p:sp>
      <p:sp>
        <p:nvSpPr>
          <p:cNvPr id="82" name="TextBox 81"/>
          <p:cNvSpPr txBox="1"/>
          <p:nvPr/>
        </p:nvSpPr>
        <p:spPr>
          <a:xfrm>
            <a:off x="10424160" y="310896"/>
            <a:ext cx="1097280" cy="274320"/>
          </a:xfrm>
          <a:prstGeom prst="rect">
            <a:avLst/>
          </a:prstGeom>
          <a:noFill/>
        </p:spPr>
        <p:txBody>
          <a:bodyPr wrap="square" anchor="t" lIns="0" rIns="0" tIns="0" bIns="0">
            <a:spAutoFit/>
          </a:bodyPr>
          <a:lstStyle/>
          <a:p>
            <a:pPr algn="r"/>
            <a:r>
              <a:rPr sz="750" b="0" i="0" spc="200">
                <a:solidFill>
                  <a:srgbClr val="C8CCD2"/>
                </a:solidFill>
                <a:latin typeface="Arial"/>
              </a:rPr>
              <a:t>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48640"/>
            <a:ext cx="7315200" cy="274320"/>
          </a:xfrm>
          <a:prstGeom prst="rect">
            <a:avLst/>
          </a:prstGeom>
          <a:noFill/>
        </p:spPr>
        <p:txBody>
          <a:bodyPr wrap="square" anchor="t" lIns="0" rIns="0" tIns="0" bIns="0">
            <a:spAutoFit/>
          </a:bodyPr>
          <a:lstStyle/>
          <a:p>
            <a:pPr algn="l"/>
            <a:r>
              <a:rPr sz="1100" b="1" i="0" spc="300">
                <a:solidFill>
                  <a:srgbClr val="1B2A4A"/>
                </a:solidFill>
                <a:latin typeface="Arial"/>
              </a:rPr>
              <a:t>PEOPLE FIRST</a:t>
            </a:r>
          </a:p>
        </p:txBody>
      </p:sp>
      <p:sp>
        <p:nvSpPr>
          <p:cNvPr id="3" name="TextBox 2"/>
          <p:cNvSpPr txBox="1"/>
          <p:nvPr/>
        </p:nvSpPr>
        <p:spPr>
          <a:xfrm>
            <a:off x="658368" y="868680"/>
            <a:ext cx="10058400" cy="640080"/>
          </a:xfrm>
          <a:prstGeom prst="rect">
            <a:avLst/>
          </a:prstGeom>
          <a:noFill/>
        </p:spPr>
        <p:txBody>
          <a:bodyPr wrap="square" anchor="t" lIns="0" rIns="0" tIns="0" bIns="0">
            <a:spAutoFit/>
          </a:bodyPr>
          <a:lstStyle/>
          <a:p>
            <a:pPr algn="l"/>
            <a:r>
              <a:rPr sz="2600" b="1" i="0">
                <a:solidFill>
                  <a:srgbClr val="1A1A1C"/>
                </a:solidFill>
                <a:latin typeface="Arial"/>
              </a:rPr>
              <a:t>Pacifica</a:t>
            </a:r>
          </a:p>
        </p:txBody>
      </p:sp>
      <p:sp>
        <p:nvSpPr>
          <p:cNvPr id="4" name="TextBox 3"/>
          <p:cNvSpPr txBox="1"/>
          <p:nvPr/>
        </p:nvSpPr>
        <p:spPr>
          <a:xfrm>
            <a:off x="685800" y="1481328"/>
            <a:ext cx="10817352" cy="411480"/>
          </a:xfrm>
          <a:prstGeom prst="rect">
            <a:avLst/>
          </a:prstGeom>
          <a:noFill/>
        </p:spPr>
        <p:txBody>
          <a:bodyPr wrap="square" anchor="t" lIns="0" rIns="0" tIns="0" bIns="0">
            <a:spAutoFit/>
          </a:bodyPr>
          <a:lstStyle/>
          <a:p>
            <a:pPr algn="l">
              <a:lnSpc>
                <a:spcPct val="120000"/>
              </a:lnSpc>
            </a:pPr>
            <a:r>
              <a:rPr sz="1300" b="0" i="1">
                <a:solidFill>
                  <a:srgbClr val="4A4E57"/>
                </a:solidFill>
                <a:latin typeface="Arial"/>
              </a:rPr>
              <a:t>Pacifica is the proof that Chrysler has always designed around people.</a:t>
            </a:r>
          </a:p>
        </p:txBody>
      </p:sp>
      <p:sp>
        <p:nvSpPr>
          <p:cNvPr id="5" name="Rectangle 4"/>
          <p:cNvSpPr/>
          <p:nvPr/>
        </p:nvSpPr>
        <p:spPr>
          <a:xfrm>
            <a:off x="685800" y="2011680"/>
            <a:ext cx="10817352" cy="3383280"/>
          </a:xfrm>
          <a:prstGeom prst="rect">
            <a:avLst/>
          </a:prstGeom>
          <a:solidFill>
            <a:srgbClr val="EF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685800" y="201168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85800" y="201168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11265408" y="201168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503152" y="201168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 y="539496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685800" y="515721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11265408" y="539496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503152" y="515721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838444" y="3227832"/>
            <a:ext cx="512064" cy="512064"/>
          </a:xfrm>
          <a:prstGeom prst="roundRect">
            <a:avLst/>
          </a:prstGeom>
          <a:noFill/>
          <a:ln w="19050">
            <a:solidFill>
              <a:srgbClr val="A9AE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951098" y="3330244"/>
            <a:ext cx="100584" cy="100584"/>
          </a:xfrm>
          <a:prstGeom prst="ellips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992063" y="3453140"/>
            <a:ext cx="274320" cy="164592"/>
          </a:xfrm>
          <a:prstGeom prst="triangl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831336"/>
            <a:ext cx="10817352" cy="365760"/>
          </a:xfrm>
          <a:prstGeom prst="rect">
            <a:avLst/>
          </a:prstGeom>
          <a:noFill/>
        </p:spPr>
        <p:txBody>
          <a:bodyPr wrap="square" anchor="t" lIns="0" rIns="0" tIns="0" bIns="0">
            <a:spAutoFit/>
          </a:bodyPr>
          <a:lstStyle/>
          <a:p>
            <a:pPr algn="ctr"/>
            <a:r>
              <a:rPr sz="1050" b="1" i="0" spc="200">
                <a:solidFill>
                  <a:srgbClr val="868B94"/>
                </a:solidFill>
                <a:latin typeface="Arial"/>
              </a:rPr>
              <a:t>LARGE EXTERIOR IMAGE</a:t>
            </a:r>
          </a:p>
        </p:txBody>
      </p:sp>
      <p:sp>
        <p:nvSpPr>
          <p:cNvPr id="18" name="TextBox 17"/>
          <p:cNvSpPr txBox="1"/>
          <p:nvPr/>
        </p:nvSpPr>
        <p:spPr>
          <a:xfrm>
            <a:off x="685800" y="4105656"/>
            <a:ext cx="10817352" cy="274320"/>
          </a:xfrm>
          <a:prstGeom prst="rect">
            <a:avLst/>
          </a:prstGeom>
          <a:noFill/>
        </p:spPr>
        <p:txBody>
          <a:bodyPr wrap="square" anchor="t" lIns="0" rIns="0" tIns="0" bIns="0">
            <a:spAutoFit/>
          </a:bodyPr>
          <a:lstStyle/>
          <a:p>
            <a:pPr algn="ctr"/>
            <a:r>
              <a:rPr sz="800" b="0" i="0" spc="80">
                <a:solidFill>
                  <a:srgbClr val="C8CCD2"/>
                </a:solidFill>
                <a:latin typeface="Arial"/>
              </a:rPr>
              <a:t>Replace · 16:9 · 300dpi</a:t>
            </a:r>
          </a:p>
        </p:txBody>
      </p:sp>
      <p:sp>
        <p:nvSpPr>
          <p:cNvPr id="19" name="Oval 18"/>
          <p:cNvSpPr/>
          <p:nvPr/>
        </p:nvSpPr>
        <p:spPr>
          <a:xfrm>
            <a:off x="685800" y="5532120"/>
            <a:ext cx="384048" cy="384048"/>
          </a:xfrm>
          <a:prstGeom prst="ellipse">
            <a:avLst/>
          </a:prstGeom>
          <a:noFill/>
          <a:ln w="15875">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95528" y="5641848"/>
            <a:ext cx="164592" cy="164592"/>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34440" y="5486400"/>
            <a:ext cx="2813304" cy="777240"/>
          </a:xfrm>
          <a:prstGeom prst="rect">
            <a:avLst/>
          </a:prstGeom>
          <a:noFill/>
        </p:spPr>
        <p:txBody>
          <a:bodyPr wrap="square" anchor="t" lIns="0" rIns="0" tIns="0" bIns="0">
            <a:spAutoFit/>
          </a:bodyPr>
          <a:lstStyle/>
          <a:p>
            <a:pPr algn="l">
              <a:spcAft>
                <a:spcPts val="100"/>
              </a:spcAft>
            </a:pPr>
            <a:r>
              <a:rPr sz="1250" b="1" i="0">
                <a:solidFill>
                  <a:srgbClr val="1A1A1C"/>
                </a:solidFill>
                <a:latin typeface="Arial"/>
              </a:rPr>
              <a:t>Family Mobility</a:t>
            </a:r>
          </a:p>
          <a:p>
            <a:pPr algn="l">
              <a:lnSpc>
                <a:spcPct val="110000"/>
              </a:lnSpc>
            </a:pPr>
            <a:r>
              <a:rPr sz="1000" b="0" i="0">
                <a:solidFill>
                  <a:srgbClr val="868B94"/>
                </a:solidFill>
                <a:latin typeface="Arial"/>
              </a:rPr>
              <a:t>Built around the people who live in it.</a:t>
            </a:r>
          </a:p>
        </p:txBody>
      </p:sp>
      <p:sp>
        <p:nvSpPr>
          <p:cNvPr id="22" name="Oval 21"/>
          <p:cNvSpPr/>
          <p:nvPr/>
        </p:nvSpPr>
        <p:spPr>
          <a:xfrm>
            <a:off x="4413504" y="5532120"/>
            <a:ext cx="384048" cy="384048"/>
          </a:xfrm>
          <a:prstGeom prst="ellipse">
            <a:avLst/>
          </a:prstGeom>
          <a:noFill/>
          <a:ln w="15875">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523232" y="5641848"/>
            <a:ext cx="164592" cy="164592"/>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62144" y="5486400"/>
            <a:ext cx="2813304" cy="777240"/>
          </a:xfrm>
          <a:prstGeom prst="rect">
            <a:avLst/>
          </a:prstGeom>
          <a:noFill/>
        </p:spPr>
        <p:txBody>
          <a:bodyPr wrap="square" anchor="t" lIns="0" rIns="0" tIns="0" bIns="0">
            <a:spAutoFit/>
          </a:bodyPr>
          <a:lstStyle/>
          <a:p>
            <a:pPr algn="l">
              <a:spcAft>
                <a:spcPts val="100"/>
              </a:spcAft>
            </a:pPr>
            <a:r>
              <a:rPr sz="1250" b="1" i="0">
                <a:solidFill>
                  <a:srgbClr val="1A1A1C"/>
                </a:solidFill>
                <a:latin typeface="Arial"/>
              </a:rPr>
              <a:t>Flexible Living</a:t>
            </a:r>
          </a:p>
          <a:p>
            <a:pPr algn="l">
              <a:lnSpc>
                <a:spcPct val="110000"/>
              </a:lnSpc>
            </a:pPr>
            <a:r>
              <a:rPr sz="1000" b="0" i="0">
                <a:solidFill>
                  <a:srgbClr val="868B94"/>
                </a:solidFill>
                <a:latin typeface="Arial"/>
              </a:rPr>
              <a:t>Space that adapts to every journey.</a:t>
            </a:r>
          </a:p>
        </p:txBody>
      </p:sp>
      <p:sp>
        <p:nvSpPr>
          <p:cNvPr id="25" name="Oval 24"/>
          <p:cNvSpPr/>
          <p:nvPr/>
        </p:nvSpPr>
        <p:spPr>
          <a:xfrm>
            <a:off x="8141208" y="5532120"/>
            <a:ext cx="384048" cy="384048"/>
          </a:xfrm>
          <a:prstGeom prst="ellipse">
            <a:avLst/>
          </a:prstGeom>
          <a:noFill/>
          <a:ln w="15875">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250936" y="5641848"/>
            <a:ext cx="164592" cy="164592"/>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9848" y="5486400"/>
            <a:ext cx="2813304" cy="777240"/>
          </a:xfrm>
          <a:prstGeom prst="rect">
            <a:avLst/>
          </a:prstGeom>
          <a:noFill/>
        </p:spPr>
        <p:txBody>
          <a:bodyPr wrap="square" anchor="t" lIns="0" rIns="0" tIns="0" bIns="0">
            <a:spAutoFit/>
          </a:bodyPr>
          <a:lstStyle/>
          <a:p>
            <a:pPr algn="l">
              <a:spcAft>
                <a:spcPts val="100"/>
              </a:spcAft>
            </a:pPr>
            <a:r>
              <a:rPr sz="1250" b="1" i="0">
                <a:solidFill>
                  <a:srgbClr val="1A1A1C"/>
                </a:solidFill>
                <a:latin typeface="Arial"/>
              </a:rPr>
              <a:t>Thoughtful Innovation</a:t>
            </a:r>
          </a:p>
          <a:p>
            <a:pPr algn="l">
              <a:lnSpc>
                <a:spcPct val="110000"/>
              </a:lnSpc>
            </a:pPr>
            <a:r>
              <a:rPr sz="1000" b="0" i="0">
                <a:solidFill>
                  <a:srgbClr val="868B94"/>
                </a:solidFill>
                <a:latin typeface="Arial"/>
              </a:rPr>
              <a:t>Technology designed around people.</a:t>
            </a:r>
          </a:p>
        </p:txBody>
      </p:sp>
      <p:sp>
        <p:nvSpPr>
          <p:cNvPr id="28" name="TextBox 27"/>
          <p:cNvSpPr txBox="1"/>
          <p:nvPr/>
        </p:nvSpPr>
        <p:spPr>
          <a:xfrm>
            <a:off x="640080" y="6437376"/>
            <a:ext cx="7315200" cy="274320"/>
          </a:xfrm>
          <a:prstGeom prst="rect">
            <a:avLst/>
          </a:prstGeom>
          <a:noFill/>
        </p:spPr>
        <p:txBody>
          <a:bodyPr wrap="square" anchor="t" lIns="0" rIns="0" tIns="0" bIns="0">
            <a:spAutoFit/>
          </a:bodyPr>
          <a:lstStyle/>
          <a:p>
            <a:pPr algn="l"/>
            <a:r>
              <a:rPr sz="800" b="0" i="0" spc="150">
                <a:solidFill>
                  <a:srgbClr val="868B94"/>
                </a:solidFill>
                <a:latin typeface="Arial"/>
              </a:rPr>
              <a:t>CHRYSLER  ·  BRAND DESIGN VISION</a:t>
            </a:r>
          </a:p>
        </p:txBody>
      </p:sp>
      <p:sp>
        <p:nvSpPr>
          <p:cNvPr id="29" name="TextBox 28"/>
          <p:cNvSpPr txBox="1"/>
          <p:nvPr/>
        </p:nvSpPr>
        <p:spPr>
          <a:xfrm>
            <a:off x="10607040" y="6437376"/>
            <a:ext cx="914400" cy="274320"/>
          </a:xfrm>
          <a:prstGeom prst="rect">
            <a:avLst/>
          </a:prstGeom>
          <a:noFill/>
        </p:spPr>
        <p:txBody>
          <a:bodyPr wrap="square" anchor="t" lIns="0" rIns="0" tIns="0" bIns="0">
            <a:spAutoFit/>
          </a:bodyPr>
          <a:lstStyle/>
          <a:p>
            <a:pPr algn="r"/>
            <a:r>
              <a:rPr sz="800" b="0" i="0" spc="150">
                <a:solidFill>
                  <a:srgbClr val="868B94"/>
                </a:solidFill>
                <a:latin typeface="Arial"/>
              </a:rPr>
              <a:t>07</a:t>
            </a:r>
          </a:p>
        </p:txBody>
      </p:sp>
      <p:sp>
        <p:nvSpPr>
          <p:cNvPr id="30" name="TextBox 29"/>
          <p:cNvSpPr txBox="1"/>
          <p:nvPr/>
        </p:nvSpPr>
        <p:spPr>
          <a:xfrm>
            <a:off x="10424160" y="310896"/>
            <a:ext cx="1097280" cy="274320"/>
          </a:xfrm>
          <a:prstGeom prst="rect">
            <a:avLst/>
          </a:prstGeom>
          <a:noFill/>
        </p:spPr>
        <p:txBody>
          <a:bodyPr wrap="square" anchor="t" lIns="0" rIns="0" tIns="0" bIns="0">
            <a:spAutoFit/>
          </a:bodyPr>
          <a:lstStyle/>
          <a:p>
            <a:pPr algn="r"/>
            <a:r>
              <a:rPr sz="750" b="0" i="0" spc="200">
                <a:solidFill>
                  <a:srgbClr val="C8CCD2"/>
                </a:solidFill>
                <a:latin typeface="Arial"/>
              </a:rPr>
              <a:t>CONFIDENTIAL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48640"/>
            <a:ext cx="7315200" cy="274320"/>
          </a:xfrm>
          <a:prstGeom prst="rect">
            <a:avLst/>
          </a:prstGeom>
          <a:noFill/>
        </p:spPr>
        <p:txBody>
          <a:bodyPr wrap="square" anchor="t" lIns="0" rIns="0" tIns="0" bIns="0">
            <a:spAutoFit/>
          </a:bodyPr>
          <a:lstStyle/>
          <a:p>
            <a:pPr algn="l"/>
            <a:r>
              <a:rPr sz="1100" b="1" i="0" spc="300">
                <a:solidFill>
                  <a:srgbClr val="1B2A4A"/>
                </a:solidFill>
                <a:latin typeface="Arial"/>
              </a:rPr>
              <a:t>PEOPLE FIRST</a:t>
            </a:r>
          </a:p>
        </p:txBody>
      </p:sp>
      <p:sp>
        <p:nvSpPr>
          <p:cNvPr id="3" name="TextBox 2"/>
          <p:cNvSpPr txBox="1"/>
          <p:nvPr/>
        </p:nvSpPr>
        <p:spPr>
          <a:xfrm>
            <a:off x="658368" y="868680"/>
            <a:ext cx="10058400" cy="640080"/>
          </a:xfrm>
          <a:prstGeom prst="rect">
            <a:avLst/>
          </a:prstGeom>
          <a:noFill/>
        </p:spPr>
        <p:txBody>
          <a:bodyPr wrap="square" anchor="t" lIns="0" rIns="0" tIns="0" bIns="0">
            <a:spAutoFit/>
          </a:bodyPr>
          <a:lstStyle/>
          <a:p>
            <a:pPr algn="l"/>
            <a:r>
              <a:rPr sz="2600" b="1" i="0">
                <a:solidFill>
                  <a:srgbClr val="1A1A1C"/>
                </a:solidFill>
                <a:latin typeface="Arial"/>
              </a:rPr>
              <a:t>Pacifica Interior</a:t>
            </a:r>
          </a:p>
        </p:txBody>
      </p:sp>
      <p:sp>
        <p:nvSpPr>
          <p:cNvPr id="4" name="Rectangle 3"/>
          <p:cNvSpPr/>
          <p:nvPr/>
        </p:nvSpPr>
        <p:spPr>
          <a:xfrm>
            <a:off x="685800" y="1645920"/>
            <a:ext cx="10817352" cy="4251960"/>
          </a:xfrm>
          <a:prstGeom prst="rect">
            <a:avLst/>
          </a:prstGeom>
          <a:solidFill>
            <a:srgbClr val="EF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685800" y="164592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85800" y="164592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265408" y="164592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503152" y="164592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85800" y="589788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685800" y="566013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11265408" y="589788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503152" y="566013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838444" y="3296412"/>
            <a:ext cx="512064" cy="512064"/>
          </a:xfrm>
          <a:prstGeom prst="roundRect">
            <a:avLst/>
          </a:prstGeom>
          <a:noFill/>
          <a:ln w="19050">
            <a:solidFill>
              <a:srgbClr val="A9AE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951098" y="3398824"/>
            <a:ext cx="100584" cy="100584"/>
          </a:xfrm>
          <a:prstGeom prst="ellips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5992063" y="3521720"/>
            <a:ext cx="274320" cy="164592"/>
          </a:xfrm>
          <a:prstGeom prst="triangl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899916"/>
            <a:ext cx="10817352" cy="365760"/>
          </a:xfrm>
          <a:prstGeom prst="rect">
            <a:avLst/>
          </a:prstGeom>
          <a:noFill/>
        </p:spPr>
        <p:txBody>
          <a:bodyPr wrap="square" anchor="t" lIns="0" rIns="0" tIns="0" bIns="0">
            <a:spAutoFit/>
          </a:bodyPr>
          <a:lstStyle/>
          <a:p>
            <a:pPr algn="ctr"/>
            <a:r>
              <a:rPr sz="1050" b="1" i="0" spc="200">
                <a:solidFill>
                  <a:srgbClr val="868B94"/>
                </a:solidFill>
                <a:latin typeface="Arial"/>
              </a:rPr>
              <a:t>LARGE INTERIOR RENDERING</a:t>
            </a:r>
          </a:p>
        </p:txBody>
      </p:sp>
      <p:sp>
        <p:nvSpPr>
          <p:cNvPr id="17" name="TextBox 16"/>
          <p:cNvSpPr txBox="1"/>
          <p:nvPr/>
        </p:nvSpPr>
        <p:spPr>
          <a:xfrm>
            <a:off x="685800" y="4174236"/>
            <a:ext cx="10817352" cy="274320"/>
          </a:xfrm>
          <a:prstGeom prst="rect">
            <a:avLst/>
          </a:prstGeom>
          <a:noFill/>
        </p:spPr>
        <p:txBody>
          <a:bodyPr wrap="square" anchor="t" lIns="0" rIns="0" tIns="0" bIns="0">
            <a:spAutoFit/>
          </a:bodyPr>
          <a:lstStyle/>
          <a:p>
            <a:pPr algn="ctr"/>
            <a:r>
              <a:rPr sz="800" b="0" i="0" spc="80">
                <a:solidFill>
                  <a:srgbClr val="C8CCD2"/>
                </a:solidFill>
                <a:latin typeface="Arial"/>
              </a:rPr>
              <a:t>Replace · 16:9 · 300dpi</a:t>
            </a:r>
          </a:p>
        </p:txBody>
      </p:sp>
      <p:sp>
        <p:nvSpPr>
          <p:cNvPr id="18" name="TextBox 17"/>
          <p:cNvSpPr txBox="1"/>
          <p:nvPr/>
        </p:nvSpPr>
        <p:spPr>
          <a:xfrm>
            <a:off x="685800" y="5989320"/>
            <a:ext cx="10058400" cy="365760"/>
          </a:xfrm>
          <a:prstGeom prst="rect">
            <a:avLst/>
          </a:prstGeom>
          <a:noFill/>
        </p:spPr>
        <p:txBody>
          <a:bodyPr wrap="square" anchor="t" lIns="0" rIns="0" tIns="0" bIns="0">
            <a:spAutoFit/>
          </a:bodyPr>
          <a:lstStyle/>
          <a:p>
            <a:pPr algn="l"/>
            <a:r>
              <a:rPr sz="1200" b="0" i="0" spc="50">
                <a:solidFill>
                  <a:srgbClr val="868B94"/>
                </a:solidFill>
                <a:latin typeface="Arial"/>
              </a:rPr>
              <a:t>A family sanctuary — comfort, space, and calm, designed around people.</a:t>
            </a:r>
          </a:p>
        </p:txBody>
      </p:sp>
      <p:sp>
        <p:nvSpPr>
          <p:cNvPr id="19" name="TextBox 18"/>
          <p:cNvSpPr txBox="1"/>
          <p:nvPr/>
        </p:nvSpPr>
        <p:spPr>
          <a:xfrm>
            <a:off x="640080" y="6437376"/>
            <a:ext cx="7315200" cy="274320"/>
          </a:xfrm>
          <a:prstGeom prst="rect">
            <a:avLst/>
          </a:prstGeom>
          <a:noFill/>
        </p:spPr>
        <p:txBody>
          <a:bodyPr wrap="square" anchor="t" lIns="0" rIns="0" tIns="0" bIns="0">
            <a:spAutoFit/>
          </a:bodyPr>
          <a:lstStyle/>
          <a:p>
            <a:pPr algn="l"/>
            <a:r>
              <a:rPr sz="800" b="0" i="0" spc="150">
                <a:solidFill>
                  <a:srgbClr val="868B94"/>
                </a:solidFill>
                <a:latin typeface="Arial"/>
              </a:rPr>
              <a:t>CHRYSLER  ·  BRAND DESIGN VISION</a:t>
            </a:r>
          </a:p>
        </p:txBody>
      </p:sp>
      <p:sp>
        <p:nvSpPr>
          <p:cNvPr id="20" name="TextBox 19"/>
          <p:cNvSpPr txBox="1"/>
          <p:nvPr/>
        </p:nvSpPr>
        <p:spPr>
          <a:xfrm>
            <a:off x="10607040" y="6437376"/>
            <a:ext cx="914400" cy="274320"/>
          </a:xfrm>
          <a:prstGeom prst="rect">
            <a:avLst/>
          </a:prstGeom>
          <a:noFill/>
        </p:spPr>
        <p:txBody>
          <a:bodyPr wrap="square" anchor="t" lIns="0" rIns="0" tIns="0" bIns="0">
            <a:spAutoFit/>
          </a:bodyPr>
          <a:lstStyle/>
          <a:p>
            <a:pPr algn="r"/>
            <a:r>
              <a:rPr sz="800" b="0" i="0" spc="150">
                <a:solidFill>
                  <a:srgbClr val="868B94"/>
                </a:solidFill>
                <a:latin typeface="Arial"/>
              </a:rPr>
              <a:t>08</a:t>
            </a:r>
          </a:p>
        </p:txBody>
      </p:sp>
      <p:sp>
        <p:nvSpPr>
          <p:cNvPr id="21" name="TextBox 20"/>
          <p:cNvSpPr txBox="1"/>
          <p:nvPr/>
        </p:nvSpPr>
        <p:spPr>
          <a:xfrm>
            <a:off x="10424160" y="310896"/>
            <a:ext cx="1097280" cy="274320"/>
          </a:xfrm>
          <a:prstGeom prst="rect">
            <a:avLst/>
          </a:prstGeom>
          <a:noFill/>
        </p:spPr>
        <p:txBody>
          <a:bodyPr wrap="square" anchor="t" lIns="0" rIns="0" tIns="0" bIns="0">
            <a:spAutoFit/>
          </a:bodyPr>
          <a:lstStyle/>
          <a:p>
            <a:pPr algn="r"/>
            <a:r>
              <a:rPr sz="750" b="0" i="0" spc="200">
                <a:solidFill>
                  <a:srgbClr val="C8CCD2"/>
                </a:solidFill>
                <a:latin typeface="Arial"/>
              </a:rPr>
              <a:t>CONFIDENTIAL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48640"/>
            <a:ext cx="7315200" cy="274320"/>
          </a:xfrm>
          <a:prstGeom prst="rect">
            <a:avLst/>
          </a:prstGeom>
          <a:noFill/>
        </p:spPr>
        <p:txBody>
          <a:bodyPr wrap="square" anchor="t" lIns="0" rIns="0" tIns="0" bIns="0">
            <a:spAutoFit/>
          </a:bodyPr>
          <a:lstStyle/>
          <a:p>
            <a:pPr algn="l"/>
            <a:r>
              <a:rPr sz="1100" b="1" i="0" spc="300">
                <a:solidFill>
                  <a:srgbClr val="1B2A4A"/>
                </a:solidFill>
                <a:latin typeface="Arial"/>
              </a:rPr>
              <a:t>MODERN AMERICAN DESIGN</a:t>
            </a:r>
          </a:p>
        </p:txBody>
      </p:sp>
      <p:sp>
        <p:nvSpPr>
          <p:cNvPr id="3" name="TextBox 2"/>
          <p:cNvSpPr txBox="1"/>
          <p:nvPr/>
        </p:nvSpPr>
        <p:spPr>
          <a:xfrm>
            <a:off x="658368" y="868680"/>
            <a:ext cx="10058400" cy="640080"/>
          </a:xfrm>
          <a:prstGeom prst="rect">
            <a:avLst/>
          </a:prstGeom>
          <a:noFill/>
        </p:spPr>
        <p:txBody>
          <a:bodyPr wrap="square" anchor="t" lIns="0" rIns="0" tIns="0" bIns="0">
            <a:spAutoFit/>
          </a:bodyPr>
          <a:lstStyle/>
          <a:p>
            <a:pPr algn="l"/>
            <a:r>
              <a:rPr sz="2600" b="1" i="0">
                <a:solidFill>
                  <a:srgbClr val="1A1A1C"/>
                </a:solidFill>
                <a:latin typeface="Arial"/>
              </a:rPr>
              <a:t>300 Concept</a:t>
            </a:r>
          </a:p>
        </p:txBody>
      </p:sp>
      <p:sp>
        <p:nvSpPr>
          <p:cNvPr id="4" name="TextBox 3"/>
          <p:cNvSpPr txBox="1"/>
          <p:nvPr/>
        </p:nvSpPr>
        <p:spPr>
          <a:xfrm>
            <a:off x="685800" y="1481328"/>
            <a:ext cx="10817352" cy="411480"/>
          </a:xfrm>
          <a:prstGeom prst="rect">
            <a:avLst/>
          </a:prstGeom>
          <a:noFill/>
        </p:spPr>
        <p:txBody>
          <a:bodyPr wrap="square" anchor="t" lIns="0" rIns="0" tIns="0" bIns="0">
            <a:spAutoFit/>
          </a:bodyPr>
          <a:lstStyle/>
          <a:p>
            <a:pPr algn="l">
              <a:lnSpc>
                <a:spcPct val="120000"/>
              </a:lnSpc>
            </a:pPr>
            <a:r>
              <a:rPr sz="1300" b="0" i="1">
                <a:solidFill>
                  <a:srgbClr val="4A4E57"/>
                </a:solidFill>
                <a:latin typeface="Arial"/>
              </a:rPr>
              <a:t>The flagship expression of Chrysler design — presence through confidence and craftsmanship, never excess.</a:t>
            </a:r>
          </a:p>
        </p:txBody>
      </p:sp>
      <p:sp>
        <p:nvSpPr>
          <p:cNvPr id="5" name="Rectangle 4"/>
          <p:cNvSpPr/>
          <p:nvPr/>
        </p:nvSpPr>
        <p:spPr>
          <a:xfrm>
            <a:off x="685800" y="2011680"/>
            <a:ext cx="10817352" cy="3383280"/>
          </a:xfrm>
          <a:prstGeom prst="rect">
            <a:avLst/>
          </a:prstGeom>
          <a:solidFill>
            <a:srgbClr val="EF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685800" y="201168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85800" y="201168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11265408" y="201168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503152" y="201168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 y="539496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685800" y="515721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11265408" y="539496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503152" y="515721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838444" y="3227832"/>
            <a:ext cx="512064" cy="512064"/>
          </a:xfrm>
          <a:prstGeom prst="roundRect">
            <a:avLst/>
          </a:prstGeom>
          <a:noFill/>
          <a:ln w="19050">
            <a:solidFill>
              <a:srgbClr val="A9AE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951098" y="3330244"/>
            <a:ext cx="100584" cy="100584"/>
          </a:xfrm>
          <a:prstGeom prst="ellips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992063" y="3453140"/>
            <a:ext cx="274320" cy="164592"/>
          </a:xfrm>
          <a:prstGeom prst="triangl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831336"/>
            <a:ext cx="10817352" cy="365760"/>
          </a:xfrm>
          <a:prstGeom prst="rect">
            <a:avLst/>
          </a:prstGeom>
          <a:noFill/>
        </p:spPr>
        <p:txBody>
          <a:bodyPr wrap="square" anchor="t" lIns="0" rIns="0" tIns="0" bIns="0">
            <a:spAutoFit/>
          </a:bodyPr>
          <a:lstStyle/>
          <a:p>
            <a:pPr algn="ctr"/>
            <a:r>
              <a:rPr sz="1050" b="1" i="0" spc="200">
                <a:solidFill>
                  <a:srgbClr val="868B94"/>
                </a:solidFill>
                <a:latin typeface="Arial"/>
              </a:rPr>
              <a:t>LARGE EXTERIOR IMAGE</a:t>
            </a:r>
          </a:p>
        </p:txBody>
      </p:sp>
      <p:sp>
        <p:nvSpPr>
          <p:cNvPr id="18" name="TextBox 17"/>
          <p:cNvSpPr txBox="1"/>
          <p:nvPr/>
        </p:nvSpPr>
        <p:spPr>
          <a:xfrm>
            <a:off x="685800" y="4105656"/>
            <a:ext cx="10817352" cy="274320"/>
          </a:xfrm>
          <a:prstGeom prst="rect">
            <a:avLst/>
          </a:prstGeom>
          <a:noFill/>
        </p:spPr>
        <p:txBody>
          <a:bodyPr wrap="square" anchor="t" lIns="0" rIns="0" tIns="0" bIns="0">
            <a:spAutoFit/>
          </a:bodyPr>
          <a:lstStyle/>
          <a:p>
            <a:pPr algn="ctr"/>
            <a:r>
              <a:rPr sz="800" b="0" i="0" spc="80">
                <a:solidFill>
                  <a:srgbClr val="C8CCD2"/>
                </a:solidFill>
                <a:latin typeface="Arial"/>
              </a:rPr>
              <a:t>Replace · 16:9 · 300dpi</a:t>
            </a:r>
          </a:p>
        </p:txBody>
      </p:sp>
      <p:sp>
        <p:nvSpPr>
          <p:cNvPr id="19" name="Oval 18"/>
          <p:cNvSpPr/>
          <p:nvPr/>
        </p:nvSpPr>
        <p:spPr>
          <a:xfrm>
            <a:off x="685800" y="5532120"/>
            <a:ext cx="384048" cy="384048"/>
          </a:xfrm>
          <a:prstGeom prst="ellipse">
            <a:avLst/>
          </a:prstGeom>
          <a:noFill/>
          <a:ln w="15875">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95528" y="5641848"/>
            <a:ext cx="164592" cy="164592"/>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34440" y="5486400"/>
            <a:ext cx="2813304" cy="777240"/>
          </a:xfrm>
          <a:prstGeom prst="rect">
            <a:avLst/>
          </a:prstGeom>
          <a:noFill/>
        </p:spPr>
        <p:txBody>
          <a:bodyPr wrap="square" anchor="t" lIns="0" rIns="0" tIns="0" bIns="0">
            <a:spAutoFit/>
          </a:bodyPr>
          <a:lstStyle/>
          <a:p>
            <a:pPr algn="l">
              <a:spcAft>
                <a:spcPts val="100"/>
              </a:spcAft>
            </a:pPr>
            <a:r>
              <a:rPr sz="1250" b="1" i="0">
                <a:solidFill>
                  <a:srgbClr val="1A1A1C"/>
                </a:solidFill>
                <a:latin typeface="Arial"/>
              </a:rPr>
              <a:t>Commanding Presence</a:t>
            </a:r>
          </a:p>
          <a:p>
            <a:pPr algn="l">
              <a:lnSpc>
                <a:spcPct val="110000"/>
              </a:lnSpc>
            </a:pPr>
            <a:r>
              <a:rPr sz="1000" b="0" i="0">
                <a:solidFill>
                  <a:srgbClr val="868B94"/>
                </a:solidFill>
                <a:latin typeface="Arial"/>
              </a:rPr>
              <a:t>Architectural proportion, calm and assured.</a:t>
            </a:r>
          </a:p>
        </p:txBody>
      </p:sp>
      <p:sp>
        <p:nvSpPr>
          <p:cNvPr id="22" name="Oval 21"/>
          <p:cNvSpPr/>
          <p:nvPr/>
        </p:nvSpPr>
        <p:spPr>
          <a:xfrm>
            <a:off x="4413504" y="5532120"/>
            <a:ext cx="384048" cy="384048"/>
          </a:xfrm>
          <a:prstGeom prst="ellipse">
            <a:avLst/>
          </a:prstGeom>
          <a:noFill/>
          <a:ln w="15875">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523232" y="5641848"/>
            <a:ext cx="164592" cy="164592"/>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62144" y="5486400"/>
            <a:ext cx="2813304" cy="777240"/>
          </a:xfrm>
          <a:prstGeom prst="rect">
            <a:avLst/>
          </a:prstGeom>
          <a:noFill/>
        </p:spPr>
        <p:txBody>
          <a:bodyPr wrap="square" anchor="t" lIns="0" rIns="0" tIns="0" bIns="0">
            <a:spAutoFit/>
          </a:bodyPr>
          <a:lstStyle/>
          <a:p>
            <a:pPr algn="l">
              <a:spcAft>
                <a:spcPts val="100"/>
              </a:spcAft>
            </a:pPr>
            <a:r>
              <a:rPr sz="1250" b="1" i="0">
                <a:solidFill>
                  <a:srgbClr val="1A1A1C"/>
                </a:solidFill>
                <a:latin typeface="Arial"/>
              </a:rPr>
              <a:t>Crafted Composure</a:t>
            </a:r>
          </a:p>
          <a:p>
            <a:pPr algn="l">
              <a:lnSpc>
                <a:spcPct val="110000"/>
              </a:lnSpc>
            </a:pPr>
            <a:r>
              <a:rPr sz="1000" b="0" i="0">
                <a:solidFill>
                  <a:srgbClr val="868B94"/>
                </a:solidFill>
                <a:latin typeface="Arial"/>
              </a:rPr>
              <a:t>Confidence expressed through restraint.</a:t>
            </a:r>
          </a:p>
        </p:txBody>
      </p:sp>
      <p:sp>
        <p:nvSpPr>
          <p:cNvPr id="25" name="Oval 24"/>
          <p:cNvSpPr/>
          <p:nvPr/>
        </p:nvSpPr>
        <p:spPr>
          <a:xfrm>
            <a:off x="8141208" y="5532120"/>
            <a:ext cx="384048" cy="384048"/>
          </a:xfrm>
          <a:prstGeom prst="ellipse">
            <a:avLst/>
          </a:prstGeom>
          <a:noFill/>
          <a:ln w="15875">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250936" y="5641848"/>
            <a:ext cx="164592" cy="164592"/>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9848" y="5486400"/>
            <a:ext cx="2813304" cy="777240"/>
          </a:xfrm>
          <a:prstGeom prst="rect">
            <a:avLst/>
          </a:prstGeom>
          <a:noFill/>
        </p:spPr>
        <p:txBody>
          <a:bodyPr wrap="square" anchor="t" lIns="0" rIns="0" tIns="0" bIns="0">
            <a:spAutoFit/>
          </a:bodyPr>
          <a:lstStyle/>
          <a:p>
            <a:pPr algn="l">
              <a:spcAft>
                <a:spcPts val="100"/>
              </a:spcAft>
            </a:pPr>
            <a:r>
              <a:rPr sz="1250" b="1" i="0">
                <a:solidFill>
                  <a:srgbClr val="1A1A1C"/>
                </a:solidFill>
                <a:latin typeface="Arial"/>
              </a:rPr>
              <a:t>Authentically American</a:t>
            </a:r>
          </a:p>
          <a:p>
            <a:pPr algn="l">
              <a:lnSpc>
                <a:spcPct val="110000"/>
              </a:lnSpc>
            </a:pPr>
            <a:r>
              <a:rPr sz="1000" b="0" i="0">
                <a:solidFill>
                  <a:srgbClr val="868B94"/>
                </a:solidFill>
                <a:latin typeface="Arial"/>
              </a:rPr>
              <a:t>Timeless design, unmistakably Chrysler.</a:t>
            </a:r>
          </a:p>
        </p:txBody>
      </p:sp>
      <p:sp>
        <p:nvSpPr>
          <p:cNvPr id="28" name="TextBox 27"/>
          <p:cNvSpPr txBox="1"/>
          <p:nvPr/>
        </p:nvSpPr>
        <p:spPr>
          <a:xfrm>
            <a:off x="640080" y="6437376"/>
            <a:ext cx="7315200" cy="274320"/>
          </a:xfrm>
          <a:prstGeom prst="rect">
            <a:avLst/>
          </a:prstGeom>
          <a:noFill/>
        </p:spPr>
        <p:txBody>
          <a:bodyPr wrap="square" anchor="t" lIns="0" rIns="0" tIns="0" bIns="0">
            <a:spAutoFit/>
          </a:bodyPr>
          <a:lstStyle/>
          <a:p>
            <a:pPr algn="l"/>
            <a:r>
              <a:rPr sz="800" b="0" i="0" spc="150">
                <a:solidFill>
                  <a:srgbClr val="868B94"/>
                </a:solidFill>
                <a:latin typeface="Arial"/>
              </a:rPr>
              <a:t>CHRYSLER  ·  BRAND DESIGN VISION</a:t>
            </a:r>
          </a:p>
        </p:txBody>
      </p:sp>
      <p:sp>
        <p:nvSpPr>
          <p:cNvPr id="29" name="TextBox 28"/>
          <p:cNvSpPr txBox="1"/>
          <p:nvPr/>
        </p:nvSpPr>
        <p:spPr>
          <a:xfrm>
            <a:off x="10607040" y="6437376"/>
            <a:ext cx="914400" cy="274320"/>
          </a:xfrm>
          <a:prstGeom prst="rect">
            <a:avLst/>
          </a:prstGeom>
          <a:noFill/>
        </p:spPr>
        <p:txBody>
          <a:bodyPr wrap="square" anchor="t" lIns="0" rIns="0" tIns="0" bIns="0">
            <a:spAutoFit/>
          </a:bodyPr>
          <a:lstStyle/>
          <a:p>
            <a:pPr algn="r"/>
            <a:r>
              <a:rPr sz="800" b="0" i="0" spc="150">
                <a:solidFill>
                  <a:srgbClr val="868B94"/>
                </a:solidFill>
                <a:latin typeface="Arial"/>
              </a:rPr>
              <a:t>09</a:t>
            </a:r>
          </a:p>
        </p:txBody>
      </p:sp>
      <p:sp>
        <p:nvSpPr>
          <p:cNvPr id="30" name="TextBox 29"/>
          <p:cNvSpPr txBox="1"/>
          <p:nvPr/>
        </p:nvSpPr>
        <p:spPr>
          <a:xfrm>
            <a:off x="10424160" y="310896"/>
            <a:ext cx="1097280" cy="274320"/>
          </a:xfrm>
          <a:prstGeom prst="rect">
            <a:avLst/>
          </a:prstGeom>
          <a:noFill/>
        </p:spPr>
        <p:txBody>
          <a:bodyPr wrap="square" anchor="t" lIns="0" rIns="0" tIns="0" bIns="0">
            <a:spAutoFit/>
          </a:bodyPr>
          <a:lstStyle/>
          <a:p>
            <a:pPr algn="r"/>
            <a:r>
              <a:rPr sz="750" b="0" i="0" spc="200">
                <a:solidFill>
                  <a:srgbClr val="C8CCD2"/>
                </a:solidFill>
                <a:latin typeface="Arial"/>
              </a:rPr>
              <a:t>CONFIDENTIAL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48640"/>
            <a:ext cx="7315200" cy="274320"/>
          </a:xfrm>
          <a:prstGeom prst="rect">
            <a:avLst/>
          </a:prstGeom>
          <a:noFill/>
        </p:spPr>
        <p:txBody>
          <a:bodyPr wrap="square" anchor="t" lIns="0" rIns="0" tIns="0" bIns="0">
            <a:spAutoFit/>
          </a:bodyPr>
          <a:lstStyle/>
          <a:p>
            <a:pPr algn="l"/>
            <a:r>
              <a:rPr sz="1100" b="1" i="0" spc="300">
                <a:solidFill>
                  <a:srgbClr val="1B2A4A"/>
                </a:solidFill>
                <a:latin typeface="Arial"/>
              </a:rPr>
              <a:t>MODERN AMERICAN DESIGN</a:t>
            </a:r>
          </a:p>
        </p:txBody>
      </p:sp>
      <p:sp>
        <p:nvSpPr>
          <p:cNvPr id="3" name="TextBox 2"/>
          <p:cNvSpPr txBox="1"/>
          <p:nvPr/>
        </p:nvSpPr>
        <p:spPr>
          <a:xfrm>
            <a:off x="658368" y="868680"/>
            <a:ext cx="10058400" cy="640080"/>
          </a:xfrm>
          <a:prstGeom prst="rect">
            <a:avLst/>
          </a:prstGeom>
          <a:noFill/>
        </p:spPr>
        <p:txBody>
          <a:bodyPr wrap="square" anchor="t" lIns="0" rIns="0" tIns="0" bIns="0">
            <a:spAutoFit/>
          </a:bodyPr>
          <a:lstStyle/>
          <a:p>
            <a:pPr algn="l"/>
            <a:r>
              <a:rPr sz="2600" b="1" i="0">
                <a:solidFill>
                  <a:srgbClr val="1A1A1C"/>
                </a:solidFill>
                <a:latin typeface="Arial"/>
              </a:rPr>
              <a:t>300 Interior</a:t>
            </a:r>
          </a:p>
        </p:txBody>
      </p:sp>
      <p:sp>
        <p:nvSpPr>
          <p:cNvPr id="4" name="Rectangle 3"/>
          <p:cNvSpPr/>
          <p:nvPr/>
        </p:nvSpPr>
        <p:spPr>
          <a:xfrm>
            <a:off x="685800" y="1645920"/>
            <a:ext cx="10817352" cy="4251960"/>
          </a:xfrm>
          <a:prstGeom prst="rect">
            <a:avLst/>
          </a:prstGeom>
          <a:solidFill>
            <a:srgbClr val="EF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685800" y="164592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85800" y="164592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265408" y="164592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503152" y="164592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85800" y="589788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685800" y="566013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11265408" y="589788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503152" y="566013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838444" y="3296412"/>
            <a:ext cx="512064" cy="512064"/>
          </a:xfrm>
          <a:prstGeom prst="roundRect">
            <a:avLst/>
          </a:prstGeom>
          <a:noFill/>
          <a:ln w="19050">
            <a:solidFill>
              <a:srgbClr val="A9AE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951098" y="3398824"/>
            <a:ext cx="100584" cy="100584"/>
          </a:xfrm>
          <a:prstGeom prst="ellips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5992063" y="3521720"/>
            <a:ext cx="274320" cy="164592"/>
          </a:xfrm>
          <a:prstGeom prst="triangl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899916"/>
            <a:ext cx="10817352" cy="365760"/>
          </a:xfrm>
          <a:prstGeom prst="rect">
            <a:avLst/>
          </a:prstGeom>
          <a:noFill/>
        </p:spPr>
        <p:txBody>
          <a:bodyPr wrap="square" anchor="t" lIns="0" rIns="0" tIns="0" bIns="0">
            <a:spAutoFit/>
          </a:bodyPr>
          <a:lstStyle/>
          <a:p>
            <a:pPr algn="ctr"/>
            <a:r>
              <a:rPr sz="1050" b="1" i="0" spc="200">
                <a:solidFill>
                  <a:srgbClr val="868B94"/>
                </a:solidFill>
                <a:latin typeface="Arial"/>
              </a:rPr>
              <a:t>LARGE INTERIOR RENDERING</a:t>
            </a:r>
          </a:p>
        </p:txBody>
      </p:sp>
      <p:sp>
        <p:nvSpPr>
          <p:cNvPr id="17" name="TextBox 16"/>
          <p:cNvSpPr txBox="1"/>
          <p:nvPr/>
        </p:nvSpPr>
        <p:spPr>
          <a:xfrm>
            <a:off x="685800" y="4174236"/>
            <a:ext cx="10817352" cy="274320"/>
          </a:xfrm>
          <a:prstGeom prst="rect">
            <a:avLst/>
          </a:prstGeom>
          <a:noFill/>
        </p:spPr>
        <p:txBody>
          <a:bodyPr wrap="square" anchor="t" lIns="0" rIns="0" tIns="0" bIns="0">
            <a:spAutoFit/>
          </a:bodyPr>
          <a:lstStyle/>
          <a:p>
            <a:pPr algn="ctr"/>
            <a:r>
              <a:rPr sz="800" b="0" i="0" spc="80">
                <a:solidFill>
                  <a:srgbClr val="C8CCD2"/>
                </a:solidFill>
                <a:latin typeface="Arial"/>
              </a:rPr>
              <a:t>Replace · 16:9 · 300dpi</a:t>
            </a:r>
          </a:p>
        </p:txBody>
      </p:sp>
      <p:sp>
        <p:nvSpPr>
          <p:cNvPr id="18" name="TextBox 17"/>
          <p:cNvSpPr txBox="1"/>
          <p:nvPr/>
        </p:nvSpPr>
        <p:spPr>
          <a:xfrm>
            <a:off x="685800" y="5989320"/>
            <a:ext cx="10058400" cy="365760"/>
          </a:xfrm>
          <a:prstGeom prst="rect">
            <a:avLst/>
          </a:prstGeom>
          <a:noFill/>
        </p:spPr>
        <p:txBody>
          <a:bodyPr wrap="square" anchor="t" lIns="0" rIns="0" tIns="0" bIns="0">
            <a:spAutoFit/>
          </a:bodyPr>
          <a:lstStyle/>
          <a:p>
            <a:pPr algn="l"/>
            <a:r>
              <a:rPr sz="1200" b="0" i="0" spc="50">
                <a:solidFill>
                  <a:srgbClr val="868B94"/>
                </a:solidFill>
                <a:latin typeface="Arial"/>
              </a:rPr>
              <a:t>Crafted, composed, human in scale — presence without excess.</a:t>
            </a:r>
          </a:p>
        </p:txBody>
      </p:sp>
      <p:sp>
        <p:nvSpPr>
          <p:cNvPr id="19" name="TextBox 18"/>
          <p:cNvSpPr txBox="1"/>
          <p:nvPr/>
        </p:nvSpPr>
        <p:spPr>
          <a:xfrm>
            <a:off x="640080" y="6437376"/>
            <a:ext cx="7315200" cy="274320"/>
          </a:xfrm>
          <a:prstGeom prst="rect">
            <a:avLst/>
          </a:prstGeom>
          <a:noFill/>
        </p:spPr>
        <p:txBody>
          <a:bodyPr wrap="square" anchor="t" lIns="0" rIns="0" tIns="0" bIns="0">
            <a:spAutoFit/>
          </a:bodyPr>
          <a:lstStyle/>
          <a:p>
            <a:pPr algn="l"/>
            <a:r>
              <a:rPr sz="800" b="0" i="0" spc="150">
                <a:solidFill>
                  <a:srgbClr val="868B94"/>
                </a:solidFill>
                <a:latin typeface="Arial"/>
              </a:rPr>
              <a:t>CHRYSLER  ·  BRAND DESIGN VISION</a:t>
            </a:r>
          </a:p>
        </p:txBody>
      </p:sp>
      <p:sp>
        <p:nvSpPr>
          <p:cNvPr id="20" name="TextBox 19"/>
          <p:cNvSpPr txBox="1"/>
          <p:nvPr/>
        </p:nvSpPr>
        <p:spPr>
          <a:xfrm>
            <a:off x="10607040" y="6437376"/>
            <a:ext cx="914400" cy="274320"/>
          </a:xfrm>
          <a:prstGeom prst="rect">
            <a:avLst/>
          </a:prstGeom>
          <a:noFill/>
        </p:spPr>
        <p:txBody>
          <a:bodyPr wrap="square" anchor="t" lIns="0" rIns="0" tIns="0" bIns="0">
            <a:spAutoFit/>
          </a:bodyPr>
          <a:lstStyle/>
          <a:p>
            <a:pPr algn="r"/>
            <a:r>
              <a:rPr sz="800" b="0" i="0" spc="150">
                <a:solidFill>
                  <a:srgbClr val="868B94"/>
                </a:solidFill>
                <a:latin typeface="Arial"/>
              </a:rPr>
              <a:t>10</a:t>
            </a:r>
          </a:p>
        </p:txBody>
      </p:sp>
      <p:sp>
        <p:nvSpPr>
          <p:cNvPr id="21" name="TextBox 20"/>
          <p:cNvSpPr txBox="1"/>
          <p:nvPr/>
        </p:nvSpPr>
        <p:spPr>
          <a:xfrm>
            <a:off x="10424160" y="310896"/>
            <a:ext cx="1097280" cy="274320"/>
          </a:xfrm>
          <a:prstGeom prst="rect">
            <a:avLst/>
          </a:prstGeom>
          <a:noFill/>
        </p:spPr>
        <p:txBody>
          <a:bodyPr wrap="square" anchor="t" lIns="0" rIns="0" tIns="0" bIns="0">
            <a:spAutoFit/>
          </a:bodyPr>
          <a:lstStyle/>
          <a:p>
            <a:pPr algn="r"/>
            <a:r>
              <a:rPr sz="750" b="0" i="0" spc="200">
                <a:solidFill>
                  <a:srgbClr val="C8CCD2"/>
                </a:solidFill>
                <a:latin typeface="Arial"/>
              </a:rPr>
              <a:t>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48640"/>
            <a:ext cx="7315200" cy="274320"/>
          </a:xfrm>
          <a:prstGeom prst="rect">
            <a:avLst/>
          </a:prstGeom>
          <a:noFill/>
        </p:spPr>
        <p:txBody>
          <a:bodyPr wrap="square" anchor="t" lIns="0" rIns="0" tIns="0" bIns="0">
            <a:spAutoFit/>
          </a:bodyPr>
          <a:lstStyle/>
          <a:p>
            <a:pPr algn="l"/>
            <a:r>
              <a:rPr sz="1100" b="1" i="0" spc="300">
                <a:solidFill>
                  <a:srgbClr val="1B2A4A"/>
                </a:solidFill>
                <a:latin typeface="Arial"/>
              </a:rPr>
              <a:t>EVERYDAY INGENUITY</a:t>
            </a:r>
          </a:p>
        </p:txBody>
      </p:sp>
      <p:sp>
        <p:nvSpPr>
          <p:cNvPr id="3" name="TextBox 2"/>
          <p:cNvSpPr txBox="1"/>
          <p:nvPr/>
        </p:nvSpPr>
        <p:spPr>
          <a:xfrm>
            <a:off x="658368" y="868680"/>
            <a:ext cx="10058400" cy="640080"/>
          </a:xfrm>
          <a:prstGeom prst="rect">
            <a:avLst/>
          </a:prstGeom>
          <a:noFill/>
        </p:spPr>
        <p:txBody>
          <a:bodyPr wrap="square" anchor="t" lIns="0" rIns="0" tIns="0" bIns="0">
            <a:spAutoFit/>
          </a:bodyPr>
          <a:lstStyle/>
          <a:p>
            <a:pPr algn="l"/>
            <a:r>
              <a:rPr sz="2600" b="1" i="0">
                <a:solidFill>
                  <a:srgbClr val="1A1A1C"/>
                </a:solidFill>
                <a:latin typeface="Arial"/>
              </a:rPr>
              <a:t>Airflow</a:t>
            </a:r>
          </a:p>
        </p:txBody>
      </p:sp>
      <p:sp>
        <p:nvSpPr>
          <p:cNvPr id="4" name="TextBox 3"/>
          <p:cNvSpPr txBox="1"/>
          <p:nvPr/>
        </p:nvSpPr>
        <p:spPr>
          <a:xfrm>
            <a:off x="685800" y="1481328"/>
            <a:ext cx="10817352" cy="411480"/>
          </a:xfrm>
          <a:prstGeom prst="rect">
            <a:avLst/>
          </a:prstGeom>
          <a:noFill/>
        </p:spPr>
        <p:txBody>
          <a:bodyPr wrap="square" anchor="t" lIns="0" rIns="0" tIns="0" bIns="0">
            <a:spAutoFit/>
          </a:bodyPr>
          <a:lstStyle/>
          <a:p>
            <a:pPr algn="l">
              <a:lnSpc>
                <a:spcPct val="120000"/>
              </a:lnSpc>
            </a:pPr>
            <a:r>
              <a:rPr sz="1300" b="0" i="1">
                <a:solidFill>
                  <a:srgbClr val="4A4E57"/>
                </a:solidFill>
                <a:latin typeface="Arial"/>
              </a:rPr>
              <a:t>Chrysler's design manifesto — intelligent design that simplifies everyday life rather than complicating it.</a:t>
            </a:r>
          </a:p>
        </p:txBody>
      </p:sp>
      <p:sp>
        <p:nvSpPr>
          <p:cNvPr id="5" name="Rectangle 4"/>
          <p:cNvSpPr/>
          <p:nvPr/>
        </p:nvSpPr>
        <p:spPr>
          <a:xfrm>
            <a:off x="685800" y="2011680"/>
            <a:ext cx="10817352" cy="3383280"/>
          </a:xfrm>
          <a:prstGeom prst="rect">
            <a:avLst/>
          </a:prstGeom>
          <a:solidFill>
            <a:srgbClr val="EF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685800" y="201168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85800" y="201168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11265408" y="201168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503152" y="201168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 y="539496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685800" y="515721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11265408" y="539496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503152" y="515721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838444" y="3227832"/>
            <a:ext cx="512064" cy="512064"/>
          </a:xfrm>
          <a:prstGeom prst="roundRect">
            <a:avLst/>
          </a:prstGeom>
          <a:noFill/>
          <a:ln w="19050">
            <a:solidFill>
              <a:srgbClr val="A9AE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951098" y="3330244"/>
            <a:ext cx="100584" cy="100584"/>
          </a:xfrm>
          <a:prstGeom prst="ellips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992063" y="3453140"/>
            <a:ext cx="274320" cy="164592"/>
          </a:xfrm>
          <a:prstGeom prst="triangl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831336"/>
            <a:ext cx="10817352" cy="365760"/>
          </a:xfrm>
          <a:prstGeom prst="rect">
            <a:avLst/>
          </a:prstGeom>
          <a:noFill/>
        </p:spPr>
        <p:txBody>
          <a:bodyPr wrap="square" anchor="t" lIns="0" rIns="0" tIns="0" bIns="0">
            <a:spAutoFit/>
          </a:bodyPr>
          <a:lstStyle/>
          <a:p>
            <a:pPr algn="ctr"/>
            <a:r>
              <a:rPr sz="1050" b="1" i="0" spc="200">
                <a:solidFill>
                  <a:srgbClr val="868B94"/>
                </a:solidFill>
                <a:latin typeface="Arial"/>
              </a:rPr>
              <a:t>LARGE EXTERIOR IMAGE</a:t>
            </a:r>
          </a:p>
        </p:txBody>
      </p:sp>
      <p:sp>
        <p:nvSpPr>
          <p:cNvPr id="18" name="TextBox 17"/>
          <p:cNvSpPr txBox="1"/>
          <p:nvPr/>
        </p:nvSpPr>
        <p:spPr>
          <a:xfrm>
            <a:off x="685800" y="4105656"/>
            <a:ext cx="10817352" cy="274320"/>
          </a:xfrm>
          <a:prstGeom prst="rect">
            <a:avLst/>
          </a:prstGeom>
          <a:noFill/>
        </p:spPr>
        <p:txBody>
          <a:bodyPr wrap="square" anchor="t" lIns="0" rIns="0" tIns="0" bIns="0">
            <a:spAutoFit/>
          </a:bodyPr>
          <a:lstStyle/>
          <a:p>
            <a:pPr algn="ctr"/>
            <a:r>
              <a:rPr sz="800" b="0" i="0" spc="80">
                <a:solidFill>
                  <a:srgbClr val="C8CCD2"/>
                </a:solidFill>
                <a:latin typeface="Arial"/>
              </a:rPr>
              <a:t>Replace · 16:9 · 300dpi</a:t>
            </a:r>
          </a:p>
        </p:txBody>
      </p:sp>
      <p:sp>
        <p:nvSpPr>
          <p:cNvPr id="19" name="Oval 18"/>
          <p:cNvSpPr/>
          <p:nvPr/>
        </p:nvSpPr>
        <p:spPr>
          <a:xfrm>
            <a:off x="685800" y="5532120"/>
            <a:ext cx="384048" cy="384048"/>
          </a:xfrm>
          <a:prstGeom prst="ellipse">
            <a:avLst/>
          </a:prstGeom>
          <a:noFill/>
          <a:ln w="15875">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95528" y="5641848"/>
            <a:ext cx="164592" cy="164592"/>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34440" y="5486400"/>
            <a:ext cx="2813304" cy="777240"/>
          </a:xfrm>
          <a:prstGeom prst="rect">
            <a:avLst/>
          </a:prstGeom>
          <a:noFill/>
        </p:spPr>
        <p:txBody>
          <a:bodyPr wrap="square" anchor="t" lIns="0" rIns="0" tIns="0" bIns="0">
            <a:spAutoFit/>
          </a:bodyPr>
          <a:lstStyle/>
          <a:p>
            <a:pPr algn="l">
              <a:spcAft>
                <a:spcPts val="100"/>
              </a:spcAft>
            </a:pPr>
            <a:r>
              <a:rPr sz="1250" b="1" i="0">
                <a:solidFill>
                  <a:srgbClr val="1A1A1C"/>
                </a:solidFill>
                <a:latin typeface="Arial"/>
              </a:rPr>
              <a:t>Everyday Ingenuity</a:t>
            </a:r>
          </a:p>
          <a:p>
            <a:pPr algn="l">
              <a:lnSpc>
                <a:spcPct val="110000"/>
              </a:lnSpc>
            </a:pPr>
            <a:r>
              <a:rPr sz="1000" b="0" i="0">
                <a:solidFill>
                  <a:srgbClr val="868B94"/>
                </a:solidFill>
                <a:latin typeface="Arial"/>
              </a:rPr>
              <a:t>Thoughtful solutions for daily life.</a:t>
            </a:r>
          </a:p>
        </p:txBody>
      </p:sp>
      <p:sp>
        <p:nvSpPr>
          <p:cNvPr id="22" name="Oval 21"/>
          <p:cNvSpPr/>
          <p:nvPr/>
        </p:nvSpPr>
        <p:spPr>
          <a:xfrm>
            <a:off x="4413504" y="5532120"/>
            <a:ext cx="384048" cy="384048"/>
          </a:xfrm>
          <a:prstGeom prst="ellipse">
            <a:avLst/>
          </a:prstGeom>
          <a:noFill/>
          <a:ln w="15875">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523232" y="5641848"/>
            <a:ext cx="164592" cy="164592"/>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62144" y="5486400"/>
            <a:ext cx="2813304" cy="777240"/>
          </a:xfrm>
          <a:prstGeom prst="rect">
            <a:avLst/>
          </a:prstGeom>
          <a:noFill/>
        </p:spPr>
        <p:txBody>
          <a:bodyPr wrap="square" anchor="t" lIns="0" rIns="0" tIns="0" bIns="0">
            <a:spAutoFit/>
          </a:bodyPr>
          <a:lstStyle/>
          <a:p>
            <a:pPr algn="l">
              <a:spcAft>
                <a:spcPts val="100"/>
              </a:spcAft>
            </a:pPr>
            <a:r>
              <a:rPr sz="1250" b="1" i="0">
                <a:solidFill>
                  <a:srgbClr val="1A1A1C"/>
                </a:solidFill>
                <a:latin typeface="Arial"/>
              </a:rPr>
              <a:t>Intelligence That Recedes</a:t>
            </a:r>
          </a:p>
          <a:p>
            <a:pPr algn="l">
              <a:lnSpc>
                <a:spcPct val="110000"/>
              </a:lnSpc>
            </a:pPr>
            <a:r>
              <a:rPr sz="1000" b="0" i="0">
                <a:solidFill>
                  <a:srgbClr val="868B94"/>
                </a:solidFill>
                <a:latin typeface="Arial"/>
              </a:rPr>
              <a:t>Technology that quietly supports.</a:t>
            </a:r>
          </a:p>
        </p:txBody>
      </p:sp>
      <p:sp>
        <p:nvSpPr>
          <p:cNvPr id="25" name="Oval 24"/>
          <p:cNvSpPr/>
          <p:nvPr/>
        </p:nvSpPr>
        <p:spPr>
          <a:xfrm>
            <a:off x="8141208" y="5532120"/>
            <a:ext cx="384048" cy="384048"/>
          </a:xfrm>
          <a:prstGeom prst="ellipse">
            <a:avLst/>
          </a:prstGeom>
          <a:noFill/>
          <a:ln w="15875">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250936" y="5641848"/>
            <a:ext cx="164592" cy="164592"/>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9848" y="5486400"/>
            <a:ext cx="2813304" cy="777240"/>
          </a:xfrm>
          <a:prstGeom prst="rect">
            <a:avLst/>
          </a:prstGeom>
          <a:noFill/>
        </p:spPr>
        <p:txBody>
          <a:bodyPr wrap="square" anchor="t" lIns="0" rIns="0" tIns="0" bIns="0">
            <a:spAutoFit/>
          </a:bodyPr>
          <a:lstStyle/>
          <a:p>
            <a:pPr algn="l">
              <a:spcAft>
                <a:spcPts val="100"/>
              </a:spcAft>
            </a:pPr>
            <a:r>
              <a:rPr sz="1250" b="1" i="0">
                <a:solidFill>
                  <a:srgbClr val="1A1A1C"/>
                </a:solidFill>
                <a:latin typeface="Arial"/>
              </a:rPr>
              <a:t>Confident Simplicity</a:t>
            </a:r>
          </a:p>
          <a:p>
            <a:pPr algn="l">
              <a:lnSpc>
                <a:spcPct val="110000"/>
              </a:lnSpc>
            </a:pPr>
            <a:r>
              <a:rPr sz="1000" b="0" i="0">
                <a:solidFill>
                  <a:srgbClr val="868B94"/>
                </a:solidFill>
                <a:latin typeface="Arial"/>
              </a:rPr>
              <a:t>Clean, modern, human-centered form.</a:t>
            </a:r>
          </a:p>
        </p:txBody>
      </p:sp>
      <p:sp>
        <p:nvSpPr>
          <p:cNvPr id="28" name="TextBox 27"/>
          <p:cNvSpPr txBox="1"/>
          <p:nvPr/>
        </p:nvSpPr>
        <p:spPr>
          <a:xfrm>
            <a:off x="640080" y="6437376"/>
            <a:ext cx="7315200" cy="274320"/>
          </a:xfrm>
          <a:prstGeom prst="rect">
            <a:avLst/>
          </a:prstGeom>
          <a:noFill/>
        </p:spPr>
        <p:txBody>
          <a:bodyPr wrap="square" anchor="t" lIns="0" rIns="0" tIns="0" bIns="0">
            <a:spAutoFit/>
          </a:bodyPr>
          <a:lstStyle/>
          <a:p>
            <a:pPr algn="l"/>
            <a:r>
              <a:rPr sz="800" b="0" i="0" spc="150">
                <a:solidFill>
                  <a:srgbClr val="868B94"/>
                </a:solidFill>
                <a:latin typeface="Arial"/>
              </a:rPr>
              <a:t>CHRYSLER  ·  BRAND DESIGN VISION</a:t>
            </a:r>
          </a:p>
        </p:txBody>
      </p:sp>
      <p:sp>
        <p:nvSpPr>
          <p:cNvPr id="29" name="TextBox 28"/>
          <p:cNvSpPr txBox="1"/>
          <p:nvPr/>
        </p:nvSpPr>
        <p:spPr>
          <a:xfrm>
            <a:off x="10607040" y="6437376"/>
            <a:ext cx="914400" cy="274320"/>
          </a:xfrm>
          <a:prstGeom prst="rect">
            <a:avLst/>
          </a:prstGeom>
          <a:noFill/>
        </p:spPr>
        <p:txBody>
          <a:bodyPr wrap="square" anchor="t" lIns="0" rIns="0" tIns="0" bIns="0">
            <a:spAutoFit/>
          </a:bodyPr>
          <a:lstStyle/>
          <a:p>
            <a:pPr algn="r"/>
            <a:r>
              <a:rPr sz="800" b="0" i="0" spc="150">
                <a:solidFill>
                  <a:srgbClr val="868B94"/>
                </a:solidFill>
                <a:latin typeface="Arial"/>
              </a:rPr>
              <a:t>11</a:t>
            </a:r>
          </a:p>
        </p:txBody>
      </p:sp>
      <p:sp>
        <p:nvSpPr>
          <p:cNvPr id="30" name="TextBox 29"/>
          <p:cNvSpPr txBox="1"/>
          <p:nvPr/>
        </p:nvSpPr>
        <p:spPr>
          <a:xfrm>
            <a:off x="10424160" y="310896"/>
            <a:ext cx="1097280" cy="274320"/>
          </a:xfrm>
          <a:prstGeom prst="rect">
            <a:avLst/>
          </a:prstGeom>
          <a:noFill/>
        </p:spPr>
        <p:txBody>
          <a:bodyPr wrap="square" anchor="t" lIns="0" rIns="0" tIns="0" bIns="0">
            <a:spAutoFit/>
          </a:bodyPr>
          <a:lstStyle/>
          <a:p>
            <a:pPr algn="r"/>
            <a:r>
              <a:rPr sz="750" b="0" i="0" spc="200">
                <a:solidFill>
                  <a:srgbClr val="C8CCD2"/>
                </a:solidFill>
                <a:latin typeface="Arial"/>
              </a:rPr>
              <a:t>CONFIDENTIAL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48640"/>
            <a:ext cx="7315200" cy="274320"/>
          </a:xfrm>
          <a:prstGeom prst="rect">
            <a:avLst/>
          </a:prstGeom>
          <a:noFill/>
        </p:spPr>
        <p:txBody>
          <a:bodyPr wrap="square" anchor="t" lIns="0" rIns="0" tIns="0" bIns="0">
            <a:spAutoFit/>
          </a:bodyPr>
          <a:lstStyle/>
          <a:p>
            <a:pPr algn="l"/>
            <a:r>
              <a:rPr sz="1100" b="1" i="0" spc="300">
                <a:solidFill>
                  <a:srgbClr val="1B2A4A"/>
                </a:solidFill>
                <a:latin typeface="Arial"/>
              </a:rPr>
              <a:t>EVERYDAY INGENUITY</a:t>
            </a:r>
          </a:p>
        </p:txBody>
      </p:sp>
      <p:sp>
        <p:nvSpPr>
          <p:cNvPr id="3" name="TextBox 2"/>
          <p:cNvSpPr txBox="1"/>
          <p:nvPr/>
        </p:nvSpPr>
        <p:spPr>
          <a:xfrm>
            <a:off x="658368" y="868680"/>
            <a:ext cx="10058400" cy="640080"/>
          </a:xfrm>
          <a:prstGeom prst="rect">
            <a:avLst/>
          </a:prstGeom>
          <a:noFill/>
        </p:spPr>
        <p:txBody>
          <a:bodyPr wrap="square" anchor="t" lIns="0" rIns="0" tIns="0" bIns="0">
            <a:spAutoFit/>
          </a:bodyPr>
          <a:lstStyle/>
          <a:p>
            <a:pPr algn="l"/>
            <a:r>
              <a:rPr sz="2600" b="1" i="0">
                <a:solidFill>
                  <a:srgbClr val="1A1A1C"/>
                </a:solidFill>
                <a:latin typeface="Arial"/>
              </a:rPr>
              <a:t>Airflow Interior</a:t>
            </a:r>
          </a:p>
        </p:txBody>
      </p:sp>
      <p:sp>
        <p:nvSpPr>
          <p:cNvPr id="4" name="Rectangle 3"/>
          <p:cNvSpPr/>
          <p:nvPr/>
        </p:nvSpPr>
        <p:spPr>
          <a:xfrm>
            <a:off x="685800" y="1645920"/>
            <a:ext cx="10817352" cy="4251960"/>
          </a:xfrm>
          <a:prstGeom prst="rect">
            <a:avLst/>
          </a:prstGeom>
          <a:solidFill>
            <a:srgbClr val="EF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685800" y="164592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85800" y="164592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265408" y="164592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503152" y="164592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85800" y="589788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685800" y="566013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11265408" y="589788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503152" y="566013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838444" y="3296412"/>
            <a:ext cx="512064" cy="512064"/>
          </a:xfrm>
          <a:prstGeom prst="roundRect">
            <a:avLst/>
          </a:prstGeom>
          <a:noFill/>
          <a:ln w="19050">
            <a:solidFill>
              <a:srgbClr val="A9AE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951098" y="3398824"/>
            <a:ext cx="100584" cy="100584"/>
          </a:xfrm>
          <a:prstGeom prst="ellips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5992063" y="3521720"/>
            <a:ext cx="274320" cy="164592"/>
          </a:xfrm>
          <a:prstGeom prst="triangl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899916"/>
            <a:ext cx="10817352" cy="365760"/>
          </a:xfrm>
          <a:prstGeom prst="rect">
            <a:avLst/>
          </a:prstGeom>
          <a:noFill/>
        </p:spPr>
        <p:txBody>
          <a:bodyPr wrap="square" anchor="t" lIns="0" rIns="0" tIns="0" bIns="0">
            <a:spAutoFit/>
          </a:bodyPr>
          <a:lstStyle/>
          <a:p>
            <a:pPr algn="ctr"/>
            <a:r>
              <a:rPr sz="1050" b="1" i="0" spc="200">
                <a:solidFill>
                  <a:srgbClr val="868B94"/>
                </a:solidFill>
                <a:latin typeface="Arial"/>
              </a:rPr>
              <a:t>LARGE INTERIOR RENDERING</a:t>
            </a:r>
          </a:p>
        </p:txBody>
      </p:sp>
      <p:sp>
        <p:nvSpPr>
          <p:cNvPr id="17" name="TextBox 16"/>
          <p:cNvSpPr txBox="1"/>
          <p:nvPr/>
        </p:nvSpPr>
        <p:spPr>
          <a:xfrm>
            <a:off x="685800" y="4174236"/>
            <a:ext cx="10817352" cy="274320"/>
          </a:xfrm>
          <a:prstGeom prst="rect">
            <a:avLst/>
          </a:prstGeom>
          <a:noFill/>
        </p:spPr>
        <p:txBody>
          <a:bodyPr wrap="square" anchor="t" lIns="0" rIns="0" tIns="0" bIns="0">
            <a:spAutoFit/>
          </a:bodyPr>
          <a:lstStyle/>
          <a:p>
            <a:pPr algn="ctr"/>
            <a:r>
              <a:rPr sz="800" b="0" i="0" spc="80">
                <a:solidFill>
                  <a:srgbClr val="C8CCD2"/>
                </a:solidFill>
                <a:latin typeface="Arial"/>
              </a:rPr>
              <a:t>Replace · 16:9 · 300dpi</a:t>
            </a:r>
          </a:p>
        </p:txBody>
      </p:sp>
      <p:sp>
        <p:nvSpPr>
          <p:cNvPr id="18" name="TextBox 17"/>
          <p:cNvSpPr txBox="1"/>
          <p:nvPr/>
        </p:nvSpPr>
        <p:spPr>
          <a:xfrm>
            <a:off x="685800" y="5989320"/>
            <a:ext cx="10058400" cy="365760"/>
          </a:xfrm>
          <a:prstGeom prst="rect">
            <a:avLst/>
          </a:prstGeom>
          <a:noFill/>
        </p:spPr>
        <p:txBody>
          <a:bodyPr wrap="square" anchor="t" lIns="0" rIns="0" tIns="0" bIns="0">
            <a:spAutoFit/>
          </a:bodyPr>
          <a:lstStyle/>
          <a:p>
            <a:pPr algn="l"/>
            <a:r>
              <a:rPr sz="1200" b="0" i="0" spc="50">
                <a:solidFill>
                  <a:srgbClr val="868B94"/>
                </a:solidFill>
                <a:latin typeface="Arial"/>
              </a:rPr>
              <a:t>Designed around people — calm, intelligent, effortlessly useful.</a:t>
            </a:r>
          </a:p>
        </p:txBody>
      </p:sp>
      <p:sp>
        <p:nvSpPr>
          <p:cNvPr id="19" name="TextBox 18"/>
          <p:cNvSpPr txBox="1"/>
          <p:nvPr/>
        </p:nvSpPr>
        <p:spPr>
          <a:xfrm>
            <a:off x="640080" y="6437376"/>
            <a:ext cx="7315200" cy="274320"/>
          </a:xfrm>
          <a:prstGeom prst="rect">
            <a:avLst/>
          </a:prstGeom>
          <a:noFill/>
        </p:spPr>
        <p:txBody>
          <a:bodyPr wrap="square" anchor="t" lIns="0" rIns="0" tIns="0" bIns="0">
            <a:spAutoFit/>
          </a:bodyPr>
          <a:lstStyle/>
          <a:p>
            <a:pPr algn="l"/>
            <a:r>
              <a:rPr sz="800" b="0" i="0" spc="150">
                <a:solidFill>
                  <a:srgbClr val="868B94"/>
                </a:solidFill>
                <a:latin typeface="Arial"/>
              </a:rPr>
              <a:t>CHRYSLER  ·  BRAND DESIGN VISION</a:t>
            </a:r>
          </a:p>
        </p:txBody>
      </p:sp>
      <p:sp>
        <p:nvSpPr>
          <p:cNvPr id="20" name="TextBox 19"/>
          <p:cNvSpPr txBox="1"/>
          <p:nvPr/>
        </p:nvSpPr>
        <p:spPr>
          <a:xfrm>
            <a:off x="10607040" y="6437376"/>
            <a:ext cx="914400" cy="274320"/>
          </a:xfrm>
          <a:prstGeom prst="rect">
            <a:avLst/>
          </a:prstGeom>
          <a:noFill/>
        </p:spPr>
        <p:txBody>
          <a:bodyPr wrap="square" anchor="t" lIns="0" rIns="0" tIns="0" bIns="0">
            <a:spAutoFit/>
          </a:bodyPr>
          <a:lstStyle/>
          <a:p>
            <a:pPr algn="r"/>
            <a:r>
              <a:rPr sz="800" b="0" i="0" spc="150">
                <a:solidFill>
                  <a:srgbClr val="868B94"/>
                </a:solidFill>
                <a:latin typeface="Arial"/>
              </a:rPr>
              <a:t>12</a:t>
            </a:r>
          </a:p>
        </p:txBody>
      </p:sp>
      <p:sp>
        <p:nvSpPr>
          <p:cNvPr id="21" name="TextBox 20"/>
          <p:cNvSpPr txBox="1"/>
          <p:nvPr/>
        </p:nvSpPr>
        <p:spPr>
          <a:xfrm>
            <a:off x="10424160" y="310896"/>
            <a:ext cx="1097280" cy="274320"/>
          </a:xfrm>
          <a:prstGeom prst="rect">
            <a:avLst/>
          </a:prstGeom>
          <a:noFill/>
        </p:spPr>
        <p:txBody>
          <a:bodyPr wrap="square" anchor="t" lIns="0" rIns="0" tIns="0" bIns="0">
            <a:spAutoFit/>
          </a:bodyPr>
          <a:lstStyle/>
          <a:p>
            <a:pPr algn="r"/>
            <a:r>
              <a:rPr sz="750" b="0" i="0" spc="200">
                <a:solidFill>
                  <a:srgbClr val="C8CCD2"/>
                </a:solidFill>
                <a:latin typeface="Arial"/>
              </a:rPr>
              <a:t>CONFIDENTIAL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48640"/>
            <a:ext cx="7315200" cy="274320"/>
          </a:xfrm>
          <a:prstGeom prst="rect">
            <a:avLst/>
          </a:prstGeom>
          <a:noFill/>
        </p:spPr>
        <p:txBody>
          <a:bodyPr wrap="square" anchor="t" lIns="0" rIns="0" tIns="0" bIns="0">
            <a:spAutoFit/>
          </a:bodyPr>
          <a:lstStyle/>
          <a:p>
            <a:pPr algn="l"/>
            <a:r>
              <a:rPr sz="1100" b="1" i="0" spc="300">
                <a:solidFill>
                  <a:srgbClr val="1B2A4A"/>
                </a:solidFill>
                <a:latin typeface="Arial"/>
              </a:rPr>
              <a:t>ACCESSIBLE DESIGN</a:t>
            </a:r>
          </a:p>
        </p:txBody>
      </p:sp>
      <p:sp>
        <p:nvSpPr>
          <p:cNvPr id="3" name="TextBox 2"/>
          <p:cNvSpPr txBox="1"/>
          <p:nvPr/>
        </p:nvSpPr>
        <p:spPr>
          <a:xfrm>
            <a:off x="658368" y="868680"/>
            <a:ext cx="10058400" cy="640080"/>
          </a:xfrm>
          <a:prstGeom prst="rect">
            <a:avLst/>
          </a:prstGeom>
          <a:noFill/>
        </p:spPr>
        <p:txBody>
          <a:bodyPr wrap="square" anchor="t" lIns="0" rIns="0" tIns="0" bIns="0">
            <a:spAutoFit/>
          </a:bodyPr>
          <a:lstStyle/>
          <a:p>
            <a:pPr algn="l"/>
            <a:r>
              <a:rPr sz="2600" b="1" i="0">
                <a:solidFill>
                  <a:srgbClr val="1A1A1C"/>
                </a:solidFill>
                <a:latin typeface="Arial"/>
              </a:rPr>
              <a:t>Arrow</a:t>
            </a:r>
          </a:p>
        </p:txBody>
      </p:sp>
      <p:sp>
        <p:nvSpPr>
          <p:cNvPr id="4" name="TextBox 3"/>
          <p:cNvSpPr txBox="1"/>
          <p:nvPr/>
        </p:nvSpPr>
        <p:spPr>
          <a:xfrm>
            <a:off x="685800" y="1481328"/>
            <a:ext cx="10817352" cy="411480"/>
          </a:xfrm>
          <a:prstGeom prst="rect">
            <a:avLst/>
          </a:prstGeom>
          <a:noFill/>
        </p:spPr>
        <p:txBody>
          <a:bodyPr wrap="square" anchor="t" lIns="0" rIns="0" tIns="0" bIns="0">
            <a:spAutoFit/>
          </a:bodyPr>
          <a:lstStyle/>
          <a:p>
            <a:pPr algn="l">
              <a:lnSpc>
                <a:spcPct val="120000"/>
              </a:lnSpc>
            </a:pPr>
            <a:r>
              <a:rPr sz="1300" b="0" i="1">
                <a:solidFill>
                  <a:srgbClr val="4A4E57"/>
                </a:solidFill>
                <a:latin typeface="Arial"/>
              </a:rPr>
              <a:t>Thoughtful Chrysler design, made attainable — approachable, smart, and easy to live with.</a:t>
            </a:r>
          </a:p>
        </p:txBody>
      </p:sp>
      <p:sp>
        <p:nvSpPr>
          <p:cNvPr id="5" name="Rectangle 4"/>
          <p:cNvSpPr/>
          <p:nvPr/>
        </p:nvSpPr>
        <p:spPr>
          <a:xfrm>
            <a:off x="685800" y="2011680"/>
            <a:ext cx="10817352" cy="3383280"/>
          </a:xfrm>
          <a:prstGeom prst="rect">
            <a:avLst/>
          </a:prstGeom>
          <a:solidFill>
            <a:srgbClr val="EF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685800" y="201168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85800" y="201168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11265408" y="201168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503152" y="201168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 y="539496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685800" y="515721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11265408" y="539496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503152" y="515721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838444" y="3227832"/>
            <a:ext cx="512064" cy="512064"/>
          </a:xfrm>
          <a:prstGeom prst="roundRect">
            <a:avLst/>
          </a:prstGeom>
          <a:noFill/>
          <a:ln w="19050">
            <a:solidFill>
              <a:srgbClr val="A9AE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951098" y="3330244"/>
            <a:ext cx="100584" cy="100584"/>
          </a:xfrm>
          <a:prstGeom prst="ellips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992063" y="3453140"/>
            <a:ext cx="274320" cy="164592"/>
          </a:xfrm>
          <a:prstGeom prst="triangl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831336"/>
            <a:ext cx="10817352" cy="365760"/>
          </a:xfrm>
          <a:prstGeom prst="rect">
            <a:avLst/>
          </a:prstGeom>
          <a:noFill/>
        </p:spPr>
        <p:txBody>
          <a:bodyPr wrap="square" anchor="t" lIns="0" rIns="0" tIns="0" bIns="0">
            <a:spAutoFit/>
          </a:bodyPr>
          <a:lstStyle/>
          <a:p>
            <a:pPr algn="ctr"/>
            <a:r>
              <a:rPr sz="1050" b="1" i="0" spc="200">
                <a:solidFill>
                  <a:srgbClr val="868B94"/>
                </a:solidFill>
                <a:latin typeface="Arial"/>
              </a:rPr>
              <a:t>LARGE EXTERIOR IMAGE</a:t>
            </a:r>
          </a:p>
        </p:txBody>
      </p:sp>
      <p:sp>
        <p:nvSpPr>
          <p:cNvPr id="18" name="TextBox 17"/>
          <p:cNvSpPr txBox="1"/>
          <p:nvPr/>
        </p:nvSpPr>
        <p:spPr>
          <a:xfrm>
            <a:off x="685800" y="4105656"/>
            <a:ext cx="10817352" cy="274320"/>
          </a:xfrm>
          <a:prstGeom prst="rect">
            <a:avLst/>
          </a:prstGeom>
          <a:noFill/>
        </p:spPr>
        <p:txBody>
          <a:bodyPr wrap="square" anchor="t" lIns="0" rIns="0" tIns="0" bIns="0">
            <a:spAutoFit/>
          </a:bodyPr>
          <a:lstStyle/>
          <a:p>
            <a:pPr algn="ctr"/>
            <a:r>
              <a:rPr sz="800" b="0" i="0" spc="80">
                <a:solidFill>
                  <a:srgbClr val="C8CCD2"/>
                </a:solidFill>
                <a:latin typeface="Arial"/>
              </a:rPr>
              <a:t>Replace · 16:9 · 300dpi</a:t>
            </a:r>
          </a:p>
        </p:txBody>
      </p:sp>
      <p:sp>
        <p:nvSpPr>
          <p:cNvPr id="19" name="Oval 18"/>
          <p:cNvSpPr/>
          <p:nvPr/>
        </p:nvSpPr>
        <p:spPr>
          <a:xfrm>
            <a:off x="685800" y="5532120"/>
            <a:ext cx="384048" cy="384048"/>
          </a:xfrm>
          <a:prstGeom prst="ellipse">
            <a:avLst/>
          </a:prstGeom>
          <a:noFill/>
          <a:ln w="15875">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95528" y="5641848"/>
            <a:ext cx="164592" cy="164592"/>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34440" y="5486400"/>
            <a:ext cx="2813304" cy="777240"/>
          </a:xfrm>
          <a:prstGeom prst="rect">
            <a:avLst/>
          </a:prstGeom>
          <a:noFill/>
        </p:spPr>
        <p:txBody>
          <a:bodyPr wrap="square" anchor="t" lIns="0" rIns="0" tIns="0" bIns="0">
            <a:spAutoFit/>
          </a:bodyPr>
          <a:lstStyle/>
          <a:p>
            <a:pPr algn="l">
              <a:spcAft>
                <a:spcPts val="100"/>
              </a:spcAft>
            </a:pPr>
            <a:r>
              <a:rPr sz="1250" b="1" i="0">
                <a:solidFill>
                  <a:srgbClr val="1A1A1C"/>
                </a:solidFill>
                <a:latin typeface="Arial"/>
              </a:rPr>
              <a:t>Approachable Design</a:t>
            </a:r>
          </a:p>
          <a:p>
            <a:pPr algn="l">
              <a:lnSpc>
                <a:spcPct val="110000"/>
              </a:lnSpc>
            </a:pPr>
            <a:r>
              <a:rPr sz="1000" b="0" i="0">
                <a:solidFill>
                  <a:srgbClr val="868B94"/>
                </a:solidFill>
                <a:latin typeface="Arial"/>
              </a:rPr>
              <a:t>An inviting introduction to Chrysler.</a:t>
            </a:r>
          </a:p>
        </p:txBody>
      </p:sp>
      <p:sp>
        <p:nvSpPr>
          <p:cNvPr id="22" name="Oval 21"/>
          <p:cNvSpPr/>
          <p:nvPr/>
        </p:nvSpPr>
        <p:spPr>
          <a:xfrm>
            <a:off x="4413504" y="5532120"/>
            <a:ext cx="384048" cy="384048"/>
          </a:xfrm>
          <a:prstGeom prst="ellipse">
            <a:avLst/>
          </a:prstGeom>
          <a:noFill/>
          <a:ln w="15875">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523232" y="5641848"/>
            <a:ext cx="164592" cy="164592"/>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62144" y="5486400"/>
            <a:ext cx="2813304" cy="777240"/>
          </a:xfrm>
          <a:prstGeom prst="rect">
            <a:avLst/>
          </a:prstGeom>
          <a:noFill/>
        </p:spPr>
        <p:txBody>
          <a:bodyPr wrap="square" anchor="t" lIns="0" rIns="0" tIns="0" bIns="0">
            <a:spAutoFit/>
          </a:bodyPr>
          <a:lstStyle/>
          <a:p>
            <a:pPr algn="l">
              <a:spcAft>
                <a:spcPts val="100"/>
              </a:spcAft>
            </a:pPr>
            <a:r>
              <a:rPr sz="1250" b="1" i="0">
                <a:solidFill>
                  <a:srgbClr val="1A1A1C"/>
                </a:solidFill>
                <a:latin typeface="Arial"/>
              </a:rPr>
              <a:t>Smart Packaging</a:t>
            </a:r>
          </a:p>
          <a:p>
            <a:pPr algn="l">
              <a:lnSpc>
                <a:spcPct val="110000"/>
              </a:lnSpc>
            </a:pPr>
            <a:r>
              <a:rPr sz="1000" b="0" i="0">
                <a:solidFill>
                  <a:srgbClr val="868B94"/>
                </a:solidFill>
                <a:latin typeface="Arial"/>
              </a:rPr>
              <a:t>Everyday usability, thoughtfully resolved.</a:t>
            </a:r>
          </a:p>
        </p:txBody>
      </p:sp>
      <p:sp>
        <p:nvSpPr>
          <p:cNvPr id="25" name="Oval 24"/>
          <p:cNvSpPr/>
          <p:nvPr/>
        </p:nvSpPr>
        <p:spPr>
          <a:xfrm>
            <a:off x="8141208" y="5532120"/>
            <a:ext cx="384048" cy="384048"/>
          </a:xfrm>
          <a:prstGeom prst="ellipse">
            <a:avLst/>
          </a:prstGeom>
          <a:noFill/>
          <a:ln w="15875">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250936" y="5641848"/>
            <a:ext cx="164592" cy="164592"/>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9848" y="5486400"/>
            <a:ext cx="2813304" cy="777240"/>
          </a:xfrm>
          <a:prstGeom prst="rect">
            <a:avLst/>
          </a:prstGeom>
          <a:noFill/>
        </p:spPr>
        <p:txBody>
          <a:bodyPr wrap="square" anchor="t" lIns="0" rIns="0" tIns="0" bIns="0">
            <a:spAutoFit/>
          </a:bodyPr>
          <a:lstStyle/>
          <a:p>
            <a:pPr algn="l">
              <a:spcAft>
                <a:spcPts val="100"/>
              </a:spcAft>
            </a:pPr>
            <a:r>
              <a:rPr sz="1250" b="1" i="0">
                <a:solidFill>
                  <a:srgbClr val="1A1A1C"/>
                </a:solidFill>
                <a:latin typeface="Arial"/>
              </a:rPr>
              <a:t>Attainable by Design</a:t>
            </a:r>
          </a:p>
          <a:p>
            <a:pPr algn="l">
              <a:lnSpc>
                <a:spcPct val="110000"/>
              </a:lnSpc>
            </a:pPr>
            <a:r>
              <a:rPr sz="1000" b="0" i="0">
                <a:solidFill>
                  <a:srgbClr val="868B94"/>
                </a:solidFill>
                <a:latin typeface="Arial"/>
              </a:rPr>
              <a:t>Accessible without compromise.</a:t>
            </a:r>
          </a:p>
        </p:txBody>
      </p:sp>
      <p:sp>
        <p:nvSpPr>
          <p:cNvPr id="28" name="TextBox 27"/>
          <p:cNvSpPr txBox="1"/>
          <p:nvPr/>
        </p:nvSpPr>
        <p:spPr>
          <a:xfrm>
            <a:off x="640080" y="6437376"/>
            <a:ext cx="7315200" cy="274320"/>
          </a:xfrm>
          <a:prstGeom prst="rect">
            <a:avLst/>
          </a:prstGeom>
          <a:noFill/>
        </p:spPr>
        <p:txBody>
          <a:bodyPr wrap="square" anchor="t" lIns="0" rIns="0" tIns="0" bIns="0">
            <a:spAutoFit/>
          </a:bodyPr>
          <a:lstStyle/>
          <a:p>
            <a:pPr algn="l"/>
            <a:r>
              <a:rPr sz="800" b="0" i="0" spc="150">
                <a:solidFill>
                  <a:srgbClr val="868B94"/>
                </a:solidFill>
                <a:latin typeface="Arial"/>
              </a:rPr>
              <a:t>CHRYSLER  ·  BRAND DESIGN VISION</a:t>
            </a:r>
          </a:p>
        </p:txBody>
      </p:sp>
      <p:sp>
        <p:nvSpPr>
          <p:cNvPr id="29" name="TextBox 28"/>
          <p:cNvSpPr txBox="1"/>
          <p:nvPr/>
        </p:nvSpPr>
        <p:spPr>
          <a:xfrm>
            <a:off x="10607040" y="6437376"/>
            <a:ext cx="914400" cy="274320"/>
          </a:xfrm>
          <a:prstGeom prst="rect">
            <a:avLst/>
          </a:prstGeom>
          <a:noFill/>
        </p:spPr>
        <p:txBody>
          <a:bodyPr wrap="square" anchor="t" lIns="0" rIns="0" tIns="0" bIns="0">
            <a:spAutoFit/>
          </a:bodyPr>
          <a:lstStyle/>
          <a:p>
            <a:pPr algn="r"/>
            <a:r>
              <a:rPr sz="800" b="0" i="0" spc="150">
                <a:solidFill>
                  <a:srgbClr val="868B94"/>
                </a:solidFill>
                <a:latin typeface="Arial"/>
              </a:rPr>
              <a:t>13</a:t>
            </a:r>
          </a:p>
        </p:txBody>
      </p:sp>
      <p:sp>
        <p:nvSpPr>
          <p:cNvPr id="30" name="TextBox 29"/>
          <p:cNvSpPr txBox="1"/>
          <p:nvPr/>
        </p:nvSpPr>
        <p:spPr>
          <a:xfrm>
            <a:off x="10424160" y="310896"/>
            <a:ext cx="1097280" cy="274320"/>
          </a:xfrm>
          <a:prstGeom prst="rect">
            <a:avLst/>
          </a:prstGeom>
          <a:noFill/>
        </p:spPr>
        <p:txBody>
          <a:bodyPr wrap="square" anchor="t" lIns="0" rIns="0" tIns="0" bIns="0">
            <a:spAutoFit/>
          </a:bodyPr>
          <a:lstStyle/>
          <a:p>
            <a:pPr algn="r"/>
            <a:r>
              <a:rPr sz="750" b="0" i="0" spc="200">
                <a:solidFill>
                  <a:srgbClr val="C8CCD2"/>
                </a:solidFill>
                <a:latin typeface="Arial"/>
              </a:rPr>
              <a:t>CONFIDENTIAL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48640"/>
            <a:ext cx="7315200" cy="274320"/>
          </a:xfrm>
          <a:prstGeom prst="rect">
            <a:avLst/>
          </a:prstGeom>
          <a:noFill/>
        </p:spPr>
        <p:txBody>
          <a:bodyPr wrap="square" anchor="t" lIns="0" rIns="0" tIns="0" bIns="0">
            <a:spAutoFit/>
          </a:bodyPr>
          <a:lstStyle/>
          <a:p>
            <a:pPr algn="l"/>
            <a:r>
              <a:rPr sz="1100" b="1" i="0" spc="300">
                <a:solidFill>
                  <a:srgbClr val="1B2A4A"/>
                </a:solidFill>
                <a:latin typeface="Arial"/>
              </a:rPr>
              <a:t>ACCESSIBLE DESIGN</a:t>
            </a:r>
          </a:p>
        </p:txBody>
      </p:sp>
      <p:sp>
        <p:nvSpPr>
          <p:cNvPr id="3" name="TextBox 2"/>
          <p:cNvSpPr txBox="1"/>
          <p:nvPr/>
        </p:nvSpPr>
        <p:spPr>
          <a:xfrm>
            <a:off x="658368" y="868680"/>
            <a:ext cx="10058400" cy="640080"/>
          </a:xfrm>
          <a:prstGeom prst="rect">
            <a:avLst/>
          </a:prstGeom>
          <a:noFill/>
        </p:spPr>
        <p:txBody>
          <a:bodyPr wrap="square" anchor="t" lIns="0" rIns="0" tIns="0" bIns="0">
            <a:spAutoFit/>
          </a:bodyPr>
          <a:lstStyle/>
          <a:p>
            <a:pPr algn="l"/>
            <a:r>
              <a:rPr sz="2600" b="1" i="0">
                <a:solidFill>
                  <a:srgbClr val="1A1A1C"/>
                </a:solidFill>
                <a:latin typeface="Arial"/>
              </a:rPr>
              <a:t>Arrow Interior</a:t>
            </a:r>
          </a:p>
        </p:txBody>
      </p:sp>
      <p:sp>
        <p:nvSpPr>
          <p:cNvPr id="4" name="Rectangle 3"/>
          <p:cNvSpPr/>
          <p:nvPr/>
        </p:nvSpPr>
        <p:spPr>
          <a:xfrm>
            <a:off x="685800" y="1645920"/>
            <a:ext cx="10817352" cy="4251960"/>
          </a:xfrm>
          <a:prstGeom prst="rect">
            <a:avLst/>
          </a:prstGeom>
          <a:solidFill>
            <a:srgbClr val="EF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685800" y="164592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85800" y="164592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265408" y="164592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503152" y="164592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85800" y="589788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685800" y="566013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11265408" y="589788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503152" y="566013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838444" y="3296412"/>
            <a:ext cx="512064" cy="512064"/>
          </a:xfrm>
          <a:prstGeom prst="roundRect">
            <a:avLst/>
          </a:prstGeom>
          <a:noFill/>
          <a:ln w="19050">
            <a:solidFill>
              <a:srgbClr val="A9AE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951098" y="3398824"/>
            <a:ext cx="100584" cy="100584"/>
          </a:xfrm>
          <a:prstGeom prst="ellips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5992063" y="3521720"/>
            <a:ext cx="274320" cy="164592"/>
          </a:xfrm>
          <a:prstGeom prst="triangl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899916"/>
            <a:ext cx="10817352" cy="365760"/>
          </a:xfrm>
          <a:prstGeom prst="rect">
            <a:avLst/>
          </a:prstGeom>
          <a:noFill/>
        </p:spPr>
        <p:txBody>
          <a:bodyPr wrap="square" anchor="t" lIns="0" rIns="0" tIns="0" bIns="0">
            <a:spAutoFit/>
          </a:bodyPr>
          <a:lstStyle/>
          <a:p>
            <a:pPr algn="ctr"/>
            <a:r>
              <a:rPr sz="1050" b="1" i="0" spc="200">
                <a:solidFill>
                  <a:srgbClr val="868B94"/>
                </a:solidFill>
                <a:latin typeface="Arial"/>
              </a:rPr>
              <a:t>LARGE INTERIOR RENDERING</a:t>
            </a:r>
          </a:p>
        </p:txBody>
      </p:sp>
      <p:sp>
        <p:nvSpPr>
          <p:cNvPr id="17" name="TextBox 16"/>
          <p:cNvSpPr txBox="1"/>
          <p:nvPr/>
        </p:nvSpPr>
        <p:spPr>
          <a:xfrm>
            <a:off x="685800" y="4174236"/>
            <a:ext cx="10817352" cy="274320"/>
          </a:xfrm>
          <a:prstGeom prst="rect">
            <a:avLst/>
          </a:prstGeom>
          <a:noFill/>
        </p:spPr>
        <p:txBody>
          <a:bodyPr wrap="square" anchor="t" lIns="0" rIns="0" tIns="0" bIns="0">
            <a:spAutoFit/>
          </a:bodyPr>
          <a:lstStyle/>
          <a:p>
            <a:pPr algn="ctr"/>
            <a:r>
              <a:rPr sz="800" b="0" i="0" spc="80">
                <a:solidFill>
                  <a:srgbClr val="C8CCD2"/>
                </a:solidFill>
                <a:latin typeface="Arial"/>
              </a:rPr>
              <a:t>Replace · 16:9 · 300dpi</a:t>
            </a:r>
          </a:p>
        </p:txBody>
      </p:sp>
      <p:sp>
        <p:nvSpPr>
          <p:cNvPr id="18" name="TextBox 17"/>
          <p:cNvSpPr txBox="1"/>
          <p:nvPr/>
        </p:nvSpPr>
        <p:spPr>
          <a:xfrm>
            <a:off x="685800" y="5989320"/>
            <a:ext cx="10058400" cy="365760"/>
          </a:xfrm>
          <a:prstGeom prst="rect">
            <a:avLst/>
          </a:prstGeom>
          <a:noFill/>
        </p:spPr>
        <p:txBody>
          <a:bodyPr wrap="square" anchor="t" lIns="0" rIns="0" tIns="0" bIns="0">
            <a:spAutoFit/>
          </a:bodyPr>
          <a:lstStyle/>
          <a:p>
            <a:pPr algn="l"/>
            <a:r>
              <a:rPr sz="1200" b="0" i="0" spc="50">
                <a:solidFill>
                  <a:srgbClr val="868B94"/>
                </a:solidFill>
                <a:latin typeface="Arial"/>
              </a:rPr>
              <a:t>Approachable and intuitive — thoughtful design, made attainable.</a:t>
            </a:r>
          </a:p>
        </p:txBody>
      </p:sp>
      <p:sp>
        <p:nvSpPr>
          <p:cNvPr id="19" name="TextBox 18"/>
          <p:cNvSpPr txBox="1"/>
          <p:nvPr/>
        </p:nvSpPr>
        <p:spPr>
          <a:xfrm>
            <a:off x="640080" y="6437376"/>
            <a:ext cx="7315200" cy="274320"/>
          </a:xfrm>
          <a:prstGeom prst="rect">
            <a:avLst/>
          </a:prstGeom>
          <a:noFill/>
        </p:spPr>
        <p:txBody>
          <a:bodyPr wrap="square" anchor="t" lIns="0" rIns="0" tIns="0" bIns="0">
            <a:spAutoFit/>
          </a:bodyPr>
          <a:lstStyle/>
          <a:p>
            <a:pPr algn="l"/>
            <a:r>
              <a:rPr sz="800" b="0" i="0" spc="150">
                <a:solidFill>
                  <a:srgbClr val="868B94"/>
                </a:solidFill>
                <a:latin typeface="Arial"/>
              </a:rPr>
              <a:t>CHRYSLER  ·  BRAND DESIGN VISION</a:t>
            </a:r>
          </a:p>
        </p:txBody>
      </p:sp>
      <p:sp>
        <p:nvSpPr>
          <p:cNvPr id="20" name="TextBox 19"/>
          <p:cNvSpPr txBox="1"/>
          <p:nvPr/>
        </p:nvSpPr>
        <p:spPr>
          <a:xfrm>
            <a:off x="10607040" y="6437376"/>
            <a:ext cx="914400" cy="274320"/>
          </a:xfrm>
          <a:prstGeom prst="rect">
            <a:avLst/>
          </a:prstGeom>
          <a:noFill/>
        </p:spPr>
        <p:txBody>
          <a:bodyPr wrap="square" anchor="t" lIns="0" rIns="0" tIns="0" bIns="0">
            <a:spAutoFit/>
          </a:bodyPr>
          <a:lstStyle/>
          <a:p>
            <a:pPr algn="r"/>
            <a:r>
              <a:rPr sz="800" b="0" i="0" spc="150">
                <a:solidFill>
                  <a:srgbClr val="868B94"/>
                </a:solidFill>
                <a:latin typeface="Arial"/>
              </a:rPr>
              <a:t>14</a:t>
            </a:r>
          </a:p>
        </p:txBody>
      </p:sp>
      <p:sp>
        <p:nvSpPr>
          <p:cNvPr id="21" name="TextBox 20"/>
          <p:cNvSpPr txBox="1"/>
          <p:nvPr/>
        </p:nvSpPr>
        <p:spPr>
          <a:xfrm>
            <a:off x="10424160" y="310896"/>
            <a:ext cx="1097280" cy="274320"/>
          </a:xfrm>
          <a:prstGeom prst="rect">
            <a:avLst/>
          </a:prstGeom>
          <a:noFill/>
        </p:spPr>
        <p:txBody>
          <a:bodyPr wrap="square" anchor="t" lIns="0" rIns="0" tIns="0" bIns="0">
            <a:spAutoFit/>
          </a:bodyPr>
          <a:lstStyle/>
          <a:p>
            <a:pPr algn="r"/>
            <a:r>
              <a:rPr sz="750" b="0" i="0" spc="200">
                <a:solidFill>
                  <a:srgbClr val="C8CCD2"/>
                </a:solidFill>
                <a:latin typeface="Arial"/>
              </a:rPr>
              <a:t>CONFIDENTIAL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48640"/>
            <a:ext cx="7315200" cy="274320"/>
          </a:xfrm>
          <a:prstGeom prst="rect">
            <a:avLst/>
          </a:prstGeom>
          <a:noFill/>
        </p:spPr>
        <p:txBody>
          <a:bodyPr wrap="square" anchor="t" lIns="0" rIns="0" tIns="0" bIns="0">
            <a:spAutoFit/>
          </a:bodyPr>
          <a:lstStyle/>
          <a:p>
            <a:pPr algn="l"/>
            <a:r>
              <a:rPr sz="1100" b="1" i="0" spc="300">
                <a:solidFill>
                  <a:srgbClr val="1B2A4A"/>
                </a:solidFill>
                <a:latin typeface="Arial"/>
              </a:rPr>
              <a:t>PURPOSEFUL VERSATILITY</a:t>
            </a:r>
          </a:p>
        </p:txBody>
      </p:sp>
      <p:sp>
        <p:nvSpPr>
          <p:cNvPr id="3" name="TextBox 2"/>
          <p:cNvSpPr txBox="1"/>
          <p:nvPr/>
        </p:nvSpPr>
        <p:spPr>
          <a:xfrm>
            <a:off x="658368" y="868680"/>
            <a:ext cx="10058400" cy="640080"/>
          </a:xfrm>
          <a:prstGeom prst="rect">
            <a:avLst/>
          </a:prstGeom>
          <a:noFill/>
        </p:spPr>
        <p:txBody>
          <a:bodyPr wrap="square" anchor="t" lIns="0" rIns="0" tIns="0" bIns="0">
            <a:spAutoFit/>
          </a:bodyPr>
          <a:lstStyle/>
          <a:p>
            <a:pPr algn="l"/>
            <a:r>
              <a:rPr sz="2600" b="1" i="0">
                <a:solidFill>
                  <a:srgbClr val="1A1A1C"/>
                </a:solidFill>
                <a:latin typeface="Arial"/>
              </a:rPr>
              <a:t>Arrow Cross</a:t>
            </a:r>
          </a:p>
        </p:txBody>
      </p:sp>
      <p:sp>
        <p:nvSpPr>
          <p:cNvPr id="4" name="TextBox 3"/>
          <p:cNvSpPr txBox="1"/>
          <p:nvPr/>
        </p:nvSpPr>
        <p:spPr>
          <a:xfrm>
            <a:off x="685800" y="1481328"/>
            <a:ext cx="10817352" cy="411480"/>
          </a:xfrm>
          <a:prstGeom prst="rect">
            <a:avLst/>
          </a:prstGeom>
          <a:noFill/>
        </p:spPr>
        <p:txBody>
          <a:bodyPr wrap="square" anchor="t" lIns="0" rIns="0" tIns="0" bIns="0">
            <a:spAutoFit/>
          </a:bodyPr>
          <a:lstStyle/>
          <a:p>
            <a:pPr algn="l">
              <a:lnSpc>
                <a:spcPct val="120000"/>
              </a:lnSpc>
            </a:pPr>
            <a:r>
              <a:rPr sz="1300" b="0" i="1">
                <a:solidFill>
                  <a:srgbClr val="4A4E57"/>
                </a:solidFill>
                <a:latin typeface="Arial"/>
              </a:rPr>
              <a:t>Thoughtful design that adapts to modern family life — flexible, confident, and quietly intelligent.</a:t>
            </a:r>
          </a:p>
        </p:txBody>
      </p:sp>
      <p:sp>
        <p:nvSpPr>
          <p:cNvPr id="5" name="Rectangle 4"/>
          <p:cNvSpPr/>
          <p:nvPr/>
        </p:nvSpPr>
        <p:spPr>
          <a:xfrm>
            <a:off x="685800" y="2011680"/>
            <a:ext cx="10817352" cy="3383280"/>
          </a:xfrm>
          <a:prstGeom prst="rect">
            <a:avLst/>
          </a:prstGeom>
          <a:solidFill>
            <a:srgbClr val="EF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685800" y="201168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85800" y="201168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11265408" y="201168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503152" y="201168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 y="539496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685800" y="515721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11265408" y="539496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503152" y="515721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838444" y="3227832"/>
            <a:ext cx="512064" cy="512064"/>
          </a:xfrm>
          <a:prstGeom prst="roundRect">
            <a:avLst/>
          </a:prstGeom>
          <a:noFill/>
          <a:ln w="19050">
            <a:solidFill>
              <a:srgbClr val="A9AE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951098" y="3330244"/>
            <a:ext cx="100584" cy="100584"/>
          </a:xfrm>
          <a:prstGeom prst="ellips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992063" y="3453140"/>
            <a:ext cx="274320" cy="164592"/>
          </a:xfrm>
          <a:prstGeom prst="triangl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831336"/>
            <a:ext cx="10817352" cy="365760"/>
          </a:xfrm>
          <a:prstGeom prst="rect">
            <a:avLst/>
          </a:prstGeom>
          <a:noFill/>
        </p:spPr>
        <p:txBody>
          <a:bodyPr wrap="square" anchor="t" lIns="0" rIns="0" tIns="0" bIns="0">
            <a:spAutoFit/>
          </a:bodyPr>
          <a:lstStyle/>
          <a:p>
            <a:pPr algn="ctr"/>
            <a:r>
              <a:rPr sz="1050" b="1" i="0" spc="200">
                <a:solidFill>
                  <a:srgbClr val="868B94"/>
                </a:solidFill>
                <a:latin typeface="Arial"/>
              </a:rPr>
              <a:t>LARGE EXTERIOR IMAGE</a:t>
            </a:r>
          </a:p>
        </p:txBody>
      </p:sp>
      <p:sp>
        <p:nvSpPr>
          <p:cNvPr id="18" name="TextBox 17"/>
          <p:cNvSpPr txBox="1"/>
          <p:nvPr/>
        </p:nvSpPr>
        <p:spPr>
          <a:xfrm>
            <a:off x="685800" y="4105656"/>
            <a:ext cx="10817352" cy="274320"/>
          </a:xfrm>
          <a:prstGeom prst="rect">
            <a:avLst/>
          </a:prstGeom>
          <a:noFill/>
        </p:spPr>
        <p:txBody>
          <a:bodyPr wrap="square" anchor="t" lIns="0" rIns="0" tIns="0" bIns="0">
            <a:spAutoFit/>
          </a:bodyPr>
          <a:lstStyle/>
          <a:p>
            <a:pPr algn="ctr"/>
            <a:r>
              <a:rPr sz="800" b="0" i="0" spc="80">
                <a:solidFill>
                  <a:srgbClr val="C8CCD2"/>
                </a:solidFill>
                <a:latin typeface="Arial"/>
              </a:rPr>
              <a:t>Replace · 16:9 · 300dpi</a:t>
            </a:r>
          </a:p>
        </p:txBody>
      </p:sp>
      <p:sp>
        <p:nvSpPr>
          <p:cNvPr id="19" name="Oval 18"/>
          <p:cNvSpPr/>
          <p:nvPr/>
        </p:nvSpPr>
        <p:spPr>
          <a:xfrm>
            <a:off x="685800" y="5532120"/>
            <a:ext cx="384048" cy="384048"/>
          </a:xfrm>
          <a:prstGeom prst="ellipse">
            <a:avLst/>
          </a:prstGeom>
          <a:noFill/>
          <a:ln w="15875">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95528" y="5641848"/>
            <a:ext cx="164592" cy="164592"/>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34440" y="5486400"/>
            <a:ext cx="2813304" cy="777240"/>
          </a:xfrm>
          <a:prstGeom prst="rect">
            <a:avLst/>
          </a:prstGeom>
          <a:noFill/>
        </p:spPr>
        <p:txBody>
          <a:bodyPr wrap="square" anchor="t" lIns="0" rIns="0" tIns="0" bIns="0">
            <a:spAutoFit/>
          </a:bodyPr>
          <a:lstStyle/>
          <a:p>
            <a:pPr algn="l">
              <a:spcAft>
                <a:spcPts val="100"/>
              </a:spcAft>
            </a:pPr>
            <a:r>
              <a:rPr sz="1250" b="1" i="0">
                <a:solidFill>
                  <a:srgbClr val="1A1A1C"/>
                </a:solidFill>
                <a:latin typeface="Arial"/>
              </a:rPr>
              <a:t>Purposeful Versatility</a:t>
            </a:r>
          </a:p>
          <a:p>
            <a:pPr algn="l">
              <a:lnSpc>
                <a:spcPct val="110000"/>
              </a:lnSpc>
            </a:pPr>
            <a:r>
              <a:rPr sz="1000" b="0" i="0">
                <a:solidFill>
                  <a:srgbClr val="868B94"/>
                </a:solidFill>
                <a:latin typeface="Arial"/>
              </a:rPr>
              <a:t>Flexibility for how families really live.</a:t>
            </a:r>
          </a:p>
        </p:txBody>
      </p:sp>
      <p:sp>
        <p:nvSpPr>
          <p:cNvPr id="22" name="Oval 21"/>
          <p:cNvSpPr/>
          <p:nvPr/>
        </p:nvSpPr>
        <p:spPr>
          <a:xfrm>
            <a:off x="4413504" y="5532120"/>
            <a:ext cx="384048" cy="384048"/>
          </a:xfrm>
          <a:prstGeom prst="ellipse">
            <a:avLst/>
          </a:prstGeom>
          <a:noFill/>
          <a:ln w="15875">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523232" y="5641848"/>
            <a:ext cx="164592" cy="164592"/>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62144" y="5486400"/>
            <a:ext cx="2813304" cy="777240"/>
          </a:xfrm>
          <a:prstGeom prst="rect">
            <a:avLst/>
          </a:prstGeom>
          <a:noFill/>
        </p:spPr>
        <p:txBody>
          <a:bodyPr wrap="square" anchor="t" lIns="0" rIns="0" tIns="0" bIns="0">
            <a:spAutoFit/>
          </a:bodyPr>
          <a:lstStyle/>
          <a:p>
            <a:pPr algn="l">
              <a:spcAft>
                <a:spcPts val="100"/>
              </a:spcAft>
            </a:pPr>
            <a:r>
              <a:rPr sz="1250" b="1" i="0">
                <a:solidFill>
                  <a:srgbClr val="1A1A1C"/>
                </a:solidFill>
                <a:latin typeface="Arial"/>
              </a:rPr>
              <a:t>Practical Intelligence</a:t>
            </a:r>
          </a:p>
          <a:p>
            <a:pPr algn="l">
              <a:lnSpc>
                <a:spcPct val="110000"/>
              </a:lnSpc>
            </a:pPr>
            <a:r>
              <a:rPr sz="1000" b="0" i="0">
                <a:solidFill>
                  <a:srgbClr val="868B94"/>
                </a:solidFill>
                <a:latin typeface="Arial"/>
              </a:rPr>
              <a:t>Smart packaging, calmly resolved.</a:t>
            </a:r>
          </a:p>
        </p:txBody>
      </p:sp>
      <p:sp>
        <p:nvSpPr>
          <p:cNvPr id="25" name="Oval 24"/>
          <p:cNvSpPr/>
          <p:nvPr/>
        </p:nvSpPr>
        <p:spPr>
          <a:xfrm>
            <a:off x="8141208" y="5532120"/>
            <a:ext cx="384048" cy="384048"/>
          </a:xfrm>
          <a:prstGeom prst="ellipse">
            <a:avLst/>
          </a:prstGeom>
          <a:noFill/>
          <a:ln w="15875">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250936" y="5641848"/>
            <a:ext cx="164592" cy="164592"/>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9848" y="5486400"/>
            <a:ext cx="2813304" cy="777240"/>
          </a:xfrm>
          <a:prstGeom prst="rect">
            <a:avLst/>
          </a:prstGeom>
          <a:noFill/>
        </p:spPr>
        <p:txBody>
          <a:bodyPr wrap="square" anchor="t" lIns="0" rIns="0" tIns="0" bIns="0">
            <a:spAutoFit/>
          </a:bodyPr>
          <a:lstStyle/>
          <a:p>
            <a:pPr algn="l">
              <a:spcAft>
                <a:spcPts val="100"/>
              </a:spcAft>
            </a:pPr>
            <a:r>
              <a:rPr sz="1250" b="1" i="0">
                <a:solidFill>
                  <a:srgbClr val="1A1A1C"/>
                </a:solidFill>
                <a:latin typeface="Arial"/>
              </a:rPr>
              <a:t>Confident &amp; Capable</a:t>
            </a:r>
          </a:p>
          <a:p>
            <a:pPr algn="l">
              <a:lnSpc>
                <a:spcPct val="110000"/>
              </a:lnSpc>
            </a:pPr>
            <a:r>
              <a:rPr sz="1000" b="0" i="0">
                <a:solidFill>
                  <a:srgbClr val="868B94"/>
                </a:solidFill>
                <a:latin typeface="Arial"/>
              </a:rPr>
              <a:t>Modern, accessible, ready for the everyday.</a:t>
            </a:r>
          </a:p>
        </p:txBody>
      </p:sp>
      <p:sp>
        <p:nvSpPr>
          <p:cNvPr id="28" name="TextBox 27"/>
          <p:cNvSpPr txBox="1"/>
          <p:nvPr/>
        </p:nvSpPr>
        <p:spPr>
          <a:xfrm>
            <a:off x="640080" y="6437376"/>
            <a:ext cx="7315200" cy="274320"/>
          </a:xfrm>
          <a:prstGeom prst="rect">
            <a:avLst/>
          </a:prstGeom>
          <a:noFill/>
        </p:spPr>
        <p:txBody>
          <a:bodyPr wrap="square" anchor="t" lIns="0" rIns="0" tIns="0" bIns="0">
            <a:spAutoFit/>
          </a:bodyPr>
          <a:lstStyle/>
          <a:p>
            <a:pPr algn="l"/>
            <a:r>
              <a:rPr sz="800" b="0" i="0" spc="150">
                <a:solidFill>
                  <a:srgbClr val="868B94"/>
                </a:solidFill>
                <a:latin typeface="Arial"/>
              </a:rPr>
              <a:t>CHRYSLER  ·  BRAND DESIGN VISION</a:t>
            </a:r>
          </a:p>
        </p:txBody>
      </p:sp>
      <p:sp>
        <p:nvSpPr>
          <p:cNvPr id="29" name="TextBox 28"/>
          <p:cNvSpPr txBox="1"/>
          <p:nvPr/>
        </p:nvSpPr>
        <p:spPr>
          <a:xfrm>
            <a:off x="10607040" y="6437376"/>
            <a:ext cx="914400" cy="274320"/>
          </a:xfrm>
          <a:prstGeom prst="rect">
            <a:avLst/>
          </a:prstGeom>
          <a:noFill/>
        </p:spPr>
        <p:txBody>
          <a:bodyPr wrap="square" anchor="t" lIns="0" rIns="0" tIns="0" bIns="0">
            <a:spAutoFit/>
          </a:bodyPr>
          <a:lstStyle/>
          <a:p>
            <a:pPr algn="r"/>
            <a:r>
              <a:rPr sz="800" b="0" i="0" spc="150">
                <a:solidFill>
                  <a:srgbClr val="868B94"/>
                </a:solidFill>
                <a:latin typeface="Arial"/>
              </a:rPr>
              <a:t>15</a:t>
            </a:r>
          </a:p>
        </p:txBody>
      </p:sp>
      <p:sp>
        <p:nvSpPr>
          <p:cNvPr id="30" name="TextBox 29"/>
          <p:cNvSpPr txBox="1"/>
          <p:nvPr/>
        </p:nvSpPr>
        <p:spPr>
          <a:xfrm>
            <a:off x="10424160" y="310896"/>
            <a:ext cx="1097280" cy="274320"/>
          </a:xfrm>
          <a:prstGeom prst="rect">
            <a:avLst/>
          </a:prstGeom>
          <a:noFill/>
        </p:spPr>
        <p:txBody>
          <a:bodyPr wrap="square" anchor="t" lIns="0" rIns="0" tIns="0" bIns="0">
            <a:spAutoFit/>
          </a:bodyPr>
          <a:lstStyle/>
          <a:p>
            <a:pPr algn="r"/>
            <a:r>
              <a:rPr sz="750" b="0" i="0" spc="200">
                <a:solidFill>
                  <a:srgbClr val="C8CCD2"/>
                </a:solidFill>
                <a:latin typeface="Arial"/>
              </a:rPr>
              <a:t>CONFIDENTIAL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48640"/>
            <a:ext cx="7315200" cy="274320"/>
          </a:xfrm>
          <a:prstGeom prst="rect">
            <a:avLst/>
          </a:prstGeom>
          <a:noFill/>
        </p:spPr>
        <p:txBody>
          <a:bodyPr wrap="square" anchor="t" lIns="0" rIns="0" tIns="0" bIns="0">
            <a:spAutoFit/>
          </a:bodyPr>
          <a:lstStyle/>
          <a:p>
            <a:pPr algn="l"/>
            <a:r>
              <a:rPr sz="1100" b="1" i="0" spc="300">
                <a:solidFill>
                  <a:srgbClr val="1B2A4A"/>
                </a:solidFill>
                <a:latin typeface="Arial"/>
              </a:rPr>
              <a:t>PURPOSEFUL VERSATILITY</a:t>
            </a:r>
          </a:p>
        </p:txBody>
      </p:sp>
      <p:sp>
        <p:nvSpPr>
          <p:cNvPr id="3" name="TextBox 2"/>
          <p:cNvSpPr txBox="1"/>
          <p:nvPr/>
        </p:nvSpPr>
        <p:spPr>
          <a:xfrm>
            <a:off x="658368" y="868680"/>
            <a:ext cx="10058400" cy="640080"/>
          </a:xfrm>
          <a:prstGeom prst="rect">
            <a:avLst/>
          </a:prstGeom>
          <a:noFill/>
        </p:spPr>
        <p:txBody>
          <a:bodyPr wrap="square" anchor="t" lIns="0" rIns="0" tIns="0" bIns="0">
            <a:spAutoFit/>
          </a:bodyPr>
          <a:lstStyle/>
          <a:p>
            <a:pPr algn="l"/>
            <a:r>
              <a:rPr sz="2600" b="1" i="0">
                <a:solidFill>
                  <a:srgbClr val="1A1A1C"/>
                </a:solidFill>
                <a:latin typeface="Arial"/>
              </a:rPr>
              <a:t>Arrow Cross Interior</a:t>
            </a:r>
          </a:p>
        </p:txBody>
      </p:sp>
      <p:sp>
        <p:nvSpPr>
          <p:cNvPr id="4" name="Rectangle 3"/>
          <p:cNvSpPr/>
          <p:nvPr/>
        </p:nvSpPr>
        <p:spPr>
          <a:xfrm>
            <a:off x="685800" y="1645920"/>
            <a:ext cx="10817352" cy="4251960"/>
          </a:xfrm>
          <a:prstGeom prst="rect">
            <a:avLst/>
          </a:prstGeom>
          <a:solidFill>
            <a:srgbClr val="EF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685800" y="164592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85800" y="164592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265408" y="164592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503152" y="164592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85800" y="589788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685800" y="566013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11265408" y="589788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503152" y="566013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838444" y="3296412"/>
            <a:ext cx="512064" cy="512064"/>
          </a:xfrm>
          <a:prstGeom prst="roundRect">
            <a:avLst/>
          </a:prstGeom>
          <a:noFill/>
          <a:ln w="19050">
            <a:solidFill>
              <a:srgbClr val="A9AE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951098" y="3398824"/>
            <a:ext cx="100584" cy="100584"/>
          </a:xfrm>
          <a:prstGeom prst="ellips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5992063" y="3521720"/>
            <a:ext cx="274320" cy="164592"/>
          </a:xfrm>
          <a:prstGeom prst="triangl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899916"/>
            <a:ext cx="10817352" cy="365760"/>
          </a:xfrm>
          <a:prstGeom prst="rect">
            <a:avLst/>
          </a:prstGeom>
          <a:noFill/>
        </p:spPr>
        <p:txBody>
          <a:bodyPr wrap="square" anchor="t" lIns="0" rIns="0" tIns="0" bIns="0">
            <a:spAutoFit/>
          </a:bodyPr>
          <a:lstStyle/>
          <a:p>
            <a:pPr algn="ctr"/>
            <a:r>
              <a:rPr sz="1050" b="1" i="0" spc="200">
                <a:solidFill>
                  <a:srgbClr val="868B94"/>
                </a:solidFill>
                <a:latin typeface="Arial"/>
              </a:rPr>
              <a:t>LARGE INTERIOR RENDERING</a:t>
            </a:r>
          </a:p>
        </p:txBody>
      </p:sp>
      <p:sp>
        <p:nvSpPr>
          <p:cNvPr id="17" name="TextBox 16"/>
          <p:cNvSpPr txBox="1"/>
          <p:nvPr/>
        </p:nvSpPr>
        <p:spPr>
          <a:xfrm>
            <a:off x="685800" y="4174236"/>
            <a:ext cx="10817352" cy="274320"/>
          </a:xfrm>
          <a:prstGeom prst="rect">
            <a:avLst/>
          </a:prstGeom>
          <a:noFill/>
        </p:spPr>
        <p:txBody>
          <a:bodyPr wrap="square" anchor="t" lIns="0" rIns="0" tIns="0" bIns="0">
            <a:spAutoFit/>
          </a:bodyPr>
          <a:lstStyle/>
          <a:p>
            <a:pPr algn="ctr"/>
            <a:r>
              <a:rPr sz="800" b="0" i="0" spc="80">
                <a:solidFill>
                  <a:srgbClr val="C8CCD2"/>
                </a:solidFill>
                <a:latin typeface="Arial"/>
              </a:rPr>
              <a:t>Replace · 16:9 · 300dpi</a:t>
            </a:r>
          </a:p>
        </p:txBody>
      </p:sp>
      <p:sp>
        <p:nvSpPr>
          <p:cNvPr id="18" name="TextBox 17"/>
          <p:cNvSpPr txBox="1"/>
          <p:nvPr/>
        </p:nvSpPr>
        <p:spPr>
          <a:xfrm>
            <a:off x="685800" y="5989320"/>
            <a:ext cx="10058400" cy="365760"/>
          </a:xfrm>
          <a:prstGeom prst="rect">
            <a:avLst/>
          </a:prstGeom>
          <a:noFill/>
        </p:spPr>
        <p:txBody>
          <a:bodyPr wrap="square" anchor="t" lIns="0" rIns="0" tIns="0" bIns="0">
            <a:spAutoFit/>
          </a:bodyPr>
          <a:lstStyle/>
          <a:p>
            <a:pPr algn="l"/>
            <a:r>
              <a:rPr sz="1200" b="0" i="0" spc="50">
                <a:solidFill>
                  <a:srgbClr val="868B94"/>
                </a:solidFill>
                <a:latin typeface="Arial"/>
              </a:rPr>
              <a:t>Flexible and family-ready — design that adapts to everyday life.</a:t>
            </a:r>
          </a:p>
        </p:txBody>
      </p:sp>
      <p:sp>
        <p:nvSpPr>
          <p:cNvPr id="19" name="TextBox 18"/>
          <p:cNvSpPr txBox="1"/>
          <p:nvPr/>
        </p:nvSpPr>
        <p:spPr>
          <a:xfrm>
            <a:off x="640080" y="6437376"/>
            <a:ext cx="7315200" cy="274320"/>
          </a:xfrm>
          <a:prstGeom prst="rect">
            <a:avLst/>
          </a:prstGeom>
          <a:noFill/>
        </p:spPr>
        <p:txBody>
          <a:bodyPr wrap="square" anchor="t" lIns="0" rIns="0" tIns="0" bIns="0">
            <a:spAutoFit/>
          </a:bodyPr>
          <a:lstStyle/>
          <a:p>
            <a:pPr algn="l"/>
            <a:r>
              <a:rPr sz="800" b="0" i="0" spc="150">
                <a:solidFill>
                  <a:srgbClr val="868B94"/>
                </a:solidFill>
                <a:latin typeface="Arial"/>
              </a:rPr>
              <a:t>CHRYSLER  ·  BRAND DESIGN VISION</a:t>
            </a:r>
          </a:p>
        </p:txBody>
      </p:sp>
      <p:sp>
        <p:nvSpPr>
          <p:cNvPr id="20" name="TextBox 19"/>
          <p:cNvSpPr txBox="1"/>
          <p:nvPr/>
        </p:nvSpPr>
        <p:spPr>
          <a:xfrm>
            <a:off x="10607040" y="6437376"/>
            <a:ext cx="914400" cy="274320"/>
          </a:xfrm>
          <a:prstGeom prst="rect">
            <a:avLst/>
          </a:prstGeom>
          <a:noFill/>
        </p:spPr>
        <p:txBody>
          <a:bodyPr wrap="square" anchor="t" lIns="0" rIns="0" tIns="0" bIns="0">
            <a:spAutoFit/>
          </a:bodyPr>
          <a:lstStyle/>
          <a:p>
            <a:pPr algn="r"/>
            <a:r>
              <a:rPr sz="800" b="0" i="0" spc="150">
                <a:solidFill>
                  <a:srgbClr val="868B94"/>
                </a:solidFill>
                <a:latin typeface="Arial"/>
              </a:rPr>
              <a:t>16</a:t>
            </a:r>
          </a:p>
        </p:txBody>
      </p:sp>
      <p:sp>
        <p:nvSpPr>
          <p:cNvPr id="21" name="TextBox 20"/>
          <p:cNvSpPr txBox="1"/>
          <p:nvPr/>
        </p:nvSpPr>
        <p:spPr>
          <a:xfrm>
            <a:off x="10424160" y="310896"/>
            <a:ext cx="1097280" cy="274320"/>
          </a:xfrm>
          <a:prstGeom prst="rect">
            <a:avLst/>
          </a:prstGeom>
          <a:noFill/>
        </p:spPr>
        <p:txBody>
          <a:bodyPr wrap="square" anchor="t" lIns="0" rIns="0" tIns="0" bIns="0">
            <a:spAutoFit/>
          </a:bodyPr>
          <a:lstStyle/>
          <a:p>
            <a:pPr algn="r"/>
            <a:r>
              <a:rPr sz="750" b="0" i="0" spc="200">
                <a:solidFill>
                  <a:srgbClr val="C8CCD2"/>
                </a:solidFill>
                <a:latin typeface="Arial"/>
              </a:rPr>
              <a:t>CONFIDENTIAL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40080"/>
            <a:ext cx="7315200" cy="274320"/>
          </a:xfrm>
          <a:prstGeom prst="rect">
            <a:avLst/>
          </a:prstGeom>
          <a:noFill/>
        </p:spPr>
        <p:txBody>
          <a:bodyPr wrap="square" anchor="t" lIns="0" rIns="0" tIns="0" bIns="0">
            <a:spAutoFit/>
          </a:bodyPr>
          <a:lstStyle/>
          <a:p>
            <a:pPr algn="l"/>
            <a:r>
              <a:rPr sz="1100" b="1" i="0" spc="300">
                <a:solidFill>
                  <a:srgbClr val="1B2A4A"/>
                </a:solidFill>
                <a:latin typeface="Arial"/>
              </a:rPr>
              <a:t>PORTFOLIO POSITIONING</a:t>
            </a:r>
          </a:p>
        </p:txBody>
      </p:sp>
      <p:sp>
        <p:nvSpPr>
          <p:cNvPr id="3" name="TextBox 2"/>
          <p:cNvSpPr txBox="1"/>
          <p:nvPr/>
        </p:nvSpPr>
        <p:spPr>
          <a:xfrm>
            <a:off x="658368" y="960120"/>
            <a:ext cx="10515600" cy="822960"/>
          </a:xfrm>
          <a:prstGeom prst="rect">
            <a:avLst/>
          </a:prstGeom>
          <a:noFill/>
        </p:spPr>
        <p:txBody>
          <a:bodyPr wrap="square" anchor="t" lIns="0" rIns="0" tIns="0" bIns="0">
            <a:spAutoFit/>
          </a:bodyPr>
          <a:lstStyle/>
          <a:p>
            <a:pPr algn="l"/>
            <a:r>
              <a:rPr sz="2600" b="1" i="0">
                <a:solidFill>
                  <a:srgbClr val="1A1A1C"/>
                </a:solidFill>
                <a:latin typeface="Arial"/>
              </a:rPr>
              <a:t>How Chrysler Fits Within Stellantis</a:t>
            </a:r>
          </a:p>
        </p:txBody>
      </p:sp>
      <p:sp>
        <p:nvSpPr>
          <p:cNvPr id="4" name="TextBox 3"/>
          <p:cNvSpPr txBox="1"/>
          <p:nvPr/>
        </p:nvSpPr>
        <p:spPr>
          <a:xfrm>
            <a:off x="685800" y="1600200"/>
            <a:ext cx="10515600" cy="365760"/>
          </a:xfrm>
          <a:prstGeom prst="rect">
            <a:avLst/>
          </a:prstGeom>
          <a:noFill/>
        </p:spPr>
        <p:txBody>
          <a:bodyPr wrap="square" anchor="t" lIns="0" rIns="0" tIns="0" bIns="0">
            <a:spAutoFit/>
          </a:bodyPr>
          <a:lstStyle/>
          <a:p>
            <a:pPr algn="l"/>
            <a:r>
              <a:rPr sz="1300" b="0" i="0">
                <a:solidFill>
                  <a:srgbClr val="4A4E57"/>
                </a:solidFill>
                <a:latin typeface="Arial"/>
              </a:rPr>
              <a:t>Differentiation, not overlap — the human-centered space only Chrysler occupies.</a:t>
            </a:r>
          </a:p>
        </p:txBody>
      </p:sp>
      <p:sp>
        <p:nvSpPr>
          <p:cNvPr id="5" name="Rectangle 4"/>
          <p:cNvSpPr/>
          <p:nvPr/>
        </p:nvSpPr>
        <p:spPr>
          <a:xfrm>
            <a:off x="4480560" y="2286000"/>
            <a:ext cx="3200400" cy="146304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480560" y="2286000"/>
            <a:ext cx="3200400" cy="1463040"/>
          </a:xfrm>
          <a:prstGeom prst="rect">
            <a:avLst/>
          </a:prstGeom>
          <a:noFill/>
        </p:spPr>
        <p:txBody>
          <a:bodyPr wrap="square" anchor="ctr" lIns="0" rIns="0" tIns="0" bIns="0">
            <a:spAutoFit/>
          </a:bodyPr>
          <a:lstStyle/>
          <a:p>
            <a:pPr algn="ctr">
              <a:spcAft>
                <a:spcPts val="400"/>
              </a:spcAft>
            </a:pPr>
            <a:r>
              <a:rPr sz="1800" b="1" i="0" spc="200">
                <a:solidFill>
                  <a:srgbClr val="FFFFFF"/>
                </a:solidFill>
                <a:latin typeface="Arial"/>
              </a:rPr>
              <a:t>CHRYSLER</a:t>
            </a:r>
          </a:p>
          <a:p>
            <a:pPr algn="ctr">
              <a:lnSpc>
                <a:spcPct val="110000"/>
              </a:lnSpc>
            </a:pPr>
            <a:r>
              <a:rPr sz="1100" b="0" i="0">
                <a:solidFill>
                  <a:srgbClr val="C8CCD2"/>
                </a:solidFill>
                <a:latin typeface="Arial"/>
              </a:rPr>
              <a:t>Designed around people.
Friction removed.</a:t>
            </a:r>
          </a:p>
        </p:txBody>
      </p:sp>
      <p:sp>
        <p:nvSpPr>
          <p:cNvPr id="7" name="Rectangle 6"/>
          <p:cNvSpPr/>
          <p:nvPr/>
        </p:nvSpPr>
        <p:spPr>
          <a:xfrm>
            <a:off x="685800" y="4297680"/>
            <a:ext cx="2430018" cy="1371600"/>
          </a:xfrm>
          <a:prstGeom prst="rect">
            <a:avLst/>
          </a:prstGeom>
          <a:solidFill>
            <a:srgbClr val="F7F8F9"/>
          </a:solidFill>
          <a:ln w="6350">
            <a:solidFill>
              <a:srgbClr val="C8C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4297680"/>
            <a:ext cx="2430018" cy="1371600"/>
          </a:xfrm>
          <a:prstGeom prst="rect">
            <a:avLst/>
          </a:prstGeom>
          <a:noFill/>
        </p:spPr>
        <p:txBody>
          <a:bodyPr wrap="square" anchor="ctr" lIns="0" rIns="0" tIns="0" bIns="0">
            <a:spAutoFit/>
          </a:bodyPr>
          <a:lstStyle/>
          <a:p>
            <a:pPr algn="ctr">
              <a:spcAft>
                <a:spcPts val="400"/>
              </a:spcAft>
            </a:pPr>
            <a:r>
              <a:rPr sz="1200" b="1" i="0" spc="150">
                <a:solidFill>
                  <a:srgbClr val="868B94"/>
                </a:solidFill>
                <a:latin typeface="Arial"/>
              </a:rPr>
              <a:t>BRAND A</a:t>
            </a:r>
          </a:p>
          <a:p>
            <a:pPr algn="ctr">
              <a:lnSpc>
                <a:spcPct val="110000"/>
              </a:lnSpc>
            </a:pPr>
            <a:r>
              <a:rPr sz="950" b="0" i="0">
                <a:solidFill>
                  <a:srgbClr val="C8CCD2"/>
                </a:solidFill>
                <a:latin typeface="Arial"/>
              </a:rPr>
              <a:t>Distinct role</a:t>
            </a:r>
          </a:p>
        </p:txBody>
      </p:sp>
      <p:sp>
        <p:nvSpPr>
          <p:cNvPr id="9" name="Rectangle 8"/>
          <p:cNvSpPr/>
          <p:nvPr/>
        </p:nvSpPr>
        <p:spPr>
          <a:xfrm>
            <a:off x="3481578" y="4297680"/>
            <a:ext cx="2430018" cy="1371600"/>
          </a:xfrm>
          <a:prstGeom prst="rect">
            <a:avLst/>
          </a:prstGeom>
          <a:solidFill>
            <a:srgbClr val="F7F8F9"/>
          </a:solidFill>
          <a:ln w="6350">
            <a:solidFill>
              <a:srgbClr val="C8C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81578" y="4297680"/>
            <a:ext cx="2430018" cy="1371600"/>
          </a:xfrm>
          <a:prstGeom prst="rect">
            <a:avLst/>
          </a:prstGeom>
          <a:noFill/>
        </p:spPr>
        <p:txBody>
          <a:bodyPr wrap="square" anchor="ctr" lIns="0" rIns="0" tIns="0" bIns="0">
            <a:spAutoFit/>
          </a:bodyPr>
          <a:lstStyle/>
          <a:p>
            <a:pPr algn="ctr">
              <a:spcAft>
                <a:spcPts val="400"/>
              </a:spcAft>
            </a:pPr>
            <a:r>
              <a:rPr sz="1200" b="1" i="0" spc="150">
                <a:solidFill>
                  <a:srgbClr val="868B94"/>
                </a:solidFill>
                <a:latin typeface="Arial"/>
              </a:rPr>
              <a:t>BRAND B</a:t>
            </a:r>
          </a:p>
          <a:p>
            <a:pPr algn="ctr">
              <a:lnSpc>
                <a:spcPct val="110000"/>
              </a:lnSpc>
            </a:pPr>
            <a:r>
              <a:rPr sz="950" b="0" i="0">
                <a:solidFill>
                  <a:srgbClr val="C8CCD2"/>
                </a:solidFill>
                <a:latin typeface="Arial"/>
              </a:rPr>
              <a:t>Distinct role</a:t>
            </a:r>
          </a:p>
        </p:txBody>
      </p:sp>
      <p:sp>
        <p:nvSpPr>
          <p:cNvPr id="11" name="Rectangle 10"/>
          <p:cNvSpPr/>
          <p:nvPr/>
        </p:nvSpPr>
        <p:spPr>
          <a:xfrm>
            <a:off x="6277356" y="4297680"/>
            <a:ext cx="2430018" cy="1371600"/>
          </a:xfrm>
          <a:prstGeom prst="rect">
            <a:avLst/>
          </a:prstGeom>
          <a:solidFill>
            <a:srgbClr val="F7F8F9"/>
          </a:solidFill>
          <a:ln w="6350">
            <a:solidFill>
              <a:srgbClr val="C8C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77356" y="4297680"/>
            <a:ext cx="2430018" cy="1371600"/>
          </a:xfrm>
          <a:prstGeom prst="rect">
            <a:avLst/>
          </a:prstGeom>
          <a:noFill/>
        </p:spPr>
        <p:txBody>
          <a:bodyPr wrap="square" anchor="ctr" lIns="0" rIns="0" tIns="0" bIns="0">
            <a:spAutoFit/>
          </a:bodyPr>
          <a:lstStyle/>
          <a:p>
            <a:pPr algn="ctr">
              <a:spcAft>
                <a:spcPts val="400"/>
              </a:spcAft>
            </a:pPr>
            <a:r>
              <a:rPr sz="1200" b="1" i="0" spc="150">
                <a:solidFill>
                  <a:srgbClr val="868B94"/>
                </a:solidFill>
                <a:latin typeface="Arial"/>
              </a:rPr>
              <a:t>BRAND C</a:t>
            </a:r>
          </a:p>
          <a:p>
            <a:pPr algn="ctr">
              <a:lnSpc>
                <a:spcPct val="110000"/>
              </a:lnSpc>
            </a:pPr>
            <a:r>
              <a:rPr sz="950" b="0" i="0">
                <a:solidFill>
                  <a:srgbClr val="C8CCD2"/>
                </a:solidFill>
                <a:latin typeface="Arial"/>
              </a:rPr>
              <a:t>Distinct role</a:t>
            </a:r>
          </a:p>
        </p:txBody>
      </p:sp>
      <p:sp>
        <p:nvSpPr>
          <p:cNvPr id="13" name="Rectangle 12"/>
          <p:cNvSpPr/>
          <p:nvPr/>
        </p:nvSpPr>
        <p:spPr>
          <a:xfrm>
            <a:off x="9073134" y="4297680"/>
            <a:ext cx="2430018" cy="1371600"/>
          </a:xfrm>
          <a:prstGeom prst="rect">
            <a:avLst/>
          </a:prstGeom>
          <a:solidFill>
            <a:srgbClr val="F7F8F9"/>
          </a:solidFill>
          <a:ln w="6350">
            <a:solidFill>
              <a:srgbClr val="C8C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73134" y="4297680"/>
            <a:ext cx="2430018" cy="1371600"/>
          </a:xfrm>
          <a:prstGeom prst="rect">
            <a:avLst/>
          </a:prstGeom>
          <a:noFill/>
        </p:spPr>
        <p:txBody>
          <a:bodyPr wrap="square" anchor="ctr" lIns="0" rIns="0" tIns="0" bIns="0">
            <a:spAutoFit/>
          </a:bodyPr>
          <a:lstStyle/>
          <a:p>
            <a:pPr algn="ctr">
              <a:spcAft>
                <a:spcPts val="400"/>
              </a:spcAft>
            </a:pPr>
            <a:r>
              <a:rPr sz="1200" b="1" i="0" spc="150">
                <a:solidFill>
                  <a:srgbClr val="868B94"/>
                </a:solidFill>
                <a:latin typeface="Arial"/>
              </a:rPr>
              <a:t>BRAND D</a:t>
            </a:r>
          </a:p>
          <a:p>
            <a:pPr algn="ctr">
              <a:lnSpc>
                <a:spcPct val="110000"/>
              </a:lnSpc>
            </a:pPr>
            <a:r>
              <a:rPr sz="950" b="0" i="0">
                <a:solidFill>
                  <a:srgbClr val="C8CCD2"/>
                </a:solidFill>
                <a:latin typeface="Arial"/>
              </a:rPr>
              <a:t>Distinct role</a:t>
            </a:r>
          </a:p>
        </p:txBody>
      </p:sp>
      <p:sp>
        <p:nvSpPr>
          <p:cNvPr id="15" name="TextBox 14"/>
          <p:cNvSpPr txBox="1"/>
          <p:nvPr/>
        </p:nvSpPr>
        <p:spPr>
          <a:xfrm>
            <a:off x="640080" y="6437376"/>
            <a:ext cx="7315200" cy="274320"/>
          </a:xfrm>
          <a:prstGeom prst="rect">
            <a:avLst/>
          </a:prstGeom>
          <a:noFill/>
        </p:spPr>
        <p:txBody>
          <a:bodyPr wrap="square" anchor="t" lIns="0" rIns="0" tIns="0" bIns="0">
            <a:spAutoFit/>
          </a:bodyPr>
          <a:lstStyle/>
          <a:p>
            <a:pPr algn="l"/>
            <a:r>
              <a:rPr sz="800" b="0" i="0" spc="150">
                <a:solidFill>
                  <a:srgbClr val="868B94"/>
                </a:solidFill>
                <a:latin typeface="Arial"/>
              </a:rPr>
              <a:t>CHRYSLER  ·  BRAND DESIGN VISION</a:t>
            </a:r>
          </a:p>
        </p:txBody>
      </p:sp>
      <p:sp>
        <p:nvSpPr>
          <p:cNvPr id="16" name="TextBox 15"/>
          <p:cNvSpPr txBox="1"/>
          <p:nvPr/>
        </p:nvSpPr>
        <p:spPr>
          <a:xfrm>
            <a:off x="10607040" y="6437376"/>
            <a:ext cx="914400" cy="274320"/>
          </a:xfrm>
          <a:prstGeom prst="rect">
            <a:avLst/>
          </a:prstGeom>
          <a:noFill/>
        </p:spPr>
        <p:txBody>
          <a:bodyPr wrap="square" anchor="t" lIns="0" rIns="0" tIns="0" bIns="0">
            <a:spAutoFit/>
          </a:bodyPr>
          <a:lstStyle/>
          <a:p>
            <a:pPr algn="r"/>
            <a:r>
              <a:rPr sz="800" b="0" i="0" spc="150">
                <a:solidFill>
                  <a:srgbClr val="868B94"/>
                </a:solidFill>
                <a:latin typeface="Arial"/>
              </a:rPr>
              <a:t>17</a:t>
            </a:r>
          </a:p>
        </p:txBody>
      </p:sp>
      <p:sp>
        <p:nvSpPr>
          <p:cNvPr id="17" name="TextBox 16"/>
          <p:cNvSpPr txBox="1"/>
          <p:nvPr/>
        </p:nvSpPr>
        <p:spPr>
          <a:xfrm>
            <a:off x="10424160" y="310896"/>
            <a:ext cx="1097280" cy="274320"/>
          </a:xfrm>
          <a:prstGeom prst="rect">
            <a:avLst/>
          </a:prstGeom>
          <a:noFill/>
        </p:spPr>
        <p:txBody>
          <a:bodyPr wrap="square" anchor="t" lIns="0" rIns="0" tIns="0" bIns="0">
            <a:spAutoFit/>
          </a:bodyPr>
          <a:lstStyle/>
          <a:p>
            <a:pPr algn="r"/>
            <a:r>
              <a:rPr sz="750" b="0" i="0" spc="200">
                <a:solidFill>
                  <a:srgbClr val="C8CCD2"/>
                </a:solidFill>
                <a:latin typeface="Arial"/>
              </a:rPr>
              <a:t>CONFIDENTIAL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40080"/>
            <a:ext cx="7315200" cy="274320"/>
          </a:xfrm>
          <a:prstGeom prst="rect">
            <a:avLst/>
          </a:prstGeom>
          <a:noFill/>
        </p:spPr>
        <p:txBody>
          <a:bodyPr wrap="square" anchor="t" lIns="0" rIns="0" tIns="0" bIns="0">
            <a:spAutoFit/>
          </a:bodyPr>
          <a:lstStyle/>
          <a:p>
            <a:pPr algn="l"/>
            <a:r>
              <a:rPr sz="1100" b="1" i="0" spc="300">
                <a:solidFill>
                  <a:srgbClr val="1B2A4A"/>
                </a:solidFill>
                <a:latin typeface="Arial"/>
              </a:rPr>
              <a:t>LOOKING FORWARD</a:t>
            </a:r>
          </a:p>
        </p:txBody>
      </p:sp>
      <p:sp>
        <p:nvSpPr>
          <p:cNvPr id="3" name="TextBox 2"/>
          <p:cNvSpPr txBox="1"/>
          <p:nvPr/>
        </p:nvSpPr>
        <p:spPr>
          <a:xfrm>
            <a:off x="658368" y="960120"/>
            <a:ext cx="10515600" cy="822960"/>
          </a:xfrm>
          <a:prstGeom prst="rect">
            <a:avLst/>
          </a:prstGeom>
          <a:noFill/>
        </p:spPr>
        <p:txBody>
          <a:bodyPr wrap="square" anchor="t" lIns="0" rIns="0" tIns="0" bIns="0">
            <a:spAutoFit/>
          </a:bodyPr>
          <a:lstStyle/>
          <a:p>
            <a:pPr algn="l"/>
            <a:r>
              <a:rPr sz="2800" b="1" i="0">
                <a:solidFill>
                  <a:srgbClr val="1A1A1C"/>
                </a:solidFill>
                <a:latin typeface="Arial"/>
              </a:rPr>
              <a:t>Future Customer Experience</a:t>
            </a:r>
          </a:p>
        </p:txBody>
      </p:sp>
      <p:sp>
        <p:nvSpPr>
          <p:cNvPr id="4" name="Rectangle 3"/>
          <p:cNvSpPr/>
          <p:nvPr/>
        </p:nvSpPr>
        <p:spPr>
          <a:xfrm>
            <a:off x="685800" y="2057400"/>
            <a:ext cx="3361944" cy="1828800"/>
          </a:xfrm>
          <a:prstGeom prst="rect">
            <a:avLst/>
          </a:prstGeom>
          <a:solidFill>
            <a:srgbClr val="F7F8F9"/>
          </a:solidFill>
          <a:ln w="6350">
            <a:solidFill>
              <a:srgbClr val="C8C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05840" y="2377440"/>
            <a:ext cx="640080" cy="640080"/>
          </a:xfrm>
          <a:prstGeom prst="roundRect">
            <a:avLst/>
          </a:prstGeom>
          <a:noFill/>
          <a:ln w="15875">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441448"/>
            <a:ext cx="640080" cy="640080"/>
          </a:xfrm>
          <a:prstGeom prst="rect">
            <a:avLst/>
          </a:prstGeom>
          <a:noFill/>
        </p:spPr>
        <p:txBody>
          <a:bodyPr wrap="square" anchor="ctr" lIns="0" rIns="0" tIns="0" bIns="0">
            <a:spAutoFit/>
          </a:bodyPr>
          <a:lstStyle/>
          <a:p>
            <a:pPr algn="ctr"/>
            <a:r>
              <a:rPr sz="750" b="0" i="0" spc="100">
                <a:solidFill>
                  <a:srgbClr val="A9AEB5"/>
                </a:solidFill>
                <a:latin typeface="Arial"/>
              </a:rPr>
              <a:t>ICON</a:t>
            </a:r>
          </a:p>
        </p:txBody>
      </p:sp>
      <p:sp>
        <p:nvSpPr>
          <p:cNvPr id="7" name="TextBox 6"/>
          <p:cNvSpPr txBox="1"/>
          <p:nvPr/>
        </p:nvSpPr>
        <p:spPr>
          <a:xfrm>
            <a:off x="1005840" y="3200400"/>
            <a:ext cx="2721864" cy="548640"/>
          </a:xfrm>
          <a:prstGeom prst="rect">
            <a:avLst/>
          </a:prstGeom>
          <a:noFill/>
        </p:spPr>
        <p:txBody>
          <a:bodyPr wrap="square" anchor="t" lIns="0" rIns="0" tIns="0" bIns="0">
            <a:spAutoFit/>
          </a:bodyPr>
          <a:lstStyle/>
          <a:p>
            <a:pPr algn="l">
              <a:spcAft>
                <a:spcPts val="300"/>
              </a:spcAft>
            </a:pPr>
            <a:r>
              <a:rPr sz="1400" b="1" i="0">
                <a:solidFill>
                  <a:srgbClr val="1A1A1C"/>
                </a:solidFill>
                <a:latin typeface="Arial"/>
              </a:rPr>
              <a:t>Digital Ecosystem</a:t>
            </a:r>
          </a:p>
          <a:p>
            <a:pPr algn="l">
              <a:lnSpc>
                <a:spcPct val="115000"/>
              </a:lnSpc>
            </a:pPr>
            <a:r>
              <a:rPr sz="1000" b="0" i="0">
                <a:solidFill>
                  <a:srgbClr val="868B94"/>
                </a:solidFill>
                <a:latin typeface="Arial"/>
              </a:rPr>
              <a:t>Seamless, connected, personal.</a:t>
            </a:r>
          </a:p>
        </p:txBody>
      </p:sp>
      <p:sp>
        <p:nvSpPr>
          <p:cNvPr id="8" name="Rectangle 7"/>
          <p:cNvSpPr/>
          <p:nvPr/>
        </p:nvSpPr>
        <p:spPr>
          <a:xfrm>
            <a:off x="4413504" y="2057400"/>
            <a:ext cx="3361944" cy="1828800"/>
          </a:xfrm>
          <a:prstGeom prst="rect">
            <a:avLst/>
          </a:prstGeom>
          <a:solidFill>
            <a:srgbClr val="F7F8F9"/>
          </a:solidFill>
          <a:ln w="6350">
            <a:solidFill>
              <a:srgbClr val="C8C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733544" y="2377440"/>
            <a:ext cx="640080" cy="640080"/>
          </a:xfrm>
          <a:prstGeom prst="roundRect">
            <a:avLst/>
          </a:prstGeom>
          <a:noFill/>
          <a:ln w="15875">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33544" y="2441448"/>
            <a:ext cx="640080" cy="640080"/>
          </a:xfrm>
          <a:prstGeom prst="rect">
            <a:avLst/>
          </a:prstGeom>
          <a:noFill/>
        </p:spPr>
        <p:txBody>
          <a:bodyPr wrap="square" anchor="ctr" lIns="0" rIns="0" tIns="0" bIns="0">
            <a:spAutoFit/>
          </a:bodyPr>
          <a:lstStyle/>
          <a:p>
            <a:pPr algn="ctr"/>
            <a:r>
              <a:rPr sz="750" b="0" i="0" spc="100">
                <a:solidFill>
                  <a:srgbClr val="A9AEB5"/>
                </a:solidFill>
                <a:latin typeface="Arial"/>
              </a:rPr>
              <a:t>ICON</a:t>
            </a:r>
          </a:p>
        </p:txBody>
      </p:sp>
      <p:sp>
        <p:nvSpPr>
          <p:cNvPr id="11" name="TextBox 10"/>
          <p:cNvSpPr txBox="1"/>
          <p:nvPr/>
        </p:nvSpPr>
        <p:spPr>
          <a:xfrm>
            <a:off x="4733544" y="3200400"/>
            <a:ext cx="2721864" cy="548640"/>
          </a:xfrm>
          <a:prstGeom prst="rect">
            <a:avLst/>
          </a:prstGeom>
          <a:noFill/>
        </p:spPr>
        <p:txBody>
          <a:bodyPr wrap="square" anchor="t" lIns="0" rIns="0" tIns="0" bIns="0">
            <a:spAutoFit/>
          </a:bodyPr>
          <a:lstStyle/>
          <a:p>
            <a:pPr algn="l">
              <a:spcAft>
                <a:spcPts val="300"/>
              </a:spcAft>
            </a:pPr>
            <a:r>
              <a:rPr sz="1400" b="1" i="0">
                <a:solidFill>
                  <a:srgbClr val="1A1A1C"/>
                </a:solidFill>
                <a:latin typeface="Arial"/>
              </a:rPr>
              <a:t>Technology</a:t>
            </a:r>
          </a:p>
          <a:p>
            <a:pPr algn="l">
              <a:lnSpc>
                <a:spcPct val="115000"/>
              </a:lnSpc>
            </a:pPr>
            <a:r>
              <a:rPr sz="1000" b="0" i="0">
                <a:solidFill>
                  <a:srgbClr val="868B94"/>
                </a:solidFill>
                <a:latin typeface="Arial"/>
              </a:rPr>
              <a:t>Purposeful and invisible.</a:t>
            </a:r>
          </a:p>
        </p:txBody>
      </p:sp>
      <p:sp>
        <p:nvSpPr>
          <p:cNvPr id="12" name="Rectangle 11"/>
          <p:cNvSpPr/>
          <p:nvPr/>
        </p:nvSpPr>
        <p:spPr>
          <a:xfrm>
            <a:off x="8141208" y="2057400"/>
            <a:ext cx="3361944" cy="1828800"/>
          </a:xfrm>
          <a:prstGeom prst="rect">
            <a:avLst/>
          </a:prstGeom>
          <a:solidFill>
            <a:srgbClr val="F7F8F9"/>
          </a:solidFill>
          <a:ln w="6350">
            <a:solidFill>
              <a:srgbClr val="C8C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461248" y="2377440"/>
            <a:ext cx="640080" cy="640080"/>
          </a:xfrm>
          <a:prstGeom prst="roundRect">
            <a:avLst/>
          </a:prstGeom>
          <a:noFill/>
          <a:ln w="15875">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61248" y="2441448"/>
            <a:ext cx="640080" cy="640080"/>
          </a:xfrm>
          <a:prstGeom prst="rect">
            <a:avLst/>
          </a:prstGeom>
          <a:noFill/>
        </p:spPr>
        <p:txBody>
          <a:bodyPr wrap="square" anchor="ctr" lIns="0" rIns="0" tIns="0" bIns="0">
            <a:spAutoFit/>
          </a:bodyPr>
          <a:lstStyle/>
          <a:p>
            <a:pPr algn="ctr"/>
            <a:r>
              <a:rPr sz="750" b="0" i="0" spc="100">
                <a:solidFill>
                  <a:srgbClr val="A9AEB5"/>
                </a:solidFill>
                <a:latin typeface="Arial"/>
              </a:rPr>
              <a:t>ICON</a:t>
            </a:r>
          </a:p>
        </p:txBody>
      </p:sp>
      <p:sp>
        <p:nvSpPr>
          <p:cNvPr id="15" name="TextBox 14"/>
          <p:cNvSpPr txBox="1"/>
          <p:nvPr/>
        </p:nvSpPr>
        <p:spPr>
          <a:xfrm>
            <a:off x="8461248" y="3200400"/>
            <a:ext cx="2721864" cy="548640"/>
          </a:xfrm>
          <a:prstGeom prst="rect">
            <a:avLst/>
          </a:prstGeom>
          <a:noFill/>
        </p:spPr>
        <p:txBody>
          <a:bodyPr wrap="square" anchor="t" lIns="0" rIns="0" tIns="0" bIns="0">
            <a:spAutoFit/>
          </a:bodyPr>
          <a:lstStyle/>
          <a:p>
            <a:pPr algn="l">
              <a:spcAft>
                <a:spcPts val="300"/>
              </a:spcAft>
            </a:pPr>
            <a:r>
              <a:rPr sz="1400" b="1" i="0">
                <a:solidFill>
                  <a:srgbClr val="1A1A1C"/>
                </a:solidFill>
                <a:latin typeface="Arial"/>
              </a:rPr>
              <a:t>Sustainability</a:t>
            </a:r>
          </a:p>
          <a:p>
            <a:pPr algn="l">
              <a:lnSpc>
                <a:spcPct val="115000"/>
              </a:lnSpc>
            </a:pPr>
            <a:r>
              <a:rPr sz="1000" b="0" i="0">
                <a:solidFill>
                  <a:srgbClr val="868B94"/>
                </a:solidFill>
                <a:latin typeface="Arial"/>
              </a:rPr>
              <a:t>Warm, recycled, responsible materials.</a:t>
            </a:r>
          </a:p>
        </p:txBody>
      </p:sp>
      <p:sp>
        <p:nvSpPr>
          <p:cNvPr id="16" name="Rectangle 15"/>
          <p:cNvSpPr/>
          <p:nvPr/>
        </p:nvSpPr>
        <p:spPr>
          <a:xfrm>
            <a:off x="685800" y="4206240"/>
            <a:ext cx="3361944" cy="1828800"/>
          </a:xfrm>
          <a:prstGeom prst="rect">
            <a:avLst/>
          </a:prstGeom>
          <a:solidFill>
            <a:srgbClr val="F7F8F9"/>
          </a:solidFill>
          <a:ln w="6350">
            <a:solidFill>
              <a:srgbClr val="C8C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05840" y="4526280"/>
            <a:ext cx="640080" cy="640080"/>
          </a:xfrm>
          <a:prstGeom prst="roundRect">
            <a:avLst/>
          </a:prstGeom>
          <a:noFill/>
          <a:ln w="15875">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4590288"/>
            <a:ext cx="640080" cy="640080"/>
          </a:xfrm>
          <a:prstGeom prst="rect">
            <a:avLst/>
          </a:prstGeom>
          <a:noFill/>
        </p:spPr>
        <p:txBody>
          <a:bodyPr wrap="square" anchor="ctr" lIns="0" rIns="0" tIns="0" bIns="0">
            <a:spAutoFit/>
          </a:bodyPr>
          <a:lstStyle/>
          <a:p>
            <a:pPr algn="ctr"/>
            <a:r>
              <a:rPr sz="750" b="0" i="0" spc="100">
                <a:solidFill>
                  <a:srgbClr val="A9AEB5"/>
                </a:solidFill>
                <a:latin typeface="Arial"/>
              </a:rPr>
              <a:t>ICON</a:t>
            </a:r>
          </a:p>
        </p:txBody>
      </p:sp>
      <p:sp>
        <p:nvSpPr>
          <p:cNvPr id="19" name="TextBox 18"/>
          <p:cNvSpPr txBox="1"/>
          <p:nvPr/>
        </p:nvSpPr>
        <p:spPr>
          <a:xfrm>
            <a:off x="1005840" y="5349240"/>
            <a:ext cx="2721864" cy="548640"/>
          </a:xfrm>
          <a:prstGeom prst="rect">
            <a:avLst/>
          </a:prstGeom>
          <a:noFill/>
        </p:spPr>
        <p:txBody>
          <a:bodyPr wrap="square" anchor="t" lIns="0" rIns="0" tIns="0" bIns="0">
            <a:spAutoFit/>
          </a:bodyPr>
          <a:lstStyle/>
          <a:p>
            <a:pPr algn="l">
              <a:spcAft>
                <a:spcPts val="300"/>
              </a:spcAft>
            </a:pPr>
            <a:r>
              <a:rPr sz="1400" b="1" i="0">
                <a:solidFill>
                  <a:srgbClr val="1A1A1C"/>
                </a:solidFill>
                <a:latin typeface="Arial"/>
              </a:rPr>
              <a:t>Luxury</a:t>
            </a:r>
          </a:p>
          <a:p>
            <a:pPr algn="l">
              <a:lnSpc>
                <a:spcPct val="115000"/>
              </a:lnSpc>
            </a:pPr>
            <a:r>
              <a:rPr sz="1000" b="0" i="0">
                <a:solidFill>
                  <a:srgbClr val="868B94"/>
                </a:solidFill>
                <a:latin typeface="Arial"/>
              </a:rPr>
              <a:t>Friction removed from daily life.</a:t>
            </a:r>
          </a:p>
        </p:txBody>
      </p:sp>
      <p:sp>
        <p:nvSpPr>
          <p:cNvPr id="20" name="Rectangle 19"/>
          <p:cNvSpPr/>
          <p:nvPr/>
        </p:nvSpPr>
        <p:spPr>
          <a:xfrm>
            <a:off x="4413504" y="4206240"/>
            <a:ext cx="3361944" cy="1828800"/>
          </a:xfrm>
          <a:prstGeom prst="rect">
            <a:avLst/>
          </a:prstGeom>
          <a:solidFill>
            <a:srgbClr val="F7F8F9"/>
          </a:solidFill>
          <a:ln w="6350">
            <a:solidFill>
              <a:srgbClr val="C8C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733544" y="4526280"/>
            <a:ext cx="640080" cy="640080"/>
          </a:xfrm>
          <a:prstGeom prst="roundRect">
            <a:avLst/>
          </a:prstGeom>
          <a:noFill/>
          <a:ln w="15875">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33544" y="4590288"/>
            <a:ext cx="640080" cy="640080"/>
          </a:xfrm>
          <a:prstGeom prst="rect">
            <a:avLst/>
          </a:prstGeom>
          <a:noFill/>
        </p:spPr>
        <p:txBody>
          <a:bodyPr wrap="square" anchor="ctr" lIns="0" rIns="0" tIns="0" bIns="0">
            <a:spAutoFit/>
          </a:bodyPr>
          <a:lstStyle/>
          <a:p>
            <a:pPr algn="ctr"/>
            <a:r>
              <a:rPr sz="750" b="0" i="0" spc="100">
                <a:solidFill>
                  <a:srgbClr val="A9AEB5"/>
                </a:solidFill>
                <a:latin typeface="Arial"/>
              </a:rPr>
              <a:t>ICON</a:t>
            </a:r>
          </a:p>
        </p:txBody>
      </p:sp>
      <p:sp>
        <p:nvSpPr>
          <p:cNvPr id="23" name="TextBox 22"/>
          <p:cNvSpPr txBox="1"/>
          <p:nvPr/>
        </p:nvSpPr>
        <p:spPr>
          <a:xfrm>
            <a:off x="4733544" y="5349240"/>
            <a:ext cx="2721864" cy="548640"/>
          </a:xfrm>
          <a:prstGeom prst="rect">
            <a:avLst/>
          </a:prstGeom>
          <a:noFill/>
        </p:spPr>
        <p:txBody>
          <a:bodyPr wrap="square" anchor="t" lIns="0" rIns="0" tIns="0" bIns="0">
            <a:spAutoFit/>
          </a:bodyPr>
          <a:lstStyle/>
          <a:p>
            <a:pPr algn="l">
              <a:spcAft>
                <a:spcPts val="300"/>
              </a:spcAft>
            </a:pPr>
            <a:r>
              <a:rPr sz="1400" b="1" i="0">
                <a:solidFill>
                  <a:srgbClr val="1A1A1C"/>
                </a:solidFill>
                <a:latin typeface="Arial"/>
              </a:rPr>
              <a:t>AI</a:t>
            </a:r>
          </a:p>
          <a:p>
            <a:pPr algn="l">
              <a:lnSpc>
                <a:spcPct val="115000"/>
              </a:lnSpc>
            </a:pPr>
            <a:r>
              <a:rPr sz="1000" b="0" i="0">
                <a:solidFill>
                  <a:srgbClr val="868B94"/>
                </a:solidFill>
                <a:latin typeface="Arial"/>
              </a:rPr>
              <a:t>Adaptive, predictive, human-centered.</a:t>
            </a:r>
          </a:p>
        </p:txBody>
      </p:sp>
      <p:sp>
        <p:nvSpPr>
          <p:cNvPr id="24" name="Rectangle 23"/>
          <p:cNvSpPr/>
          <p:nvPr/>
        </p:nvSpPr>
        <p:spPr>
          <a:xfrm>
            <a:off x="8141208" y="4206240"/>
            <a:ext cx="3361944" cy="1828800"/>
          </a:xfrm>
          <a:prstGeom prst="rect">
            <a:avLst/>
          </a:prstGeom>
          <a:solidFill>
            <a:srgbClr val="F7F8F9"/>
          </a:solidFill>
          <a:ln w="6350">
            <a:solidFill>
              <a:srgbClr val="C8C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461248" y="4526280"/>
            <a:ext cx="640080" cy="640080"/>
          </a:xfrm>
          <a:prstGeom prst="roundRect">
            <a:avLst/>
          </a:prstGeom>
          <a:noFill/>
          <a:ln w="15875">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61248" y="4590288"/>
            <a:ext cx="640080" cy="640080"/>
          </a:xfrm>
          <a:prstGeom prst="rect">
            <a:avLst/>
          </a:prstGeom>
          <a:noFill/>
        </p:spPr>
        <p:txBody>
          <a:bodyPr wrap="square" anchor="ctr" lIns="0" rIns="0" tIns="0" bIns="0">
            <a:spAutoFit/>
          </a:bodyPr>
          <a:lstStyle/>
          <a:p>
            <a:pPr algn="ctr"/>
            <a:r>
              <a:rPr sz="750" b="0" i="0" spc="100">
                <a:solidFill>
                  <a:srgbClr val="A9AEB5"/>
                </a:solidFill>
                <a:latin typeface="Arial"/>
              </a:rPr>
              <a:t>ICON</a:t>
            </a:r>
          </a:p>
        </p:txBody>
      </p:sp>
      <p:sp>
        <p:nvSpPr>
          <p:cNvPr id="27" name="TextBox 26"/>
          <p:cNvSpPr txBox="1"/>
          <p:nvPr/>
        </p:nvSpPr>
        <p:spPr>
          <a:xfrm>
            <a:off x="8461248" y="5349240"/>
            <a:ext cx="2721864" cy="548640"/>
          </a:xfrm>
          <a:prstGeom prst="rect">
            <a:avLst/>
          </a:prstGeom>
          <a:noFill/>
        </p:spPr>
        <p:txBody>
          <a:bodyPr wrap="square" anchor="t" lIns="0" rIns="0" tIns="0" bIns="0">
            <a:spAutoFit/>
          </a:bodyPr>
          <a:lstStyle/>
          <a:p>
            <a:pPr algn="l">
              <a:spcAft>
                <a:spcPts val="300"/>
              </a:spcAft>
            </a:pPr>
            <a:r>
              <a:rPr sz="1400" b="1" i="0">
                <a:solidFill>
                  <a:srgbClr val="1A1A1C"/>
                </a:solidFill>
                <a:latin typeface="Arial"/>
              </a:rPr>
              <a:t>Connected Mobility</a:t>
            </a:r>
          </a:p>
          <a:p>
            <a:pPr algn="l">
              <a:lnSpc>
                <a:spcPct val="115000"/>
              </a:lnSpc>
            </a:pPr>
            <a:r>
              <a:rPr sz="1000" b="0" i="0">
                <a:solidFill>
                  <a:srgbClr val="868B94"/>
                </a:solidFill>
                <a:latin typeface="Arial"/>
              </a:rPr>
              <a:t>Effortless, door to destination.</a:t>
            </a:r>
          </a:p>
        </p:txBody>
      </p:sp>
      <p:sp>
        <p:nvSpPr>
          <p:cNvPr id="28" name="TextBox 27"/>
          <p:cNvSpPr txBox="1"/>
          <p:nvPr/>
        </p:nvSpPr>
        <p:spPr>
          <a:xfrm>
            <a:off x="640080" y="6437376"/>
            <a:ext cx="7315200" cy="274320"/>
          </a:xfrm>
          <a:prstGeom prst="rect">
            <a:avLst/>
          </a:prstGeom>
          <a:noFill/>
        </p:spPr>
        <p:txBody>
          <a:bodyPr wrap="square" anchor="t" lIns="0" rIns="0" tIns="0" bIns="0">
            <a:spAutoFit/>
          </a:bodyPr>
          <a:lstStyle/>
          <a:p>
            <a:pPr algn="l"/>
            <a:r>
              <a:rPr sz="800" b="0" i="0" spc="150">
                <a:solidFill>
                  <a:srgbClr val="868B94"/>
                </a:solidFill>
                <a:latin typeface="Arial"/>
              </a:rPr>
              <a:t>CHRYSLER  ·  BRAND DESIGN VISION</a:t>
            </a:r>
          </a:p>
        </p:txBody>
      </p:sp>
      <p:sp>
        <p:nvSpPr>
          <p:cNvPr id="29" name="TextBox 28"/>
          <p:cNvSpPr txBox="1"/>
          <p:nvPr/>
        </p:nvSpPr>
        <p:spPr>
          <a:xfrm>
            <a:off x="10607040" y="6437376"/>
            <a:ext cx="914400" cy="274320"/>
          </a:xfrm>
          <a:prstGeom prst="rect">
            <a:avLst/>
          </a:prstGeom>
          <a:noFill/>
        </p:spPr>
        <p:txBody>
          <a:bodyPr wrap="square" anchor="t" lIns="0" rIns="0" tIns="0" bIns="0">
            <a:spAutoFit/>
          </a:bodyPr>
          <a:lstStyle/>
          <a:p>
            <a:pPr algn="r"/>
            <a:r>
              <a:rPr sz="800" b="0" i="0" spc="150">
                <a:solidFill>
                  <a:srgbClr val="868B94"/>
                </a:solidFill>
                <a:latin typeface="Arial"/>
              </a:rPr>
              <a:t>18</a:t>
            </a:r>
          </a:p>
        </p:txBody>
      </p:sp>
      <p:sp>
        <p:nvSpPr>
          <p:cNvPr id="30" name="TextBox 29"/>
          <p:cNvSpPr txBox="1"/>
          <p:nvPr/>
        </p:nvSpPr>
        <p:spPr>
          <a:xfrm>
            <a:off x="10424160" y="310896"/>
            <a:ext cx="1097280" cy="274320"/>
          </a:xfrm>
          <a:prstGeom prst="rect">
            <a:avLst/>
          </a:prstGeom>
          <a:noFill/>
        </p:spPr>
        <p:txBody>
          <a:bodyPr wrap="square" anchor="t" lIns="0" rIns="0" tIns="0" bIns="0">
            <a:spAutoFit/>
          </a:bodyPr>
          <a:lstStyle/>
          <a:p>
            <a:pPr algn="r"/>
            <a:r>
              <a:rPr sz="750" b="0" i="0" spc="200">
                <a:solidFill>
                  <a:srgbClr val="C8CCD2"/>
                </a:solidFill>
                <a:latin typeface="Arial"/>
              </a:rPr>
              <a:t>CONFIDENTIAL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640080"/>
            <a:ext cx="7315200" cy="274320"/>
          </a:xfrm>
          <a:prstGeom prst="rect">
            <a:avLst/>
          </a:prstGeom>
          <a:noFill/>
        </p:spPr>
        <p:txBody>
          <a:bodyPr wrap="square" anchor="t" lIns="0" rIns="0" tIns="0" bIns="0">
            <a:spAutoFit/>
          </a:bodyPr>
          <a:lstStyle/>
          <a:p>
            <a:pPr algn="l"/>
            <a:r>
              <a:rPr sz="1100" b="1" i="0" spc="300">
                <a:solidFill>
                  <a:srgbClr val="1B2A4A"/>
                </a:solidFill>
                <a:latin typeface="Arial"/>
              </a:rPr>
              <a:t>CAPABILITY</a:t>
            </a:r>
          </a:p>
        </p:txBody>
      </p:sp>
      <p:sp>
        <p:nvSpPr>
          <p:cNvPr id="3" name="TextBox 2"/>
          <p:cNvSpPr txBox="1"/>
          <p:nvPr/>
        </p:nvSpPr>
        <p:spPr>
          <a:xfrm>
            <a:off x="658368" y="960120"/>
            <a:ext cx="10515600" cy="822960"/>
          </a:xfrm>
          <a:prstGeom prst="rect">
            <a:avLst/>
          </a:prstGeom>
          <a:noFill/>
        </p:spPr>
        <p:txBody>
          <a:bodyPr wrap="square" anchor="t" lIns="0" rIns="0" tIns="0" bIns="0">
            <a:spAutoFit/>
          </a:bodyPr>
          <a:lstStyle/>
          <a:p>
            <a:pPr algn="l"/>
            <a:r>
              <a:rPr sz="2800" b="1" i="0">
                <a:solidFill>
                  <a:srgbClr val="1A1A1C"/>
                </a:solidFill>
                <a:latin typeface="Arial"/>
              </a:rPr>
              <a:t>Design Innovation</a:t>
            </a:r>
          </a:p>
        </p:txBody>
      </p:sp>
      <p:sp>
        <p:nvSpPr>
          <p:cNvPr id="4" name="Rectangle 3"/>
          <p:cNvSpPr/>
          <p:nvPr/>
        </p:nvSpPr>
        <p:spPr>
          <a:xfrm>
            <a:off x="685800" y="1828800"/>
            <a:ext cx="10817352" cy="2468880"/>
          </a:xfrm>
          <a:prstGeom prst="rect">
            <a:avLst/>
          </a:prstGeom>
          <a:solidFill>
            <a:srgbClr val="EF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685800" y="182880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85800" y="182880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265408" y="182880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503152" y="182880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85800" y="429768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685800" y="405993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11265408" y="429768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503152" y="405993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838444" y="2587752"/>
            <a:ext cx="512064" cy="512064"/>
          </a:xfrm>
          <a:prstGeom prst="roundRect">
            <a:avLst/>
          </a:prstGeom>
          <a:noFill/>
          <a:ln w="19050">
            <a:solidFill>
              <a:srgbClr val="A9AE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951098" y="2690164"/>
            <a:ext cx="100584" cy="100584"/>
          </a:xfrm>
          <a:prstGeom prst="ellips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5992063" y="2813060"/>
            <a:ext cx="274320" cy="164592"/>
          </a:xfrm>
          <a:prstGeom prst="triangle">
            <a:avLst/>
          </a:prstGeom>
          <a:solidFill>
            <a:srgbClr val="A9A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191256"/>
            <a:ext cx="10817352" cy="365760"/>
          </a:xfrm>
          <a:prstGeom prst="rect">
            <a:avLst/>
          </a:prstGeom>
          <a:noFill/>
        </p:spPr>
        <p:txBody>
          <a:bodyPr wrap="square" anchor="t" lIns="0" rIns="0" tIns="0" bIns="0">
            <a:spAutoFit/>
          </a:bodyPr>
          <a:lstStyle/>
          <a:p>
            <a:pPr algn="ctr"/>
            <a:r>
              <a:rPr sz="1050" b="1" i="0" spc="200">
                <a:solidFill>
                  <a:srgbClr val="868B94"/>
                </a:solidFill>
                <a:latin typeface="Arial"/>
              </a:rPr>
              <a:t>LARGE INFOGRAPHIC PLACEHOLDER</a:t>
            </a:r>
          </a:p>
        </p:txBody>
      </p:sp>
      <p:sp>
        <p:nvSpPr>
          <p:cNvPr id="17" name="TextBox 16"/>
          <p:cNvSpPr txBox="1"/>
          <p:nvPr/>
        </p:nvSpPr>
        <p:spPr>
          <a:xfrm>
            <a:off x="685800" y="3465576"/>
            <a:ext cx="10817352" cy="274320"/>
          </a:xfrm>
          <a:prstGeom prst="rect">
            <a:avLst/>
          </a:prstGeom>
          <a:noFill/>
        </p:spPr>
        <p:txBody>
          <a:bodyPr wrap="square" anchor="t" lIns="0" rIns="0" tIns="0" bIns="0">
            <a:spAutoFit/>
          </a:bodyPr>
          <a:lstStyle/>
          <a:p>
            <a:pPr algn="ctr"/>
            <a:r>
              <a:rPr sz="800" b="0" i="0" spc="80">
                <a:solidFill>
                  <a:srgbClr val="C8CCD2"/>
                </a:solidFill>
                <a:latin typeface="Arial"/>
              </a:rPr>
              <a:t>Replace · innovation framework graphic</a:t>
            </a:r>
          </a:p>
        </p:txBody>
      </p:sp>
      <p:sp>
        <p:nvSpPr>
          <p:cNvPr id="18" name="Rectangle 17"/>
          <p:cNvSpPr/>
          <p:nvPr/>
        </p:nvSpPr>
        <p:spPr>
          <a:xfrm>
            <a:off x="685800" y="4526280"/>
            <a:ext cx="1612392" cy="1280160"/>
          </a:xfrm>
          <a:prstGeom prst="rect">
            <a:avLst/>
          </a:prstGeom>
          <a:solidFill>
            <a:srgbClr val="F7F8F9"/>
          </a:solidFill>
          <a:ln w="6350">
            <a:solidFill>
              <a:srgbClr val="C8C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5800" y="4526280"/>
            <a:ext cx="1612392" cy="6400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4754880"/>
            <a:ext cx="1283208" cy="1005840"/>
          </a:xfrm>
          <a:prstGeom prst="rect">
            <a:avLst/>
          </a:prstGeom>
          <a:noFill/>
        </p:spPr>
        <p:txBody>
          <a:bodyPr wrap="square" anchor="t" lIns="0" rIns="0" tIns="0" bIns="0">
            <a:spAutoFit/>
          </a:bodyPr>
          <a:lstStyle/>
          <a:p>
            <a:pPr algn="l">
              <a:spcAft>
                <a:spcPts val="400"/>
              </a:spcAft>
            </a:pPr>
            <a:r>
              <a:rPr sz="1100" b="1" i="0">
                <a:solidFill>
                  <a:srgbClr val="A9AEB5"/>
                </a:solidFill>
                <a:latin typeface="Arial"/>
              </a:rPr>
              <a:t>01</a:t>
            </a:r>
          </a:p>
          <a:p>
            <a:pPr algn="l">
              <a:lnSpc>
                <a:spcPct val="110000"/>
              </a:lnSpc>
            </a:pPr>
            <a:r>
              <a:rPr sz="1150" b="1" i="0">
                <a:solidFill>
                  <a:srgbClr val="1A1A1C"/>
                </a:solidFill>
                <a:latin typeface="Arial"/>
              </a:rPr>
              <a:t>Exterior Design</a:t>
            </a:r>
          </a:p>
        </p:txBody>
      </p:sp>
      <p:sp>
        <p:nvSpPr>
          <p:cNvPr id="21" name="Rectangle 20"/>
          <p:cNvSpPr/>
          <p:nvPr/>
        </p:nvSpPr>
        <p:spPr>
          <a:xfrm>
            <a:off x="2526792" y="4526280"/>
            <a:ext cx="1612392" cy="1280160"/>
          </a:xfrm>
          <a:prstGeom prst="rect">
            <a:avLst/>
          </a:prstGeom>
          <a:solidFill>
            <a:srgbClr val="F7F8F9"/>
          </a:solidFill>
          <a:ln w="6350">
            <a:solidFill>
              <a:srgbClr val="C8C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526792" y="4526280"/>
            <a:ext cx="1612392" cy="6400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691384" y="4754880"/>
            <a:ext cx="1283208" cy="1005840"/>
          </a:xfrm>
          <a:prstGeom prst="rect">
            <a:avLst/>
          </a:prstGeom>
          <a:noFill/>
        </p:spPr>
        <p:txBody>
          <a:bodyPr wrap="square" anchor="t" lIns="0" rIns="0" tIns="0" bIns="0">
            <a:spAutoFit/>
          </a:bodyPr>
          <a:lstStyle/>
          <a:p>
            <a:pPr algn="l">
              <a:spcAft>
                <a:spcPts val="400"/>
              </a:spcAft>
            </a:pPr>
            <a:r>
              <a:rPr sz="1100" b="1" i="0">
                <a:solidFill>
                  <a:srgbClr val="A9AEB5"/>
                </a:solidFill>
                <a:latin typeface="Arial"/>
              </a:rPr>
              <a:t>02</a:t>
            </a:r>
          </a:p>
          <a:p>
            <a:pPr algn="l">
              <a:lnSpc>
                <a:spcPct val="110000"/>
              </a:lnSpc>
            </a:pPr>
            <a:r>
              <a:rPr sz="1150" b="1" i="0">
                <a:solidFill>
                  <a:srgbClr val="1A1A1C"/>
                </a:solidFill>
                <a:latin typeface="Arial"/>
              </a:rPr>
              <a:t>Interior Design</a:t>
            </a:r>
          </a:p>
        </p:txBody>
      </p:sp>
      <p:sp>
        <p:nvSpPr>
          <p:cNvPr id="24" name="Rectangle 23"/>
          <p:cNvSpPr/>
          <p:nvPr/>
        </p:nvSpPr>
        <p:spPr>
          <a:xfrm>
            <a:off x="4367784" y="4526280"/>
            <a:ext cx="1612392" cy="1280160"/>
          </a:xfrm>
          <a:prstGeom prst="rect">
            <a:avLst/>
          </a:prstGeom>
          <a:solidFill>
            <a:srgbClr val="F7F8F9"/>
          </a:solidFill>
          <a:ln w="6350">
            <a:solidFill>
              <a:srgbClr val="C8C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67784" y="4526280"/>
            <a:ext cx="1612392" cy="6400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32376" y="4754880"/>
            <a:ext cx="1283208" cy="1005840"/>
          </a:xfrm>
          <a:prstGeom prst="rect">
            <a:avLst/>
          </a:prstGeom>
          <a:noFill/>
        </p:spPr>
        <p:txBody>
          <a:bodyPr wrap="square" anchor="t" lIns="0" rIns="0" tIns="0" bIns="0">
            <a:spAutoFit/>
          </a:bodyPr>
          <a:lstStyle/>
          <a:p>
            <a:pPr algn="l">
              <a:spcAft>
                <a:spcPts val="400"/>
              </a:spcAft>
            </a:pPr>
            <a:r>
              <a:rPr sz="1100" b="1" i="0">
                <a:solidFill>
                  <a:srgbClr val="A9AEB5"/>
                </a:solidFill>
                <a:latin typeface="Arial"/>
              </a:rPr>
              <a:t>03</a:t>
            </a:r>
          </a:p>
          <a:p>
            <a:pPr algn="l">
              <a:lnSpc>
                <a:spcPct val="110000"/>
              </a:lnSpc>
            </a:pPr>
            <a:r>
              <a:rPr sz="1150" b="1" i="0">
                <a:solidFill>
                  <a:srgbClr val="1A1A1C"/>
                </a:solidFill>
                <a:latin typeface="Arial"/>
              </a:rPr>
              <a:t>CMF</a:t>
            </a:r>
          </a:p>
        </p:txBody>
      </p:sp>
      <p:sp>
        <p:nvSpPr>
          <p:cNvPr id="27" name="Rectangle 26"/>
          <p:cNvSpPr/>
          <p:nvPr/>
        </p:nvSpPr>
        <p:spPr>
          <a:xfrm>
            <a:off x="6208776" y="4526280"/>
            <a:ext cx="1612392" cy="1280160"/>
          </a:xfrm>
          <a:prstGeom prst="rect">
            <a:avLst/>
          </a:prstGeom>
          <a:solidFill>
            <a:srgbClr val="F7F8F9"/>
          </a:solidFill>
          <a:ln w="6350">
            <a:solidFill>
              <a:srgbClr val="C8C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08776" y="4526280"/>
            <a:ext cx="1612392" cy="6400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73368" y="4754880"/>
            <a:ext cx="1283208" cy="1005840"/>
          </a:xfrm>
          <a:prstGeom prst="rect">
            <a:avLst/>
          </a:prstGeom>
          <a:noFill/>
        </p:spPr>
        <p:txBody>
          <a:bodyPr wrap="square" anchor="t" lIns="0" rIns="0" tIns="0" bIns="0">
            <a:spAutoFit/>
          </a:bodyPr>
          <a:lstStyle/>
          <a:p>
            <a:pPr algn="l">
              <a:spcAft>
                <a:spcPts val="400"/>
              </a:spcAft>
            </a:pPr>
            <a:r>
              <a:rPr sz="1100" b="1" i="0">
                <a:solidFill>
                  <a:srgbClr val="A9AEB5"/>
                </a:solidFill>
                <a:latin typeface="Arial"/>
              </a:rPr>
              <a:t>04</a:t>
            </a:r>
          </a:p>
          <a:p>
            <a:pPr algn="l">
              <a:lnSpc>
                <a:spcPct val="110000"/>
              </a:lnSpc>
            </a:pPr>
            <a:r>
              <a:rPr sz="1150" b="1" i="0">
                <a:solidFill>
                  <a:srgbClr val="1A1A1C"/>
                </a:solidFill>
                <a:latin typeface="Arial"/>
              </a:rPr>
              <a:t>Lighting</a:t>
            </a:r>
          </a:p>
        </p:txBody>
      </p:sp>
      <p:sp>
        <p:nvSpPr>
          <p:cNvPr id="30" name="Rectangle 29"/>
          <p:cNvSpPr/>
          <p:nvPr/>
        </p:nvSpPr>
        <p:spPr>
          <a:xfrm>
            <a:off x="8049768" y="4526280"/>
            <a:ext cx="1612392" cy="1280160"/>
          </a:xfrm>
          <a:prstGeom prst="rect">
            <a:avLst/>
          </a:prstGeom>
          <a:solidFill>
            <a:srgbClr val="F7F8F9"/>
          </a:solidFill>
          <a:ln w="6350">
            <a:solidFill>
              <a:srgbClr val="C8C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49768" y="4526280"/>
            <a:ext cx="1612392" cy="6400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14360" y="4754880"/>
            <a:ext cx="1283208" cy="1005840"/>
          </a:xfrm>
          <a:prstGeom prst="rect">
            <a:avLst/>
          </a:prstGeom>
          <a:noFill/>
        </p:spPr>
        <p:txBody>
          <a:bodyPr wrap="square" anchor="t" lIns="0" rIns="0" tIns="0" bIns="0">
            <a:spAutoFit/>
          </a:bodyPr>
          <a:lstStyle/>
          <a:p>
            <a:pPr algn="l">
              <a:spcAft>
                <a:spcPts val="400"/>
              </a:spcAft>
            </a:pPr>
            <a:r>
              <a:rPr sz="1100" b="1" i="0">
                <a:solidFill>
                  <a:srgbClr val="A9AEB5"/>
                </a:solidFill>
                <a:latin typeface="Arial"/>
              </a:rPr>
              <a:t>05</a:t>
            </a:r>
          </a:p>
          <a:p>
            <a:pPr algn="l">
              <a:lnSpc>
                <a:spcPct val="110000"/>
              </a:lnSpc>
            </a:pPr>
            <a:r>
              <a:rPr sz="1150" b="1" i="0">
                <a:solidFill>
                  <a:srgbClr val="1A1A1C"/>
                </a:solidFill>
                <a:latin typeface="Arial"/>
              </a:rPr>
              <a:t>Digital Experience</a:t>
            </a:r>
          </a:p>
        </p:txBody>
      </p:sp>
      <p:sp>
        <p:nvSpPr>
          <p:cNvPr id="33" name="Rectangle 32"/>
          <p:cNvSpPr/>
          <p:nvPr/>
        </p:nvSpPr>
        <p:spPr>
          <a:xfrm>
            <a:off x="9890760" y="4526280"/>
            <a:ext cx="1612392" cy="1280160"/>
          </a:xfrm>
          <a:prstGeom prst="rect">
            <a:avLst/>
          </a:prstGeom>
          <a:solidFill>
            <a:srgbClr val="F7F8F9"/>
          </a:solidFill>
          <a:ln w="6350">
            <a:solidFill>
              <a:srgbClr val="C8C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890760" y="4526280"/>
            <a:ext cx="1612392" cy="6400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55352" y="4754880"/>
            <a:ext cx="1283208" cy="1005840"/>
          </a:xfrm>
          <a:prstGeom prst="rect">
            <a:avLst/>
          </a:prstGeom>
          <a:noFill/>
        </p:spPr>
        <p:txBody>
          <a:bodyPr wrap="square" anchor="t" lIns="0" rIns="0" tIns="0" bIns="0">
            <a:spAutoFit/>
          </a:bodyPr>
          <a:lstStyle/>
          <a:p>
            <a:pPr algn="l">
              <a:spcAft>
                <a:spcPts val="400"/>
              </a:spcAft>
            </a:pPr>
            <a:r>
              <a:rPr sz="1100" b="1" i="0">
                <a:solidFill>
                  <a:srgbClr val="A9AEB5"/>
                </a:solidFill>
                <a:latin typeface="Arial"/>
              </a:rPr>
              <a:t>06</a:t>
            </a:r>
          </a:p>
          <a:p>
            <a:pPr algn="l">
              <a:lnSpc>
                <a:spcPct val="110000"/>
              </a:lnSpc>
            </a:pPr>
            <a:r>
              <a:rPr sz="1150" b="1" i="0">
                <a:solidFill>
                  <a:srgbClr val="1A1A1C"/>
                </a:solidFill>
                <a:latin typeface="Arial"/>
              </a:rPr>
              <a:t>AI-enabled Design</a:t>
            </a:r>
          </a:p>
        </p:txBody>
      </p:sp>
      <p:sp>
        <p:nvSpPr>
          <p:cNvPr id="36" name="TextBox 35"/>
          <p:cNvSpPr txBox="1"/>
          <p:nvPr/>
        </p:nvSpPr>
        <p:spPr>
          <a:xfrm>
            <a:off x="640080" y="6437376"/>
            <a:ext cx="7315200" cy="274320"/>
          </a:xfrm>
          <a:prstGeom prst="rect">
            <a:avLst/>
          </a:prstGeom>
          <a:noFill/>
        </p:spPr>
        <p:txBody>
          <a:bodyPr wrap="square" anchor="t" lIns="0" rIns="0" tIns="0" bIns="0">
            <a:spAutoFit/>
          </a:bodyPr>
          <a:lstStyle/>
          <a:p>
            <a:pPr algn="l"/>
            <a:r>
              <a:rPr sz="800" b="0" i="0" spc="150">
                <a:solidFill>
                  <a:srgbClr val="868B94"/>
                </a:solidFill>
                <a:latin typeface="Arial"/>
              </a:rPr>
              <a:t>CHRYSLER  ·  BRAND DESIGN VISION</a:t>
            </a:r>
          </a:p>
        </p:txBody>
      </p:sp>
      <p:sp>
        <p:nvSpPr>
          <p:cNvPr id="37" name="TextBox 36"/>
          <p:cNvSpPr txBox="1"/>
          <p:nvPr/>
        </p:nvSpPr>
        <p:spPr>
          <a:xfrm>
            <a:off x="10607040" y="6437376"/>
            <a:ext cx="914400" cy="274320"/>
          </a:xfrm>
          <a:prstGeom prst="rect">
            <a:avLst/>
          </a:prstGeom>
          <a:noFill/>
        </p:spPr>
        <p:txBody>
          <a:bodyPr wrap="square" anchor="t" lIns="0" rIns="0" tIns="0" bIns="0">
            <a:spAutoFit/>
          </a:bodyPr>
          <a:lstStyle/>
          <a:p>
            <a:pPr algn="r"/>
            <a:r>
              <a:rPr sz="800" b="0" i="0" spc="150">
                <a:solidFill>
                  <a:srgbClr val="868B94"/>
                </a:solidFill>
                <a:latin typeface="Arial"/>
              </a:rPr>
              <a:t>19</a:t>
            </a:r>
          </a:p>
        </p:txBody>
      </p:sp>
      <p:sp>
        <p:nvSpPr>
          <p:cNvPr id="38" name="TextBox 37"/>
          <p:cNvSpPr txBox="1"/>
          <p:nvPr/>
        </p:nvSpPr>
        <p:spPr>
          <a:xfrm>
            <a:off x="10424160" y="310896"/>
            <a:ext cx="1097280" cy="274320"/>
          </a:xfrm>
          <a:prstGeom prst="rect">
            <a:avLst/>
          </a:prstGeom>
          <a:noFill/>
        </p:spPr>
        <p:txBody>
          <a:bodyPr wrap="square" anchor="t" lIns="0" rIns="0" tIns="0" bIns="0">
            <a:spAutoFit/>
          </a:bodyPr>
          <a:lstStyle/>
          <a:p>
            <a:pPr algn="r"/>
            <a:r>
              <a:rPr sz="750" b="0" i="0" spc="200">
                <a:solidFill>
                  <a:srgbClr val="C8CCD2"/>
                </a:solidFill>
                <a:latin typeface="Arial"/>
              </a:rPr>
              <a:t>CONFIDENTIAL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01752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0" y="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953951" y="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2191695" y="0"/>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0" y="301752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0" y="277977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11953951" y="3017520"/>
            <a:ext cx="237744" cy="0"/>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2191695" y="2779776"/>
            <a:ext cx="0" cy="237744"/>
          </a:xfrm>
          <a:prstGeom prst="bentConnector3">
            <a:avLst/>
          </a:prstGeom>
          <a:ln w="15875">
            <a:solidFill>
              <a:srgbClr val="A9AEB5"/>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0" y="1307592"/>
            <a:ext cx="12191695" cy="365760"/>
          </a:xfrm>
          <a:prstGeom prst="rect">
            <a:avLst/>
          </a:prstGeom>
          <a:noFill/>
        </p:spPr>
        <p:txBody>
          <a:bodyPr wrap="square" anchor="t" lIns="0" rIns="0" tIns="0" bIns="0">
            <a:spAutoFit/>
          </a:bodyPr>
          <a:lstStyle/>
          <a:p>
            <a:pPr algn="ctr"/>
            <a:r>
              <a:rPr sz="1050" b="1" i="0" spc="200">
                <a:solidFill>
                  <a:srgbClr val="868B94"/>
                </a:solidFill>
                <a:latin typeface="Arial"/>
              </a:rPr>
              <a:t>CLOSING HERO IMAGE</a:t>
            </a:r>
          </a:p>
        </p:txBody>
      </p:sp>
      <p:sp>
        <p:nvSpPr>
          <p:cNvPr id="12" name="TextBox 11"/>
          <p:cNvSpPr txBox="1"/>
          <p:nvPr/>
        </p:nvSpPr>
        <p:spPr>
          <a:xfrm>
            <a:off x="0" y="1581912"/>
            <a:ext cx="12191695" cy="274320"/>
          </a:xfrm>
          <a:prstGeom prst="rect">
            <a:avLst/>
          </a:prstGeom>
          <a:noFill/>
        </p:spPr>
        <p:txBody>
          <a:bodyPr wrap="square" anchor="t" lIns="0" rIns="0" tIns="0" bIns="0">
            <a:spAutoFit/>
          </a:bodyPr>
          <a:lstStyle/>
          <a:p>
            <a:pPr algn="ctr"/>
            <a:r>
              <a:rPr sz="800" b="0" i="0" spc="80">
                <a:solidFill>
                  <a:srgbClr val="C8CCD2"/>
                </a:solidFill>
                <a:latin typeface="Arial"/>
              </a:rPr>
              <a:t>Replace · aspirational closing visual</a:t>
            </a:r>
          </a:p>
        </p:txBody>
      </p:sp>
      <p:sp>
        <p:nvSpPr>
          <p:cNvPr id="13" name="TextBox 12"/>
          <p:cNvSpPr txBox="1"/>
          <p:nvPr/>
        </p:nvSpPr>
        <p:spPr>
          <a:xfrm>
            <a:off x="685800" y="3291840"/>
            <a:ext cx="7315200" cy="274320"/>
          </a:xfrm>
          <a:prstGeom prst="rect">
            <a:avLst/>
          </a:prstGeom>
          <a:noFill/>
        </p:spPr>
        <p:txBody>
          <a:bodyPr wrap="square" anchor="t" lIns="0" rIns="0" tIns="0" bIns="0">
            <a:spAutoFit/>
          </a:bodyPr>
          <a:lstStyle/>
          <a:p>
            <a:pPr algn="l"/>
            <a:r>
              <a:rPr sz="1100" b="1" i="0" spc="300">
                <a:solidFill>
                  <a:srgbClr val="1B2A4A"/>
                </a:solidFill>
                <a:latin typeface="Arial"/>
              </a:rPr>
              <a:t>IN CLOSING</a:t>
            </a:r>
          </a:p>
        </p:txBody>
      </p:sp>
      <p:sp>
        <p:nvSpPr>
          <p:cNvPr id="14" name="TextBox 13"/>
          <p:cNvSpPr txBox="1"/>
          <p:nvPr/>
        </p:nvSpPr>
        <p:spPr>
          <a:xfrm>
            <a:off x="658368" y="3611880"/>
            <a:ext cx="10058400" cy="548640"/>
          </a:xfrm>
          <a:prstGeom prst="rect">
            <a:avLst/>
          </a:prstGeom>
          <a:noFill/>
        </p:spPr>
        <p:txBody>
          <a:bodyPr wrap="square" anchor="t" lIns="0" rIns="0" tIns="0" bIns="0">
            <a:spAutoFit/>
          </a:bodyPr>
          <a:lstStyle/>
          <a:p>
            <a:pPr algn="l"/>
            <a:r>
              <a:rPr sz="3000" b="1" i="0">
                <a:solidFill>
                  <a:srgbClr val="1A1A1C"/>
                </a:solidFill>
                <a:latin typeface="Arial"/>
              </a:rPr>
              <a:t>The Future of Chrysler</a:t>
            </a:r>
          </a:p>
        </p:txBody>
      </p:sp>
      <p:sp>
        <p:nvSpPr>
          <p:cNvPr id="15" name="TextBox 14"/>
          <p:cNvSpPr txBox="1"/>
          <p:nvPr/>
        </p:nvSpPr>
        <p:spPr>
          <a:xfrm>
            <a:off x="685800" y="4114800"/>
            <a:ext cx="10817352" cy="457200"/>
          </a:xfrm>
          <a:prstGeom prst="rect">
            <a:avLst/>
          </a:prstGeom>
          <a:noFill/>
        </p:spPr>
        <p:txBody>
          <a:bodyPr wrap="square" anchor="t" lIns="0" rIns="0" tIns="0" bIns="0">
            <a:spAutoFit/>
          </a:bodyPr>
          <a:lstStyle/>
          <a:p>
            <a:pPr algn="l">
              <a:lnSpc>
                <a:spcPct val="120000"/>
              </a:lnSpc>
            </a:pPr>
            <a:r>
              <a:rPr sz="1300" b="0" i="1">
                <a:solidFill>
                  <a:srgbClr val="4A4E57"/>
                </a:solidFill>
                <a:latin typeface="Arial"/>
              </a:rPr>
              <a:t>When every decision begins with people, thoughtful design becomes effortless living — that is the future of Chrysler.</a:t>
            </a:r>
          </a:p>
        </p:txBody>
      </p:sp>
      <p:sp>
        <p:nvSpPr>
          <p:cNvPr id="16" name="TextBox 15"/>
          <p:cNvSpPr txBox="1"/>
          <p:nvPr/>
        </p:nvSpPr>
        <p:spPr>
          <a:xfrm>
            <a:off x="685800" y="4572000"/>
            <a:ext cx="3361944" cy="640080"/>
          </a:xfrm>
          <a:prstGeom prst="rect">
            <a:avLst/>
          </a:prstGeom>
          <a:noFill/>
        </p:spPr>
        <p:txBody>
          <a:bodyPr wrap="square" anchor="t" lIns="0" rIns="0" tIns="0" bIns="0">
            <a:spAutoFit/>
          </a:bodyPr>
          <a:lstStyle/>
          <a:p>
            <a:pPr algn="l"/>
            <a:r>
              <a:rPr sz="3000" b="1" i="0">
                <a:solidFill>
                  <a:srgbClr val="A9AEB5"/>
                </a:solidFill>
                <a:latin typeface="Arial"/>
              </a:rPr>
              <a:t>01</a:t>
            </a:r>
          </a:p>
        </p:txBody>
      </p:sp>
      <p:cxnSp>
        <p:nvCxnSpPr>
          <p:cNvPr id="17" name="Connector 16"/>
          <p:cNvCxnSpPr/>
          <p:nvPr/>
        </p:nvCxnSpPr>
        <p:spPr>
          <a:xfrm>
            <a:off x="685800" y="5212080"/>
            <a:ext cx="3361944" cy="0"/>
          </a:xfrm>
          <a:prstGeom prst="bentConnector3">
            <a:avLst/>
          </a:prstGeom>
          <a:ln w="12700">
            <a:solidFill>
              <a:srgbClr val="C8CCD2"/>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5800" y="5349240"/>
            <a:ext cx="3361944" cy="1097280"/>
          </a:xfrm>
          <a:prstGeom prst="rect">
            <a:avLst/>
          </a:prstGeom>
          <a:noFill/>
        </p:spPr>
        <p:txBody>
          <a:bodyPr wrap="square" anchor="t" lIns="0" rIns="0" tIns="0" bIns="0">
            <a:spAutoFit/>
          </a:bodyPr>
          <a:lstStyle/>
          <a:p>
            <a:pPr algn="l">
              <a:spcAft>
                <a:spcPts val="500"/>
              </a:spcAft>
            </a:pPr>
            <a:r>
              <a:rPr sz="1600" b="1" i="0">
                <a:solidFill>
                  <a:srgbClr val="1A1A1C"/>
                </a:solidFill>
                <a:latin typeface="Arial"/>
              </a:rPr>
              <a:t>Designed Around People</a:t>
            </a:r>
          </a:p>
          <a:p>
            <a:pPr algn="l">
              <a:lnSpc>
                <a:spcPct val="125000"/>
              </a:lnSpc>
            </a:pPr>
            <a:r>
              <a:rPr sz="1150" b="0" i="0">
                <a:solidFill>
                  <a:srgbClr val="4A4E57"/>
                </a:solidFill>
                <a:latin typeface="Arial"/>
              </a:rPr>
              <a:t>Every decision begins with the people who use it.</a:t>
            </a:r>
          </a:p>
        </p:txBody>
      </p:sp>
      <p:sp>
        <p:nvSpPr>
          <p:cNvPr id="19" name="TextBox 18"/>
          <p:cNvSpPr txBox="1"/>
          <p:nvPr/>
        </p:nvSpPr>
        <p:spPr>
          <a:xfrm>
            <a:off x="4413504" y="4572000"/>
            <a:ext cx="3361944" cy="640080"/>
          </a:xfrm>
          <a:prstGeom prst="rect">
            <a:avLst/>
          </a:prstGeom>
          <a:noFill/>
        </p:spPr>
        <p:txBody>
          <a:bodyPr wrap="square" anchor="t" lIns="0" rIns="0" tIns="0" bIns="0">
            <a:spAutoFit/>
          </a:bodyPr>
          <a:lstStyle/>
          <a:p>
            <a:pPr algn="l"/>
            <a:r>
              <a:rPr sz="3000" b="1" i="0">
                <a:solidFill>
                  <a:srgbClr val="A9AEB5"/>
                </a:solidFill>
                <a:latin typeface="Arial"/>
              </a:rPr>
              <a:t>02</a:t>
            </a:r>
          </a:p>
        </p:txBody>
      </p:sp>
      <p:cxnSp>
        <p:nvCxnSpPr>
          <p:cNvPr id="20" name="Connector 19"/>
          <p:cNvCxnSpPr/>
          <p:nvPr/>
        </p:nvCxnSpPr>
        <p:spPr>
          <a:xfrm>
            <a:off x="4413504" y="5212080"/>
            <a:ext cx="3361944" cy="0"/>
          </a:xfrm>
          <a:prstGeom prst="bentConnector3">
            <a:avLst/>
          </a:prstGeom>
          <a:ln w="12700">
            <a:solidFill>
              <a:srgbClr val="C8CCD2"/>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413504" y="5349240"/>
            <a:ext cx="3361944" cy="1097280"/>
          </a:xfrm>
          <a:prstGeom prst="rect">
            <a:avLst/>
          </a:prstGeom>
          <a:noFill/>
        </p:spPr>
        <p:txBody>
          <a:bodyPr wrap="square" anchor="t" lIns="0" rIns="0" tIns="0" bIns="0">
            <a:spAutoFit/>
          </a:bodyPr>
          <a:lstStyle/>
          <a:p>
            <a:pPr algn="l">
              <a:spcAft>
                <a:spcPts val="500"/>
              </a:spcAft>
            </a:pPr>
            <a:r>
              <a:rPr sz="1600" b="1" i="0">
                <a:solidFill>
                  <a:srgbClr val="1A1A1C"/>
                </a:solidFill>
                <a:latin typeface="Arial"/>
              </a:rPr>
              <a:t>Removing Everyday Friction</a:t>
            </a:r>
          </a:p>
          <a:p>
            <a:pPr algn="l">
              <a:lnSpc>
                <a:spcPct val="125000"/>
              </a:lnSpc>
            </a:pPr>
            <a:r>
              <a:rPr sz="1150" b="0" i="0">
                <a:solidFill>
                  <a:srgbClr val="4A4E57"/>
                </a:solidFill>
                <a:latin typeface="Arial"/>
              </a:rPr>
              <a:t>Thoughtful design that makes life effortless.</a:t>
            </a:r>
          </a:p>
        </p:txBody>
      </p:sp>
      <p:sp>
        <p:nvSpPr>
          <p:cNvPr id="22" name="TextBox 21"/>
          <p:cNvSpPr txBox="1"/>
          <p:nvPr/>
        </p:nvSpPr>
        <p:spPr>
          <a:xfrm>
            <a:off x="8141208" y="4572000"/>
            <a:ext cx="3361944" cy="640080"/>
          </a:xfrm>
          <a:prstGeom prst="rect">
            <a:avLst/>
          </a:prstGeom>
          <a:noFill/>
        </p:spPr>
        <p:txBody>
          <a:bodyPr wrap="square" anchor="t" lIns="0" rIns="0" tIns="0" bIns="0">
            <a:spAutoFit/>
          </a:bodyPr>
          <a:lstStyle/>
          <a:p>
            <a:pPr algn="l"/>
            <a:r>
              <a:rPr sz="3000" b="1" i="0">
                <a:solidFill>
                  <a:srgbClr val="A9AEB5"/>
                </a:solidFill>
                <a:latin typeface="Arial"/>
              </a:rPr>
              <a:t>03</a:t>
            </a:r>
          </a:p>
        </p:txBody>
      </p:sp>
      <p:cxnSp>
        <p:nvCxnSpPr>
          <p:cNvPr id="23" name="Connector 22"/>
          <p:cNvCxnSpPr/>
          <p:nvPr/>
        </p:nvCxnSpPr>
        <p:spPr>
          <a:xfrm>
            <a:off x="8141208" y="5212080"/>
            <a:ext cx="3361944" cy="0"/>
          </a:xfrm>
          <a:prstGeom prst="bentConnector3">
            <a:avLst/>
          </a:prstGeom>
          <a:ln w="12700">
            <a:solidFill>
              <a:srgbClr val="C8CCD2"/>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41208" y="5349240"/>
            <a:ext cx="3361944" cy="1097280"/>
          </a:xfrm>
          <a:prstGeom prst="rect">
            <a:avLst/>
          </a:prstGeom>
          <a:noFill/>
        </p:spPr>
        <p:txBody>
          <a:bodyPr wrap="square" anchor="t" lIns="0" rIns="0" tIns="0" bIns="0">
            <a:spAutoFit/>
          </a:bodyPr>
          <a:lstStyle/>
          <a:p>
            <a:pPr algn="l">
              <a:spcAft>
                <a:spcPts val="500"/>
              </a:spcAft>
            </a:pPr>
            <a:r>
              <a:rPr sz="1600" b="1" i="0">
                <a:solidFill>
                  <a:srgbClr val="1A1A1C"/>
                </a:solidFill>
                <a:latin typeface="Arial"/>
              </a:rPr>
              <a:t>Modern American Design</a:t>
            </a:r>
          </a:p>
          <a:p>
            <a:pPr algn="l">
              <a:lnSpc>
                <a:spcPct val="125000"/>
              </a:lnSpc>
            </a:pPr>
            <a:r>
              <a:rPr sz="1150" b="0" i="0">
                <a:solidFill>
                  <a:srgbClr val="4A4E57"/>
                </a:solidFill>
                <a:latin typeface="Arial"/>
              </a:rPr>
              <a:t>Confident, optimistic, unmistakably Chrysler.</a:t>
            </a:r>
          </a:p>
        </p:txBody>
      </p:sp>
      <p:sp>
        <p:nvSpPr>
          <p:cNvPr id="25" name="TextBox 24"/>
          <p:cNvSpPr txBox="1"/>
          <p:nvPr/>
        </p:nvSpPr>
        <p:spPr>
          <a:xfrm>
            <a:off x="640080" y="6437376"/>
            <a:ext cx="7315200" cy="274320"/>
          </a:xfrm>
          <a:prstGeom prst="rect">
            <a:avLst/>
          </a:prstGeom>
          <a:noFill/>
        </p:spPr>
        <p:txBody>
          <a:bodyPr wrap="square" anchor="t" lIns="0" rIns="0" tIns="0" bIns="0">
            <a:spAutoFit/>
          </a:bodyPr>
          <a:lstStyle/>
          <a:p>
            <a:pPr algn="l"/>
            <a:r>
              <a:rPr sz="800" b="0" i="0" spc="150">
                <a:solidFill>
                  <a:srgbClr val="868B94"/>
                </a:solidFill>
                <a:latin typeface="Arial"/>
              </a:rPr>
              <a:t>CHRYSLER  ·  BRAND DESIGN VISION</a:t>
            </a:r>
          </a:p>
        </p:txBody>
      </p:sp>
      <p:sp>
        <p:nvSpPr>
          <p:cNvPr id="26" name="TextBox 25"/>
          <p:cNvSpPr txBox="1"/>
          <p:nvPr/>
        </p:nvSpPr>
        <p:spPr>
          <a:xfrm>
            <a:off x="10607040" y="6437376"/>
            <a:ext cx="914400" cy="274320"/>
          </a:xfrm>
          <a:prstGeom prst="rect">
            <a:avLst/>
          </a:prstGeom>
          <a:noFill/>
        </p:spPr>
        <p:txBody>
          <a:bodyPr wrap="square" anchor="t" lIns="0" rIns="0" tIns="0" bIns="0">
            <a:spAutoFit/>
          </a:bodyPr>
          <a:lstStyle/>
          <a:p>
            <a:pPr algn="r"/>
            <a:r>
              <a:rPr sz="800" b="0" i="0" spc="150">
                <a:solidFill>
                  <a:srgbClr val="868B94"/>
                </a:solidFill>
                <a:latin typeface="Arial"/>
              </a:rPr>
              <a:t>20</a:t>
            </a:r>
          </a:p>
        </p:txBody>
      </p:sp>
      <p:sp>
        <p:nvSpPr>
          <p:cNvPr id="27" name="TextBox 26"/>
          <p:cNvSpPr txBox="1"/>
          <p:nvPr/>
        </p:nvSpPr>
        <p:spPr>
          <a:xfrm>
            <a:off x="10424160" y="310896"/>
            <a:ext cx="1097280" cy="274320"/>
          </a:xfrm>
          <a:prstGeom prst="rect">
            <a:avLst/>
          </a:prstGeom>
          <a:noFill/>
        </p:spPr>
        <p:txBody>
          <a:bodyPr wrap="square" anchor="t" lIns="0" rIns="0" tIns="0" bIns="0">
            <a:spAutoFit/>
          </a:bodyPr>
          <a:lstStyle/>
          <a:p>
            <a:pPr algn="r"/>
            <a:r>
              <a:rPr sz="750" b="0" i="0" spc="200">
                <a:solidFill>
                  <a:srgbClr val="C8CCD2"/>
                </a:solidFill>
                <a:latin typeface="Arial"/>
              </a:rPr>
              <a:t>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