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Open with the brand ambition. One sentence on why this vision matters now. Set the tone — design-led, premium, confident.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Three pillars frame the whole story. Keep to one line each. These recur as the spine of the narrative.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Land the vision in one quote. The three pillars echo slide 2. Let the supporting visual carry the emotion.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Position the dual nature of the brand — rational engineering credibility meeting emotional design. Walk the board left to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Define the DNA that every Chrysler shares. Keep principles tight and ownable. The graphic should make the language tangible.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Reveal the full family at once — the scale of the vision. Image placeholders only; no specs.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Pacifica: lead with emotion, then the three strategic bullets. Let the exterior image dominate.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Pacifica Interior: one immersive rendering, one short caption. Speak to the experience, not the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300 Concept: lead with emotion, then the three strategic bullets. Let the exterior image dominate.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300 Interior: one immersive rendering, one short caption. Speak to the experience, not the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Airflow: lead with emotion, then the three strategic bullets. Let the exterior image dominate.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Airflow Interior: one immersive rendering, one short caption. Speak to the experience, not the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Arrow: lead with emotion, then the three strategic bullets. Let the exterior image dominate.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Arrow Interior: one immersive rendering, one short caption. Speak to the experience, not the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Arrow Cross: lead with emotion, then the three strategic bullets. Let the exterior image dominate.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Arrow Cross Interior: one immersive rendering, one short caption. Speak to the experience, not the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Show where Chrysler sits and how it stays distinct. Replace BRAND A–D with the relevant Stellantis siblings. Emphasize white space Chrysler owns.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Paint the experience Chrysler will deliver. Six themes — swap ICON boxes for final iconography. Keep words minimal.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Show breadth of design capability across six domains. The infographic ties them into one system. Replace nodes as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(placeholder) — Close on three memorable messages that map to the three pillars. End on the hero image and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1953951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2191695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0" y="68580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0" y="66202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1953951" y="68580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2191695" y="66202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839815" y="29535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52469" y="30559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>
            <a:off x="5993434" y="31788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0" y="3557016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FULL-WIDTH HERO VEHICLE IMAGE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0" y="3831336"/>
            <a:ext cx="12191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cinematic full-bleed key visual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4297680"/>
            <a:ext cx="7498079" cy="256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777240" y="4709160"/>
            <a:ext cx="1828800" cy="0"/>
          </a:xfrm>
          <a:prstGeom prst="bentConnector3">
            <a:avLst/>
          </a:prstGeom>
          <a:ln w="19050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Diamond 17"/>
          <p:cNvSpPr/>
          <p:nvPr/>
        </p:nvSpPr>
        <p:spPr>
          <a:xfrm>
            <a:off x="1627632" y="4645152"/>
            <a:ext cx="128016" cy="128016"/>
          </a:xfrm>
          <a:prstGeom prst="diamond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8920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STELLANTIS · CHRYSLER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212080"/>
            <a:ext cx="6400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1A1A1C"/>
                </a:solidFill>
                <a:latin typeface="Arial"/>
              </a:rPr>
              <a:t>Chrysler Design Vision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080760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4A4E57"/>
                </a:solidFill>
                <a:latin typeface="Arial"/>
              </a:rPr>
              <a:t>The Future of Chrysler Design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EXECUTIVE 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A1A1C"/>
                </a:solidFill>
                <a:latin typeface="Arial"/>
              </a:rPr>
              <a:t>Why Chrysler?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20240"/>
            <a:ext cx="10817352" cy="109728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92024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1">
                <a:solidFill>
                  <a:srgbClr val="4A4E57"/>
                </a:solidFill>
                <a:latin typeface="Arial"/>
              </a:rPr>
              <a:t>Chrysler makes everyday life effortless — design that removes friction and puts people first.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3611880"/>
            <a:ext cx="566928" cy="566928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86968" y="3813048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685800" y="4434840"/>
            <a:ext cx="3361944" cy="0"/>
          </a:xfrm>
          <a:prstGeom prst="bentConnector3">
            <a:avLst/>
          </a:prstGeom>
          <a:ln w="12700">
            <a:solidFill>
              <a:srgbClr val="C8C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4572000"/>
            <a:ext cx="336194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 spc="200">
                <a:solidFill>
                  <a:srgbClr val="A9AEB5"/>
                </a:solidFill>
                <a:latin typeface="Arial"/>
              </a:rPr>
              <a:t>01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1A1A1C"/>
                </a:solidFill>
                <a:latin typeface="Arial"/>
              </a:rPr>
              <a:t>Modern American Design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868B94"/>
                </a:solidFill>
                <a:latin typeface="Arial"/>
              </a:rPr>
              <a:t>Optimistic, human, unmistakably Chrysler.</a:t>
            </a:r>
          </a:p>
        </p:txBody>
      </p:sp>
      <p:sp>
        <p:nvSpPr>
          <p:cNvPr id="10" name="Oval 9"/>
          <p:cNvSpPr/>
          <p:nvPr/>
        </p:nvSpPr>
        <p:spPr>
          <a:xfrm>
            <a:off x="4413504" y="3611880"/>
            <a:ext cx="566928" cy="566928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14672" y="3813048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4413504" y="4434840"/>
            <a:ext cx="3361944" cy="0"/>
          </a:xfrm>
          <a:prstGeom prst="bentConnector3">
            <a:avLst/>
          </a:prstGeom>
          <a:ln w="12700">
            <a:solidFill>
              <a:srgbClr val="C8C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413504" y="4572000"/>
            <a:ext cx="336194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 spc="200">
                <a:solidFill>
                  <a:srgbClr val="A9AEB5"/>
                </a:solidFill>
                <a:latin typeface="Arial"/>
              </a:rPr>
              <a:t>02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1A1A1C"/>
                </a:solidFill>
                <a:latin typeface="Arial"/>
              </a:rPr>
              <a:t>Technology With Purpose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868B94"/>
                </a:solidFill>
                <a:latin typeface="Arial"/>
              </a:rPr>
              <a:t>Intelligence that disappears into the experience.</a:t>
            </a:r>
          </a:p>
        </p:txBody>
      </p:sp>
      <p:sp>
        <p:nvSpPr>
          <p:cNvPr id="14" name="Oval 13"/>
          <p:cNvSpPr/>
          <p:nvPr/>
        </p:nvSpPr>
        <p:spPr>
          <a:xfrm>
            <a:off x="8141208" y="3611880"/>
            <a:ext cx="566928" cy="566928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42376" y="3813048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8141208" y="4434840"/>
            <a:ext cx="3361944" cy="0"/>
          </a:xfrm>
          <a:prstGeom prst="bentConnector3">
            <a:avLst/>
          </a:prstGeom>
          <a:ln w="12700">
            <a:solidFill>
              <a:srgbClr val="C8C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141208" y="4572000"/>
            <a:ext cx="336194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 spc="200">
                <a:solidFill>
                  <a:srgbClr val="A9AEB5"/>
                </a:solidFill>
                <a:latin typeface="Arial"/>
              </a:rPr>
              <a:t>03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1A1A1C"/>
                </a:solidFill>
                <a:latin typeface="Arial"/>
              </a:rPr>
              <a:t>Beautiful Simplicity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868B94"/>
                </a:solidFill>
                <a:latin typeface="Arial"/>
              </a:rPr>
              <a:t>Luxury as the absence of friction.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THE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1A1C"/>
                </a:solidFill>
                <a:latin typeface="Arial"/>
              </a:rPr>
              <a:t>What is the Vision of Chrysler Design?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03120"/>
            <a:ext cx="58521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 i="0">
                <a:solidFill>
                  <a:srgbClr val="C8CCD2"/>
                </a:solidFill>
                <a:latin typeface="Arial"/>
              </a:rPr>
              <a:t>“</a:t>
            </a:r>
          </a:p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1A1A1C"/>
                </a:solidFill>
                <a:latin typeface="Arial"/>
              </a:rPr>
              <a:t>Luxury is no longer ornament. It is the removal of friction from everyday life.</a:t>
            </a:r>
          </a:p>
        </p:txBody>
      </p:sp>
      <p:sp>
        <p:nvSpPr>
          <p:cNvPr id="5" name="Diamond 4"/>
          <p:cNvSpPr/>
          <p:nvPr/>
        </p:nvSpPr>
        <p:spPr>
          <a:xfrm>
            <a:off x="713232" y="4654296"/>
            <a:ext cx="146304" cy="146304"/>
          </a:xfrm>
          <a:prstGeom prst="diamond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4617720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4A4E57"/>
                </a:solidFill>
                <a:latin typeface="Arial"/>
              </a:rPr>
              <a:t>Innovative Practicality  —  design that solves real life</a:t>
            </a:r>
          </a:p>
        </p:txBody>
      </p:sp>
      <p:sp>
        <p:nvSpPr>
          <p:cNvPr id="7" name="Diamond 6"/>
          <p:cNvSpPr/>
          <p:nvPr/>
        </p:nvSpPr>
        <p:spPr>
          <a:xfrm>
            <a:off x="713232" y="5202936"/>
            <a:ext cx="146304" cy="146304"/>
          </a:xfrm>
          <a:prstGeom prst="diamond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5166360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4A4E57"/>
                </a:solidFill>
                <a:latin typeface="Arial"/>
              </a:rPr>
              <a:t>Human-Centered Technology  —  built around people, not features</a:t>
            </a:r>
          </a:p>
        </p:txBody>
      </p:sp>
      <p:sp>
        <p:nvSpPr>
          <p:cNvPr id="9" name="Diamond 8"/>
          <p:cNvSpPr/>
          <p:nvPr/>
        </p:nvSpPr>
        <p:spPr>
          <a:xfrm>
            <a:off x="713232" y="5751576"/>
            <a:ext cx="146304" cy="146304"/>
          </a:xfrm>
          <a:prstGeom prst="diamond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715000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4A4E57"/>
                </a:solidFill>
                <a:latin typeface="Arial"/>
              </a:rPr>
              <a:t>Beautiful Simplicity  —  calm, considered, effortless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2011680"/>
            <a:ext cx="4645152" cy="40233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6858000" y="2011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858000" y="201168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11265408" y="2011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1503152" y="201168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858000" y="60350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6858000" y="579729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11265408" y="60350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1503152" y="579729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924544" y="354787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037198" y="365028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Isosceles Triangle 21"/>
          <p:cNvSpPr/>
          <p:nvPr/>
        </p:nvSpPr>
        <p:spPr>
          <a:xfrm>
            <a:off x="9078163" y="377318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4151376"/>
            <a:ext cx="4645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SUPPORTING VISUAL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4425696"/>
            <a:ext cx="4645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STRATEGIC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1A1C"/>
                </a:solidFill>
                <a:latin typeface="Arial"/>
              </a:rPr>
              <a:t>Left Brain / Right Brain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4A4E57"/>
                </a:solidFill>
                <a:latin typeface="Arial"/>
              </a:rPr>
              <a:t>Updated Chrysler 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148840"/>
            <a:ext cx="5330952" cy="37947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685800" y="21488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85800" y="21488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5779008" y="21488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016752" y="21488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85800" y="59436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85800" y="57058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5779008" y="59436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6016752" y="57058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095244" y="357073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207898" y="367314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sosceles Triangle 15"/>
          <p:cNvSpPr/>
          <p:nvPr/>
        </p:nvSpPr>
        <p:spPr>
          <a:xfrm>
            <a:off x="3248863" y="379604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174236"/>
            <a:ext cx="5330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LEFT BRAIN  ·  RATIONAL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448556"/>
            <a:ext cx="5330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board imagery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2148840"/>
            <a:ext cx="5330952" cy="37947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6172200" y="21488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172200" y="21488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11265408" y="21488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503152" y="21488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172200" y="59436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6172200" y="57058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11265408" y="59436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11503152" y="57058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581644" y="357073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694298" y="367314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Isosceles Triangle 29"/>
          <p:cNvSpPr/>
          <p:nvPr/>
        </p:nvSpPr>
        <p:spPr>
          <a:xfrm>
            <a:off x="8735263" y="379604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72200" y="4174236"/>
            <a:ext cx="5330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RIGHT BRAIN  ·  EMOTIONAL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2200" y="4448556"/>
            <a:ext cx="5330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board imagery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650992" y="4023360"/>
            <a:ext cx="868680" cy="0"/>
          </a:xfrm>
          <a:prstGeom prst="bentConnector3">
            <a:avLst/>
          </a:prstGeom>
          <a:ln w="19050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Diamond 33"/>
          <p:cNvSpPr/>
          <p:nvPr/>
        </p:nvSpPr>
        <p:spPr>
          <a:xfrm>
            <a:off x="6021324" y="3959352"/>
            <a:ext cx="128016" cy="128016"/>
          </a:xfrm>
          <a:prstGeom prst="diamond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BRAND FOUNDATION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1A1C"/>
                </a:solidFill>
                <a:latin typeface="Arial"/>
              </a:rPr>
              <a:t>Chrysler Design DNA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920240"/>
            <a:ext cx="5760720" cy="40233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9202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9202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6208776" y="19202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446520" y="192024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9436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7058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6208776" y="59436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6446520" y="57058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310128" y="345643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422782" y="355884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3463747" y="368174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059936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DESIGN-DNA GRAPHIC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334256"/>
            <a:ext cx="5760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20840" y="2011680"/>
            <a:ext cx="4782312" cy="109728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20840" y="2011680"/>
            <a:ext cx="54864" cy="109728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95160" y="2212848"/>
            <a:ext cx="43251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Design Principles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Thoughtful · Logical · Precise · Purposeful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20840" y="3337560"/>
            <a:ext cx="4782312" cy="109728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720840" y="3337560"/>
            <a:ext cx="54864" cy="109728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5160" y="3538728"/>
            <a:ext cx="43251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Brand Attributes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Confident · Approachable · Effortless · Calm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20840" y="4663440"/>
            <a:ext cx="4782312" cy="109728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720840" y="4663440"/>
            <a:ext cx="54864" cy="109728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95160" y="4864608"/>
            <a:ext cx="43251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A1A1C"/>
                </a:solidFill>
                <a:latin typeface="Arial"/>
              </a:rPr>
              <a:t>Visual Language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B94"/>
                </a:solidFill>
                <a:latin typeface="Arial"/>
              </a:rPr>
              <a:t>Calm architecture · Warm materials · Human scale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THE LINEUP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1A1C"/>
                </a:solidFill>
                <a:latin typeface="Arial"/>
              </a:rPr>
              <a:t>Future Chrysler Portfolio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103120"/>
            <a:ext cx="1944014" cy="301752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2103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2103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2392070" y="2103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629814" y="2103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120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488289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2392070" y="5120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2629814" y="488289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401775" y="313639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514429" y="323880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1555394" y="336170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739896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VEHICLE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014216"/>
            <a:ext cx="1944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257800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1A1C"/>
                </a:solidFill>
                <a:latin typeface="Arial"/>
              </a:rPr>
              <a:t>Future Pacifica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04134" y="2103120"/>
            <a:ext cx="1944014" cy="301752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2904134" y="2103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904134" y="2103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610404" y="2103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848148" y="2103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904134" y="5120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2904134" y="488289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4610404" y="5120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4848148" y="488289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3620109" y="313639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732763" y="323880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Isosceles Triangle 29"/>
          <p:cNvSpPr/>
          <p:nvPr/>
        </p:nvSpPr>
        <p:spPr>
          <a:xfrm>
            <a:off x="3773728" y="336170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04134" y="3739896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VEHICLE 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04134" y="4014216"/>
            <a:ext cx="1944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04134" y="5257800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1A1C"/>
                </a:solidFill>
                <a:latin typeface="Arial"/>
              </a:rPr>
              <a:t>Airflow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22468" y="2103120"/>
            <a:ext cx="1944014" cy="301752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5122468" y="2103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122468" y="2103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6828738" y="2103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066482" y="2103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122468" y="5120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5122468" y="488289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6828738" y="5120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7066482" y="488289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5838443" y="313639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951097" y="323880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Isosceles Triangle 44"/>
          <p:cNvSpPr/>
          <p:nvPr/>
        </p:nvSpPr>
        <p:spPr>
          <a:xfrm>
            <a:off x="5992062" y="336170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22468" y="3739896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VEHICLE 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2468" y="4014216"/>
            <a:ext cx="1944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2468" y="5257800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1A1C"/>
                </a:solidFill>
                <a:latin typeface="Arial"/>
              </a:rPr>
              <a:t>Arrow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340802" y="2103120"/>
            <a:ext cx="1944014" cy="301752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7340802" y="2103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7340802" y="2103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9047072" y="2103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9284816" y="2103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340802" y="5120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7340802" y="488289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9047072" y="5120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9284816" y="488289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8056777" y="313639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8169431" y="323880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Isosceles Triangle 59"/>
          <p:cNvSpPr/>
          <p:nvPr/>
        </p:nvSpPr>
        <p:spPr>
          <a:xfrm>
            <a:off x="8210396" y="336170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340802" y="3739896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VEHICLE 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340802" y="4014216"/>
            <a:ext cx="1944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40802" y="5257800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1A1C"/>
                </a:solidFill>
                <a:latin typeface="Arial"/>
              </a:rPr>
              <a:t>Arrow Cross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559136" y="2103120"/>
            <a:ext cx="1944014" cy="301752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9559136" y="2103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9559136" y="2103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11265406" y="2103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1503150" y="2103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9559136" y="5120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9559136" y="488289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H="1">
            <a:off x="11265406" y="512064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11503150" y="488289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ounded Rectangle 72"/>
          <p:cNvSpPr/>
          <p:nvPr/>
        </p:nvSpPr>
        <p:spPr>
          <a:xfrm>
            <a:off x="10275111" y="313639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0387765" y="323880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Isosceles Triangle 74"/>
          <p:cNvSpPr/>
          <p:nvPr/>
        </p:nvSpPr>
        <p:spPr>
          <a:xfrm>
            <a:off x="10428730" y="336170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559136" y="3739896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VEHICLE 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559136" y="4014216"/>
            <a:ext cx="1944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9136" y="5257800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1A1C"/>
                </a:solidFill>
                <a:latin typeface="Arial"/>
              </a:rPr>
              <a:t>300 Concept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06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THE MODERN FAMILY VEHICLE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1A1C"/>
                </a:solidFill>
                <a:latin typeface="Arial"/>
              </a:rPr>
              <a:t>Pacifica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5120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4A4E57"/>
                </a:solidFill>
                <a:latin typeface="Arial"/>
              </a:rPr>
              <a:t>The evolution of the modern family vehicle — flexible, sophisticated, and designed around people.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3200400"/>
            <a:ext cx="457200" cy="457200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59536" y="3346704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3182112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Flexible by Design</a:t>
            </a:r>
          </a:p>
          <a:p>
            <a:pPr algn="l"/>
            <a:r>
              <a:rPr sz="1100" b="0" i="0">
                <a:solidFill>
                  <a:srgbClr val="868B94"/>
                </a:solidFill>
                <a:latin typeface="Arial"/>
              </a:rPr>
              <a:t>Space that adapts to every journey.</a:t>
            </a:r>
          </a:p>
        </p:txBody>
      </p:sp>
      <p:sp>
        <p:nvSpPr>
          <p:cNvPr id="8" name="Oval 7"/>
          <p:cNvSpPr/>
          <p:nvPr/>
        </p:nvSpPr>
        <p:spPr>
          <a:xfrm>
            <a:off x="713232" y="4069080"/>
            <a:ext cx="457200" cy="457200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9536" y="4215384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4050792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Sophisticated Comfort</a:t>
            </a:r>
          </a:p>
          <a:p>
            <a:pPr algn="l"/>
            <a:r>
              <a:rPr sz="1100" b="0" i="0">
                <a:solidFill>
                  <a:srgbClr val="868B94"/>
                </a:solidFill>
                <a:latin typeface="Arial"/>
              </a:rPr>
              <a:t>Refined, calm, effortlessly livable.</a:t>
            </a:r>
          </a:p>
        </p:txBody>
      </p:sp>
      <p:sp>
        <p:nvSpPr>
          <p:cNvPr id="11" name="Oval 10"/>
          <p:cNvSpPr/>
          <p:nvPr/>
        </p:nvSpPr>
        <p:spPr>
          <a:xfrm>
            <a:off x="713232" y="4937760"/>
            <a:ext cx="457200" cy="457200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5084064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4919472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Technology Around People</a:t>
            </a:r>
          </a:p>
          <a:p>
            <a:pPr algn="l"/>
            <a:r>
              <a:rPr sz="1100" b="0" i="0">
                <a:solidFill>
                  <a:srgbClr val="868B94"/>
                </a:solidFill>
                <a:latin typeface="Arial"/>
              </a:rPr>
              <a:t>Intelligence that serves the family.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960120"/>
            <a:ext cx="5010912" cy="498348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6492240" y="960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492240" y="960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1265408" y="960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1503152" y="960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492240" y="59436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6492240" y="57058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11265408" y="59436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11503152" y="57058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741664" y="297637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854318" y="307878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Isosceles Triangle 24"/>
          <p:cNvSpPr/>
          <p:nvPr/>
        </p:nvSpPr>
        <p:spPr>
          <a:xfrm>
            <a:off x="8895283" y="320168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579876"/>
            <a:ext cx="50109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EXTERIOR IMAGE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854196"/>
            <a:ext cx="5010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PACIFICA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C"/>
                </a:solidFill>
                <a:latin typeface="Arial"/>
              </a:rPr>
              <a:t>Pacifica Interior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10817352" cy="42519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11265408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03152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838444" y="32964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51098" y="33988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5992063" y="35217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899916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INTERIOR RENDERING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7423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 spc="50">
                <a:solidFill>
                  <a:srgbClr val="868B94"/>
                </a:solidFill>
                <a:latin typeface="Arial"/>
              </a:rPr>
              <a:t>A family sanctuary — flexible, comfortable, designed around people.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THE EMOTIONAL HALO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1A1C"/>
                </a:solidFill>
                <a:latin typeface="Arial"/>
              </a:rPr>
              <a:t>300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5120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4A4E57"/>
                </a:solidFill>
                <a:latin typeface="Arial"/>
              </a:rPr>
              <a:t>The flagship expression of Chrysler design — composed, commanding, never excessive.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3200400"/>
            <a:ext cx="457200" cy="457200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59536" y="3346704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3182112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Commanding Presence</a:t>
            </a:r>
          </a:p>
          <a:p>
            <a:pPr algn="l"/>
            <a:r>
              <a:rPr sz="1100" b="0" i="0">
                <a:solidFill>
                  <a:srgbClr val="868B94"/>
                </a:solidFill>
                <a:latin typeface="Arial"/>
              </a:rPr>
              <a:t>Architectural proportion, balanced and tailored.</a:t>
            </a:r>
          </a:p>
        </p:txBody>
      </p:sp>
      <p:sp>
        <p:nvSpPr>
          <p:cNvPr id="8" name="Oval 7"/>
          <p:cNvSpPr/>
          <p:nvPr/>
        </p:nvSpPr>
        <p:spPr>
          <a:xfrm>
            <a:off x="713232" y="4069080"/>
            <a:ext cx="457200" cy="457200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9536" y="4215384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4050792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Quiet Power</a:t>
            </a:r>
          </a:p>
          <a:p>
            <a:pPr algn="l"/>
            <a:r>
              <a:rPr sz="1100" b="0" i="0">
                <a:solidFill>
                  <a:srgbClr val="868B94"/>
                </a:solidFill>
                <a:latin typeface="Arial"/>
              </a:rPr>
              <a:t>Confidence expressed through restraint.</a:t>
            </a:r>
          </a:p>
        </p:txBody>
      </p:sp>
      <p:sp>
        <p:nvSpPr>
          <p:cNvPr id="11" name="Oval 10"/>
          <p:cNvSpPr/>
          <p:nvPr/>
        </p:nvSpPr>
        <p:spPr>
          <a:xfrm>
            <a:off x="713232" y="4937760"/>
            <a:ext cx="457200" cy="457200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5084064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4919472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Timeless Craftsmanship</a:t>
            </a:r>
          </a:p>
          <a:p>
            <a:pPr algn="l"/>
            <a:r>
              <a:rPr sz="1100" b="0" i="0">
                <a:solidFill>
                  <a:srgbClr val="868B94"/>
                </a:solidFill>
                <a:latin typeface="Arial"/>
              </a:rPr>
              <a:t>Authentic American design, refined.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960120"/>
            <a:ext cx="5010912" cy="498348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6492240" y="960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492240" y="960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1265408" y="960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1503152" y="960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492240" y="59436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6492240" y="57058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11265408" y="59436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11503152" y="57058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741664" y="297637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854318" y="307878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Isosceles Triangle 24"/>
          <p:cNvSpPr/>
          <p:nvPr/>
        </p:nvSpPr>
        <p:spPr>
          <a:xfrm>
            <a:off x="8895283" y="320168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579876"/>
            <a:ext cx="50109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EXTERIOR IMAGE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854196"/>
            <a:ext cx="5010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300 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C"/>
                </a:solidFill>
                <a:latin typeface="Arial"/>
              </a:rPr>
              <a:t>300 Interior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10817352" cy="42519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11265408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03152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838444" y="32964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51098" y="33988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5992063" y="35217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899916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INTERIOR RENDERING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7423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 spc="50">
                <a:solidFill>
                  <a:srgbClr val="868B94"/>
                </a:solidFill>
                <a:latin typeface="Arial"/>
              </a:rPr>
              <a:t>An interior sanctuary — crafted, composed, human in scale.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THE PHILOSOPHY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1A1C"/>
                </a:solidFill>
                <a:latin typeface="Arial"/>
              </a:rPr>
              <a:t>Airflow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5120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4A4E57"/>
                </a:solidFill>
                <a:latin typeface="Arial"/>
              </a:rPr>
              <a:t>Airflow introduces Chrysler's philosophy: innovative practicality, designed around people.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3200400"/>
            <a:ext cx="457200" cy="457200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59536" y="3346704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3182112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Spacious &amp; Adaptive</a:t>
            </a:r>
          </a:p>
          <a:p>
            <a:pPr algn="l"/>
            <a:r>
              <a:rPr sz="1100" b="0" i="0">
                <a:solidFill>
                  <a:srgbClr val="868B94"/>
                </a:solidFill>
                <a:latin typeface="Arial"/>
              </a:rPr>
              <a:t>Versatile space for everyday life.</a:t>
            </a:r>
          </a:p>
        </p:txBody>
      </p:sp>
      <p:sp>
        <p:nvSpPr>
          <p:cNvPr id="8" name="Oval 7"/>
          <p:cNvSpPr/>
          <p:nvPr/>
        </p:nvSpPr>
        <p:spPr>
          <a:xfrm>
            <a:off x="713232" y="4069080"/>
            <a:ext cx="457200" cy="457200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9536" y="4215384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4050792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Technology With Purpose</a:t>
            </a:r>
          </a:p>
          <a:p>
            <a:pPr algn="l"/>
            <a:r>
              <a:rPr sz="1100" b="0" i="0">
                <a:solidFill>
                  <a:srgbClr val="868B94"/>
                </a:solidFill>
                <a:latin typeface="Arial"/>
              </a:rPr>
              <a:t>Intelligence that serves, then disappears.</a:t>
            </a:r>
          </a:p>
        </p:txBody>
      </p:sp>
      <p:sp>
        <p:nvSpPr>
          <p:cNvPr id="11" name="Oval 10"/>
          <p:cNvSpPr/>
          <p:nvPr/>
        </p:nvSpPr>
        <p:spPr>
          <a:xfrm>
            <a:off x="713232" y="4937760"/>
            <a:ext cx="457200" cy="457200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5084064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4919472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Confident Simplicity</a:t>
            </a:r>
          </a:p>
          <a:p>
            <a:pPr algn="l"/>
            <a:r>
              <a:rPr sz="1100" b="0" i="0">
                <a:solidFill>
                  <a:srgbClr val="868B94"/>
                </a:solidFill>
                <a:latin typeface="Arial"/>
              </a:rPr>
              <a:t>Clean, logical, human-centered form.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960120"/>
            <a:ext cx="5010912" cy="498348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6492240" y="960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492240" y="960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1265408" y="960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1503152" y="960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492240" y="59436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6492240" y="57058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11265408" y="59436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11503152" y="57058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741664" y="297637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854318" y="307878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Isosceles Triangle 24"/>
          <p:cNvSpPr/>
          <p:nvPr/>
        </p:nvSpPr>
        <p:spPr>
          <a:xfrm>
            <a:off x="8895283" y="320168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579876"/>
            <a:ext cx="50109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EXTERIOR IMAGE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854196"/>
            <a:ext cx="5010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AIRFLOW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C"/>
                </a:solidFill>
                <a:latin typeface="Arial"/>
              </a:rPr>
              <a:t>Airflow Interior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10817352" cy="42519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11265408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03152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838444" y="32964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51098" y="33988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5992063" y="35217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899916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INTERIOR RENDERING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7423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 spc="50">
                <a:solidFill>
                  <a:srgbClr val="868B94"/>
                </a:solidFill>
                <a:latin typeface="Arial"/>
              </a:rPr>
              <a:t>Designed around people — flexible, calm, effortlessly useful.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CLEVER ACCESSIBILITY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1A1C"/>
                </a:solidFill>
                <a:latin typeface="Arial"/>
              </a:rPr>
              <a:t>Arrow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5120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4A4E57"/>
                </a:solidFill>
                <a:latin typeface="Arial"/>
              </a:rPr>
              <a:t>Chrysler's accessible entry — clever, design-led, and attainable from around $24K.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3200400"/>
            <a:ext cx="457200" cy="457200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59536" y="3346704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3182112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Smart &amp; Simple</a:t>
            </a:r>
          </a:p>
          <a:p>
            <a:pPr algn="l"/>
            <a:r>
              <a:rPr sz="1100" b="0" i="0">
                <a:solidFill>
                  <a:srgbClr val="868B94"/>
                </a:solidFill>
                <a:latin typeface="Arial"/>
              </a:rPr>
              <a:t>Approachable design for the city.</a:t>
            </a:r>
          </a:p>
        </p:txBody>
      </p:sp>
      <p:sp>
        <p:nvSpPr>
          <p:cNvPr id="8" name="Oval 7"/>
          <p:cNvSpPr/>
          <p:nvPr/>
        </p:nvSpPr>
        <p:spPr>
          <a:xfrm>
            <a:off x="713232" y="4069080"/>
            <a:ext cx="457200" cy="457200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9536" y="4215384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4050792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Attainable</a:t>
            </a:r>
          </a:p>
          <a:p>
            <a:pPr algn="l"/>
            <a:r>
              <a:rPr sz="1100" b="0" i="0">
                <a:solidFill>
                  <a:srgbClr val="868B94"/>
                </a:solidFill>
                <a:latin typeface="Arial"/>
              </a:rPr>
              <a:t>Thoughtful style within reach.</a:t>
            </a:r>
          </a:p>
        </p:txBody>
      </p:sp>
      <p:sp>
        <p:nvSpPr>
          <p:cNvPr id="11" name="Oval 10"/>
          <p:cNvSpPr/>
          <p:nvPr/>
        </p:nvSpPr>
        <p:spPr>
          <a:xfrm>
            <a:off x="713232" y="4937760"/>
            <a:ext cx="457200" cy="457200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5084064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4919472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Youthful &amp; Modern</a:t>
            </a:r>
          </a:p>
          <a:p>
            <a:pPr algn="l"/>
            <a:r>
              <a:rPr sz="1100" b="0" i="0">
                <a:solidFill>
                  <a:srgbClr val="868B94"/>
                </a:solidFill>
                <a:latin typeface="Arial"/>
              </a:rPr>
              <a:t>Efficient, urban, design-led.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960120"/>
            <a:ext cx="5010912" cy="498348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6492240" y="960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492240" y="960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1265408" y="960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1503152" y="960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492240" y="59436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6492240" y="57058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11265408" y="59436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11503152" y="57058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741664" y="297637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854318" y="307878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Isosceles Triangle 24"/>
          <p:cNvSpPr/>
          <p:nvPr/>
        </p:nvSpPr>
        <p:spPr>
          <a:xfrm>
            <a:off x="8895283" y="320168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579876"/>
            <a:ext cx="50109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EXTERIOR IMAGE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854196"/>
            <a:ext cx="5010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ARROW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C"/>
                </a:solidFill>
                <a:latin typeface="Arial"/>
              </a:rPr>
              <a:t>Arrow Interior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10817352" cy="42519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11265408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03152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838444" y="32964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51098" y="33988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5992063" y="35217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899916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INTERIOR RENDERING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7423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 spc="50">
                <a:solidFill>
                  <a:srgbClr val="868B94"/>
                </a:solidFill>
                <a:latin typeface="Arial"/>
              </a:rPr>
              <a:t>Smart, simple, and useful — accessible design done thoughtfully.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PURPOSEFUL VERSATILITY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1A1C"/>
                </a:solidFill>
                <a:latin typeface="Arial"/>
              </a:rPr>
              <a:t>Arrow Cross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5120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4A4E57"/>
                </a:solidFill>
                <a:latin typeface="Arial"/>
              </a:rPr>
              <a:t>An accessible crossover with purposeful versatility — designed around everyday life.</a:t>
            </a:r>
          </a:p>
        </p:txBody>
      </p:sp>
      <p:sp>
        <p:nvSpPr>
          <p:cNvPr id="5" name="Oval 4"/>
          <p:cNvSpPr/>
          <p:nvPr/>
        </p:nvSpPr>
        <p:spPr>
          <a:xfrm>
            <a:off x="713232" y="3200400"/>
            <a:ext cx="457200" cy="457200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59536" y="3346704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3182112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Flexible &amp; Versatile</a:t>
            </a:r>
          </a:p>
          <a:p>
            <a:pPr algn="l"/>
            <a:r>
              <a:rPr sz="1100" b="0" i="0">
                <a:solidFill>
                  <a:srgbClr val="868B94"/>
                </a:solidFill>
                <a:latin typeface="Arial"/>
              </a:rPr>
              <a:t>Thoughtful packaging for families.</a:t>
            </a:r>
          </a:p>
        </p:txBody>
      </p:sp>
      <p:sp>
        <p:nvSpPr>
          <p:cNvPr id="8" name="Oval 7"/>
          <p:cNvSpPr/>
          <p:nvPr/>
        </p:nvSpPr>
        <p:spPr>
          <a:xfrm>
            <a:off x="713232" y="4069080"/>
            <a:ext cx="457200" cy="457200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9536" y="4215384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4050792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Urban &amp; Useful</a:t>
            </a:r>
          </a:p>
          <a:p>
            <a:pPr algn="l"/>
            <a:r>
              <a:rPr sz="1100" b="0" i="0">
                <a:solidFill>
                  <a:srgbClr val="868B94"/>
                </a:solidFill>
                <a:latin typeface="Arial"/>
              </a:rPr>
              <a:t>Confident, modern, accessible.</a:t>
            </a:r>
          </a:p>
        </p:txBody>
      </p:sp>
      <p:sp>
        <p:nvSpPr>
          <p:cNvPr id="11" name="Oval 10"/>
          <p:cNvSpPr/>
          <p:nvPr/>
        </p:nvSpPr>
        <p:spPr>
          <a:xfrm>
            <a:off x="713232" y="4937760"/>
            <a:ext cx="457200" cy="457200"/>
          </a:xfrm>
          <a:prstGeom prst="ellipse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9536" y="5084064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4919472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Everyday Ready</a:t>
            </a:r>
          </a:p>
          <a:p>
            <a:pPr algn="l"/>
            <a:r>
              <a:rPr sz="1100" b="0" i="0">
                <a:solidFill>
                  <a:srgbClr val="868B94"/>
                </a:solidFill>
                <a:latin typeface="Arial"/>
              </a:rPr>
              <a:t>Simple design that adapts.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960120"/>
            <a:ext cx="5010912" cy="498348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6492240" y="960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492240" y="960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1265408" y="9601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1503152" y="9601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492240" y="59436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6492240" y="57058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11265408" y="59436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11503152" y="570585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741664" y="297637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854318" y="307878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Isosceles Triangle 24"/>
          <p:cNvSpPr/>
          <p:nvPr/>
        </p:nvSpPr>
        <p:spPr>
          <a:xfrm>
            <a:off x="8895283" y="320168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579876"/>
            <a:ext cx="50109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EXTERIOR IMAGE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854196"/>
            <a:ext cx="5010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15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ARROW CROSS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686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C"/>
                </a:solidFill>
                <a:latin typeface="Arial"/>
              </a:rPr>
              <a:t>Arrow Cross Interior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10817352" cy="425196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11265408" y="16459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03152" y="164592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1265408" y="58978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503152" y="56601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838444" y="329641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51098" y="339882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5992063" y="352172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899916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INTERIOR RENDERING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7423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16:9 · 300dpi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 spc="50">
                <a:solidFill>
                  <a:srgbClr val="868B94"/>
                </a:solidFill>
                <a:latin typeface="Arial"/>
              </a:rPr>
              <a:t>Versatile and family-friendly — space designed for real life.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16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PORTFOLIO POSITIONING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1A1C"/>
                </a:solidFill>
                <a:latin typeface="Arial"/>
              </a:rPr>
              <a:t>How Chrysler Fits Within Stellantis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4A4E57"/>
                </a:solidFill>
                <a:latin typeface="Arial"/>
              </a:rPr>
              <a:t>Differentiation, not overlap — the distinct, human-centered space Chrysler owns.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480560" y="2286000"/>
            <a:ext cx="3200400" cy="146304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80560" y="2286000"/>
            <a:ext cx="320040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 spc="200">
                <a:solidFill>
                  <a:srgbClr val="FFFFFF"/>
                </a:solidFill>
                <a:latin typeface="Arial"/>
              </a:rPr>
              <a:t>CHRYSLER</a:t>
            </a:r>
          </a:p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C8CCD2"/>
                </a:solidFill>
                <a:latin typeface="Arial"/>
              </a:rPr>
              <a:t>Innovative practicality
for everyday life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4297680"/>
            <a:ext cx="2430018" cy="137160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297680"/>
            <a:ext cx="2430018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 spc="150">
                <a:solidFill>
                  <a:srgbClr val="868B94"/>
                </a:solidFill>
                <a:latin typeface="Arial"/>
              </a:rPr>
              <a:t>BRAND A</a:t>
            </a:r>
          </a:p>
          <a:p>
            <a:pPr algn="ctr">
              <a:lnSpc>
                <a:spcPct val="110000"/>
              </a:lnSpc>
            </a:pPr>
            <a:r>
              <a:rPr sz="950" b="0" i="0">
                <a:solidFill>
                  <a:srgbClr val="C8CCD2"/>
                </a:solidFill>
                <a:latin typeface="Arial"/>
              </a:rPr>
              <a:t>Distinct role</a:t>
            </a:r>
          </a:p>
        </p:txBody>
      </p:sp>
      <p:sp>
        <p:nvSpPr>
          <p:cNvPr id="9" name="Rectangle 8"/>
          <p:cNvSpPr/>
          <p:nvPr/>
        </p:nvSpPr>
        <p:spPr>
          <a:xfrm>
            <a:off x="3481578" y="4297680"/>
            <a:ext cx="2430018" cy="137160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1578" y="4297680"/>
            <a:ext cx="2430018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 spc="150">
                <a:solidFill>
                  <a:srgbClr val="868B94"/>
                </a:solidFill>
                <a:latin typeface="Arial"/>
              </a:rPr>
              <a:t>BRAND B</a:t>
            </a:r>
          </a:p>
          <a:p>
            <a:pPr algn="ctr">
              <a:lnSpc>
                <a:spcPct val="110000"/>
              </a:lnSpc>
            </a:pPr>
            <a:r>
              <a:rPr sz="950" b="0" i="0">
                <a:solidFill>
                  <a:srgbClr val="C8CCD2"/>
                </a:solidFill>
                <a:latin typeface="Arial"/>
              </a:rPr>
              <a:t>Distinct role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77356" y="4297680"/>
            <a:ext cx="2430018" cy="137160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7356" y="4297680"/>
            <a:ext cx="2430018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 spc="150">
                <a:solidFill>
                  <a:srgbClr val="868B94"/>
                </a:solidFill>
                <a:latin typeface="Arial"/>
              </a:rPr>
              <a:t>BRAND C</a:t>
            </a:r>
          </a:p>
          <a:p>
            <a:pPr algn="ctr">
              <a:lnSpc>
                <a:spcPct val="110000"/>
              </a:lnSpc>
            </a:pPr>
            <a:r>
              <a:rPr sz="950" b="0" i="0">
                <a:solidFill>
                  <a:srgbClr val="C8CCD2"/>
                </a:solidFill>
                <a:latin typeface="Arial"/>
              </a:rPr>
              <a:t>Distinct role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73134" y="4297680"/>
            <a:ext cx="2430018" cy="137160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73134" y="4297680"/>
            <a:ext cx="2430018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 spc="150">
                <a:solidFill>
                  <a:srgbClr val="868B94"/>
                </a:solidFill>
                <a:latin typeface="Arial"/>
              </a:rPr>
              <a:t>BRAND D</a:t>
            </a:r>
          </a:p>
          <a:p>
            <a:pPr algn="ctr">
              <a:lnSpc>
                <a:spcPct val="110000"/>
              </a:lnSpc>
            </a:pPr>
            <a:r>
              <a:rPr sz="950" b="0" i="0">
                <a:solidFill>
                  <a:srgbClr val="C8CCD2"/>
                </a:solidFill>
                <a:latin typeface="Arial"/>
              </a:rPr>
              <a:t>Distinct role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LOOKING FORWARD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1A1C"/>
                </a:solidFill>
                <a:latin typeface="Arial"/>
              </a:rPr>
              <a:t>Future Customer Experience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057400"/>
            <a:ext cx="3361944" cy="182880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05840" y="2377440"/>
            <a:ext cx="640080" cy="640080"/>
          </a:xfrm>
          <a:prstGeom prst="roundRect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4144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750" b="0" i="0" spc="100">
                <a:solidFill>
                  <a:srgbClr val="A9AEB5"/>
                </a:solidFill>
                <a:latin typeface="Arial"/>
              </a:rPr>
              <a:t>ICON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200400"/>
            <a:ext cx="27218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Digital Ecosystem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68B94"/>
                </a:solidFill>
                <a:latin typeface="Arial"/>
              </a:rPr>
              <a:t>Seamless, connected, personal.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13504" y="2057400"/>
            <a:ext cx="3361944" cy="182880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733544" y="2377440"/>
            <a:ext cx="640080" cy="640080"/>
          </a:xfrm>
          <a:prstGeom prst="roundRect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33544" y="244144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750" b="0" i="0" spc="100">
                <a:solidFill>
                  <a:srgbClr val="A9AEB5"/>
                </a:solidFill>
                <a:latin typeface="Arial"/>
              </a:rPr>
              <a:t>ICON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33544" y="3200400"/>
            <a:ext cx="27218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Technology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68B94"/>
                </a:solidFill>
                <a:latin typeface="Arial"/>
              </a:rPr>
              <a:t>Purposeful and invisible.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41208" y="2057400"/>
            <a:ext cx="3361944" cy="182880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61248" y="2377440"/>
            <a:ext cx="640080" cy="640080"/>
          </a:xfrm>
          <a:prstGeom prst="roundRect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61248" y="244144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750" b="0" i="0" spc="100">
                <a:solidFill>
                  <a:srgbClr val="A9AEB5"/>
                </a:solidFill>
                <a:latin typeface="Arial"/>
              </a:rPr>
              <a:t>ICON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61248" y="3200400"/>
            <a:ext cx="27218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Sustainability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68B94"/>
                </a:solidFill>
                <a:latin typeface="Arial"/>
              </a:rPr>
              <a:t>Warm, recycled, responsible materials.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206240"/>
            <a:ext cx="3361944" cy="182880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05840" y="4526280"/>
            <a:ext cx="640080" cy="640080"/>
          </a:xfrm>
          <a:prstGeom prst="roundRect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9028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750" b="0" i="0" spc="100">
                <a:solidFill>
                  <a:srgbClr val="A9AEB5"/>
                </a:solidFill>
                <a:latin typeface="Arial"/>
              </a:rPr>
              <a:t>ICON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349240"/>
            <a:ext cx="27218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Luxury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68B94"/>
                </a:solidFill>
                <a:latin typeface="Arial"/>
              </a:rPr>
              <a:t>Friction removed from daily life.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13504" y="4206240"/>
            <a:ext cx="3361944" cy="182880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733544" y="4526280"/>
            <a:ext cx="640080" cy="640080"/>
          </a:xfrm>
          <a:prstGeom prst="roundRect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33544" y="459028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750" b="0" i="0" spc="100">
                <a:solidFill>
                  <a:srgbClr val="A9AEB5"/>
                </a:solidFill>
                <a:latin typeface="Arial"/>
              </a:rPr>
              <a:t>ICON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33544" y="5349240"/>
            <a:ext cx="27218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AI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68B94"/>
                </a:solidFill>
                <a:latin typeface="Arial"/>
              </a:rPr>
              <a:t>Adaptive, predictive, human-centered.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41208" y="4206240"/>
            <a:ext cx="3361944" cy="182880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461248" y="4526280"/>
            <a:ext cx="640080" cy="640080"/>
          </a:xfrm>
          <a:prstGeom prst="roundRect">
            <a:avLst/>
          </a:prstGeom>
          <a:noFill/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61248" y="459028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750" b="0" i="0" spc="100">
                <a:solidFill>
                  <a:srgbClr val="A9AEB5"/>
                </a:solidFill>
                <a:latin typeface="Arial"/>
              </a:rPr>
              <a:t>ICON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61248" y="5349240"/>
            <a:ext cx="27218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A1A1C"/>
                </a:solidFill>
                <a:latin typeface="Arial"/>
              </a:rPr>
              <a:t>Connected Mobility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68B94"/>
                </a:solidFill>
                <a:latin typeface="Arial"/>
              </a:rPr>
              <a:t>Effortless, door to destination.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40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CAPABILITY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1A1C"/>
                </a:solidFill>
                <a:latin typeface="Arial"/>
              </a:rPr>
              <a:t>Design Innovation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828800"/>
            <a:ext cx="10817352" cy="2468880"/>
          </a:xfrm>
          <a:prstGeom prst="rect">
            <a:avLst/>
          </a:prstGeom>
          <a:solidFill>
            <a:srgbClr val="E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85800" y="18288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" y="182880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11265408" y="182880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03152" y="182880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" y="4297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85800" y="40599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1265408" y="429768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1503152" y="405993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838444" y="2587752"/>
            <a:ext cx="512064" cy="512064"/>
          </a:xfrm>
          <a:prstGeom prst="roundRect">
            <a:avLst/>
          </a:prstGeom>
          <a:noFill/>
          <a:ln w="19050">
            <a:solidFill>
              <a:srgbClr val="A9A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51098" y="2690164"/>
            <a:ext cx="100584" cy="100584"/>
          </a:xfrm>
          <a:prstGeom prst="ellips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5992063" y="2813060"/>
            <a:ext cx="274320" cy="164592"/>
          </a:xfrm>
          <a:prstGeom prst="triangle">
            <a:avLst/>
          </a:prstGeom>
          <a:solidFill>
            <a:srgbClr val="A9AE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191256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LARGE INFOGRAPHIC PLACEHOLDER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46557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innovation framework graphic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4526280"/>
            <a:ext cx="1612392" cy="128016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" y="4526280"/>
            <a:ext cx="1612392" cy="640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" y="4754880"/>
            <a:ext cx="128320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9AEB5"/>
                </a:solidFill>
                <a:latin typeface="Arial"/>
              </a:rPr>
              <a:t>01</a:t>
            </a:r>
          </a:p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1A1A1C"/>
                </a:solidFill>
                <a:latin typeface="Arial"/>
              </a:rPr>
              <a:t>Exterior Design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26792" y="4526280"/>
            <a:ext cx="1612392" cy="128016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526792" y="4526280"/>
            <a:ext cx="1612392" cy="640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91384" y="4754880"/>
            <a:ext cx="128320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9AEB5"/>
                </a:solidFill>
                <a:latin typeface="Arial"/>
              </a:rPr>
              <a:t>02</a:t>
            </a:r>
          </a:p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1A1A1C"/>
                </a:solidFill>
                <a:latin typeface="Arial"/>
              </a:rPr>
              <a:t>Interior Design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67784" y="4526280"/>
            <a:ext cx="1612392" cy="128016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67784" y="4526280"/>
            <a:ext cx="1612392" cy="640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32376" y="4754880"/>
            <a:ext cx="128320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9AEB5"/>
                </a:solidFill>
                <a:latin typeface="Arial"/>
              </a:rPr>
              <a:t>03</a:t>
            </a:r>
          </a:p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1A1A1C"/>
                </a:solidFill>
                <a:latin typeface="Arial"/>
              </a:rPr>
              <a:t>CMF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08776" y="4526280"/>
            <a:ext cx="1612392" cy="128016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8776" y="4526280"/>
            <a:ext cx="1612392" cy="640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73368" y="4754880"/>
            <a:ext cx="128320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9AEB5"/>
                </a:solidFill>
                <a:latin typeface="Arial"/>
              </a:rPr>
              <a:t>04</a:t>
            </a:r>
          </a:p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1A1A1C"/>
                </a:solidFill>
                <a:latin typeface="Arial"/>
              </a:rPr>
              <a:t>Lighting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49768" y="4526280"/>
            <a:ext cx="1612392" cy="128016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49768" y="4526280"/>
            <a:ext cx="1612392" cy="640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4360" y="4754880"/>
            <a:ext cx="128320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9AEB5"/>
                </a:solidFill>
                <a:latin typeface="Arial"/>
              </a:rPr>
              <a:t>05</a:t>
            </a:r>
          </a:p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1A1A1C"/>
                </a:solidFill>
                <a:latin typeface="Arial"/>
              </a:rPr>
              <a:t>Digital Experience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90760" y="4526280"/>
            <a:ext cx="1612392" cy="1280160"/>
          </a:xfrm>
          <a:prstGeom prst="rect">
            <a:avLst/>
          </a:prstGeom>
          <a:solidFill>
            <a:srgbClr val="F7F8F9"/>
          </a:solidFill>
          <a:ln w="6350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890760" y="4526280"/>
            <a:ext cx="1612392" cy="640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55352" y="4754880"/>
            <a:ext cx="128320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9AEB5"/>
                </a:solidFill>
                <a:latin typeface="Arial"/>
              </a:rPr>
              <a:t>06</a:t>
            </a:r>
          </a:p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1A1A1C"/>
                </a:solidFill>
                <a:latin typeface="Arial"/>
              </a:rPr>
              <a:t>AI-enabled Design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01752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1953951" y="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2191695" y="0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0" y="30175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0" y="277977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1953951" y="3017520"/>
            <a:ext cx="237744" cy="0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2191695" y="2779776"/>
            <a:ext cx="0" cy="237744"/>
          </a:xfrm>
          <a:prstGeom prst="bentConnector3">
            <a:avLst/>
          </a:prstGeom>
          <a:ln w="15875">
            <a:solidFill>
              <a:srgbClr val="A9AE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0" y="1307592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200">
                <a:solidFill>
                  <a:srgbClr val="868B94"/>
                </a:solidFill>
                <a:latin typeface="Arial"/>
              </a:rPr>
              <a:t>CLOSING HERO IMAGE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1581912"/>
            <a:ext cx="12191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80">
                <a:solidFill>
                  <a:srgbClr val="C8CCD2"/>
                </a:solidFill>
                <a:latin typeface="Arial"/>
              </a:rPr>
              <a:t>Replace · aspirational closing visual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2918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300">
                <a:solidFill>
                  <a:srgbClr val="1B2A4A"/>
                </a:solidFill>
                <a:latin typeface="Arial"/>
              </a:rPr>
              <a:t>IN SUMMARY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61188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1A1C"/>
                </a:solidFill>
                <a:latin typeface="Arial"/>
              </a:rPr>
              <a:t>Executive Takeaways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572000"/>
            <a:ext cx="336194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A9AEB5"/>
                </a:solidFill>
                <a:latin typeface="Arial"/>
              </a:rPr>
              <a:t>01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212080"/>
            <a:ext cx="3361944" cy="0"/>
          </a:xfrm>
          <a:prstGeom prst="bentConnector3">
            <a:avLst/>
          </a:prstGeom>
          <a:ln w="12700">
            <a:solidFill>
              <a:srgbClr val="C8C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5349240"/>
            <a:ext cx="336194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1A1A1C"/>
                </a:solidFill>
                <a:latin typeface="Arial"/>
              </a:rPr>
              <a:t>Designed Around People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4A4E57"/>
                </a:solidFill>
                <a:latin typeface="Arial"/>
              </a:rPr>
              <a:t>Luxury is the removal of everyday friction.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3504" y="4572000"/>
            <a:ext cx="336194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A9AEB5"/>
                </a:solidFill>
                <a:latin typeface="Arial"/>
              </a:rPr>
              <a:t>02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413504" y="5212080"/>
            <a:ext cx="3361944" cy="0"/>
          </a:xfrm>
          <a:prstGeom prst="bentConnector3">
            <a:avLst/>
          </a:prstGeom>
          <a:ln w="12700">
            <a:solidFill>
              <a:srgbClr val="C8C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413504" y="5349240"/>
            <a:ext cx="336194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1A1A1C"/>
                </a:solidFill>
                <a:latin typeface="Arial"/>
              </a:rPr>
              <a:t>Distinct Within Stellantis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4A4E57"/>
                </a:solidFill>
                <a:latin typeface="Arial"/>
              </a:rPr>
              <a:t>Modern American design — human and confident.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41208" y="4572000"/>
            <a:ext cx="336194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A9AEB5"/>
                </a:solidFill>
                <a:latin typeface="Arial"/>
              </a:rPr>
              <a:t>03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141208" y="5212080"/>
            <a:ext cx="3361944" cy="0"/>
          </a:xfrm>
          <a:prstGeom prst="bentConnector3">
            <a:avLst/>
          </a:prstGeom>
          <a:ln w="12700">
            <a:solidFill>
              <a:srgbClr val="C8C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141208" y="5349240"/>
            <a:ext cx="336194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1A1A1C"/>
                </a:solidFill>
                <a:latin typeface="Arial"/>
              </a:rPr>
              <a:t>Ready to Lead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4A4E57"/>
                </a:solidFill>
                <a:latin typeface="Arial"/>
              </a:rPr>
              <a:t>A clear, design-led vision for Chrysler's future.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50">
                <a:solidFill>
                  <a:srgbClr val="868B94"/>
                </a:solidFill>
                <a:latin typeface="Arial"/>
              </a:rPr>
              <a:t>CHRYSLER  ·  BRAND DESIGN VISION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4373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50">
                <a:solidFill>
                  <a:srgbClr val="868B94"/>
                </a:solidFill>
                <a:latin typeface="Arial"/>
              </a:rPr>
              <a:t>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31089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 spc="200">
                <a:solidFill>
                  <a:srgbClr val="C8CCD2"/>
                </a:solidFill>
                <a:latin typeface="Arial"/>
              </a:rPr>
              <a:t>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