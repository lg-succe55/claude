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0" y="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" y="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935663" y="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191695" y="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6858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572000" y="660196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35663" y="6858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191695" y="660196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98383" y="294436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3107" y="305775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268461" y="318247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21024"/>
            <a:ext cx="7619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FULL-BLEED 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95344"/>
            <a:ext cx="7619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cinematic vehicle key visual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85800" y="1371600"/>
            <a:ext cx="182880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536192" y="130759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600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STELLANTIS · CHRYSLER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1168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000" b="1">
                <a:solidFill>
                  <a:srgbClr val="1A1A1C"/>
                </a:solidFill>
                <a:latin typeface="Arial"/>
              </a:rPr>
              <a:t>Concept Portfolio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A4E57"/>
                </a:solidFill>
                <a:latin typeface="Arial"/>
              </a:rPr>
              <a:t>A premium design vision for the next generation of Chrysler — presented to executive leadership.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5852160"/>
            <a:ext cx="320040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9893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100">
                <a:solidFill>
                  <a:srgbClr val="868B94"/>
                </a:solidFill>
                <a:latin typeface="Arial"/>
              </a:rPr>
              <a:t>Prepared for the Executive Steering Committee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92240" y="822960"/>
            <a:ext cx="5074920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0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311128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6716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311128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56716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46236" y="285292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0960" y="296631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6314" y="309103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295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HERO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039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EXECUTIVE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3444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C"/>
                </a:solidFill>
                <a:latin typeface="Arial"/>
              </a:rPr>
              <a:t>Executive Overview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14884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37744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4E57"/>
                </a:solidFill>
                <a:latin typeface="Arial"/>
              </a:rPr>
              <a:t>A focused portfolio narrative that positions Chrysler at the premium edge of modern American design.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813048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6849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A unified design language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One confident, refined aesthetic across the lineup.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654296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809744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90288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Three flagship statements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Chrysler 300, Airflow, and Aircross anchor the story.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5495544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650992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431536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Built for what's next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A future-ready portfolio for executive endorsement.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92240" y="822960"/>
            <a:ext cx="5074920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0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311128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6716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311128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56716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46236" y="285292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0960" y="296631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6314" y="309103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295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HERO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039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CHRYSLER 300 ·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3444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C"/>
                </a:solidFill>
                <a:latin typeface="Arial"/>
              </a:rPr>
              <a:t>Chrysler 300 Strategy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14884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37744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4E57"/>
                </a:solidFill>
                <a:latin typeface="Arial"/>
              </a:rPr>
              <a:t>Reassert the 300 as Chrysler's halo sedan — commanding presence with contemporary restraint.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813048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6849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Iconic stature, modernized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Bold proportions reinterpreted for today.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654296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809744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90288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Premium without excess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Confidence expressed through simplicity.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5495544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650992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431536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A flagship that leads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Sets the tone for the entire portfolio.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CHRYSLER 300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Chrysler 300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108173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471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110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57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810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FULL-WIDTH DESIGN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hero exterior / interior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Sculpted surfacing and a commanding stance.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CHRYSLER 300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Chrysler 300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3309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7607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167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7607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167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678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925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2378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PRIMARY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3309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722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722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471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5031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42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789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7242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941064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SECONDARY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215384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A serene, driver-focused cabin in premium materials.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CHRYSLER 300 ·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Chrysler 300 —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6766560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196328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236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196328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5236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85616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10340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955694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HERO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600200"/>
            <a:ext cx="3867912" cy="2075688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63524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3675888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35240" y="3419856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47120" y="3675888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503152" y="3419856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5732" y="2153412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0456" y="2266797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9455810" y="2391521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2830068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DETAIL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04388"/>
            <a:ext cx="3867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822191"/>
            <a:ext cx="3867912" cy="2075688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635240" y="3822191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35240" y="3822191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1247120" y="3822191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503152" y="3822191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35240" y="5897879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635240" y="5641847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247120" y="5897879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503152" y="5641847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85732" y="4375403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10456" y="4488788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9455810" y="4613512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5052059"/>
            <a:ext cx="3867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DETAIL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5326379"/>
            <a:ext cx="3867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Signature lighting and seamless digital surfaces.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92240" y="822960"/>
            <a:ext cx="5074920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0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311128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6716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311128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56716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46236" y="285292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0960" y="296631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6314" y="309103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295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HERO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039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AIRFLOW ·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3444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C"/>
                </a:solidFill>
                <a:latin typeface="Arial"/>
              </a:rPr>
              <a:t>Airflow Vision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14884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37744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4E57"/>
                </a:solidFill>
                <a:latin typeface="Arial"/>
              </a:rPr>
              <a:t>Airflow embodies Chrysler's electric future — aerodynamic, intelligent, and effortlessly modern.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813048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6849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Electric-first design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Form shaped by efficiency and calm.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654296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809744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90288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Intelligent by nature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Technology that recedes into the experience.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5495544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650992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431536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The shape of tomorrow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A clear signal of Chrysler's direction.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AIRFLOW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Airflow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108173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471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110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57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810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FULL-WIDTH DESIGN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hero exterior / interior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Aerodynamic purity and a clean, future-forward silhouette.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AIRFLOW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Airflow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3309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7607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167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7607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167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678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925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2378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PRIMARY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3309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722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722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471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5031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42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789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7242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941064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SECONDARY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215384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A lounge-like, sustainable cabin built around the occupant.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92240" y="822960"/>
            <a:ext cx="5074920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0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311128" y="8229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67160" y="82296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311128" y="585216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567160" y="559612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746236" y="285292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70960" y="296631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8916314" y="309103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52958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HERO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0390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AIRCROSS ·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3444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C"/>
                </a:solidFill>
                <a:latin typeface="Arial"/>
              </a:rPr>
              <a:t>Aircross Strategy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148840"/>
            <a:ext cx="5120640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37744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4E57"/>
                </a:solidFill>
                <a:latin typeface="Arial"/>
              </a:rPr>
              <a:t>Aircross extends Chrysler's design language into the most important growth segment — the premium crossover.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813048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96849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Versatile premium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Refinement that adapts to modern life.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654296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809744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590288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Confident proportions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SUV presence with elegant restraint.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5495544"/>
            <a:ext cx="457200" cy="457200"/>
          </a:xfrm>
          <a:prstGeom prst="ellipse">
            <a:avLst/>
          </a:prstGeom>
          <a:noFill/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650992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431536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C"/>
                </a:solidFill>
                <a:latin typeface="Arial"/>
              </a:rPr>
              <a:t>Volume with prestige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8B94"/>
                </a:solidFill>
                <a:latin typeface="Arial"/>
              </a:rPr>
              <a:t>Reach and desirability in one statement.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AIRCROSS · EXTERIOR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Aircross — Exterior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108173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12471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5031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110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357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59810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FULL-WIDTH DESIGN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hero exterior / interior 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Robust yet refined — a crossover with poise.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AIRCROSS · INTERIOR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Aircross — Interior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53309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7607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167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858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7607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167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678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925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32378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PRIMARY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15384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5330952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17220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247120" y="16002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503152" y="16002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7220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24712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503152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554212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78936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>
            <a:off x="8724290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941064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SECONDARY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215384"/>
            <a:ext cx="5330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16:9 · 300dpi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50">
                <a:solidFill>
                  <a:srgbClr val="868B94"/>
                </a:solidFill>
                <a:latin typeface="Arial"/>
              </a:rPr>
              <a:t>Spacious, flexible, and quietly luxurious.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PORTFOLIO ·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Chrysler Future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A4E57"/>
                </a:solidFill>
                <a:latin typeface="Arial"/>
              </a:rPr>
              <a:t>A cohesive family — today's Pacifica alongside the concepts that define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2430018" cy="2926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85800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859786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115818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859786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115818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617345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42069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87423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41064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CONCEPT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15384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C"/>
                </a:solidFill>
                <a:latin typeface="Arial"/>
              </a:rPr>
              <a:t>Pacifica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68B94"/>
                </a:solidFill>
                <a:latin typeface="Arial"/>
              </a:rPr>
              <a:t>Today's premium minivan benchmark.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81578" y="2286000"/>
            <a:ext cx="2430018" cy="2926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481578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81578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655564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11596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81578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81578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655564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911596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13123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37847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4583201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1578" y="3941064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CONCEPT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1578" y="4215384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1578" y="5349240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C"/>
                </a:solidFill>
                <a:latin typeface="Arial"/>
              </a:rPr>
              <a:t>Airflow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1578" y="566928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68B94"/>
                </a:solidFill>
                <a:latin typeface="Arial"/>
              </a:rPr>
              <a:t>The electric flagship direction.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7356" y="2286000"/>
            <a:ext cx="2430018" cy="2926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277356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77356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451342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07374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77356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277356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451342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07374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208901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33625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7378979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7356" y="3941064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CONCEPT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7356" y="4215384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7356" y="5349240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C"/>
                </a:solidFill>
                <a:latin typeface="Arial"/>
              </a:rPr>
              <a:t>Aircross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7356" y="566928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68B94"/>
                </a:solidFill>
                <a:latin typeface="Arial"/>
              </a:rPr>
              <a:t>The premium crossover statement.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73134" y="2286000"/>
            <a:ext cx="2430018" cy="29260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073134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73134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1247120" y="228600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503152" y="228600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073134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073134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1247120" y="52120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503152" y="49560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0004679" y="326440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129403" y="337779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>
            <a:off x="10174757" y="350251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73134" y="3941064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CONCEPT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73134" y="4215384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3134" y="5349240"/>
            <a:ext cx="24300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C"/>
                </a:solidFill>
                <a:latin typeface="Arial"/>
              </a:rPr>
              <a:t>Next Concept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3134" y="566928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68B94"/>
                </a:solidFill>
                <a:latin typeface="Arial"/>
              </a:rPr>
              <a:t>Reserved for the future vision.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DESIGN · CMF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C"/>
                </a:solidFill>
                <a:latin typeface="Arial"/>
              </a:rPr>
              <a:t>Color, Material &amp;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4E57"/>
                </a:solidFill>
                <a:latin typeface="Arial"/>
              </a:rPr>
              <a:t>A disciplined CMF strategy that signals premium craftsmanship through tone, texture, and finish — consistent across every nameplate.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868680"/>
            <a:ext cx="5074920" cy="50292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92240" y="8686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0" y="86868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311128" y="8686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567160" y="868680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9224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1311128" y="5897880"/>
            <a:ext cx="256032" cy="0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67160" y="5641848"/>
            <a:ext cx="0" cy="256032"/>
          </a:xfrm>
          <a:prstGeom prst="bentConnector3">
            <a:avLst/>
          </a:prstGeom>
          <a:ln w="15875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46236" y="2898648"/>
            <a:ext cx="566928" cy="566928"/>
          </a:xfrm>
          <a:prstGeom prst="roundRect">
            <a:avLst/>
          </a:prstGeom>
          <a:noFill/>
          <a:ln w="19050">
            <a:solidFill>
              <a:srgbClr val="A9AE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70960" y="3012033"/>
            <a:ext cx="109728" cy="109728"/>
          </a:xfrm>
          <a:prstGeom prst="ellips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8916314" y="3136757"/>
            <a:ext cx="310896" cy="201168"/>
          </a:xfrm>
          <a:prstGeom prst="triangle">
            <a:avLst/>
          </a:prstGeom>
          <a:solidFill>
            <a:srgbClr val="A9AE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7530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250">
                <a:solidFill>
                  <a:srgbClr val="868B94"/>
                </a:solidFill>
                <a:latin typeface="Arial"/>
              </a:rPr>
              <a:t>MATERIAL MOOD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962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100">
                <a:solidFill>
                  <a:srgbClr val="C8CCD2"/>
                </a:solidFill>
                <a:latin typeface="Arial"/>
              </a:rPr>
              <a:t>Replace · CMF mood / texture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71800"/>
            <a:ext cx="1325880" cy="1325880"/>
          </a:xfrm>
          <a:prstGeom prst="rect">
            <a:avLst/>
          </a:prstGeom>
          <a:solidFill>
            <a:srgbClr val="A9AEB5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50">
                <a:solidFill>
                  <a:srgbClr val="868B94"/>
                </a:solidFill>
                <a:latin typeface="Arial"/>
              </a:rPr>
              <a:t>Platinum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2971800"/>
            <a:ext cx="1325880" cy="1325880"/>
          </a:xfrm>
          <a:prstGeom prst="rect">
            <a:avLst/>
          </a:prstGeom>
          <a:solidFill>
            <a:srgbClr val="1B2A4A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40740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50">
                <a:solidFill>
                  <a:srgbClr val="868B94"/>
                </a:solidFill>
                <a:latin typeface="Arial"/>
              </a:rPr>
              <a:t>Midnight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2971800"/>
            <a:ext cx="1325880" cy="1325880"/>
          </a:xfrm>
          <a:prstGeom prst="rect">
            <a:avLst/>
          </a:prstGeom>
          <a:solidFill>
            <a:srgbClr val="4A4E57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440740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50">
                <a:solidFill>
                  <a:srgbClr val="868B94"/>
                </a:solidFill>
                <a:latin typeface="Arial"/>
              </a:rPr>
              <a:t>Graphite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971800"/>
            <a:ext cx="1325880" cy="1325880"/>
          </a:xfrm>
          <a:prstGeom prst="rect">
            <a:avLst/>
          </a:prstGeom>
          <a:solidFill>
            <a:srgbClr val="E7E2D8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40740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50">
                <a:solidFill>
                  <a:srgbClr val="868B94"/>
                </a:solidFill>
                <a:latin typeface="Arial"/>
              </a:rPr>
              <a:t>Linen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971800"/>
            <a:ext cx="1325880" cy="1325880"/>
          </a:xfrm>
          <a:prstGeom prst="rect">
            <a:avLst/>
          </a:prstGeom>
          <a:solidFill>
            <a:srgbClr val="F2F3F4"/>
          </a:solidFill>
          <a:ln w="6350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407408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spc="50">
                <a:solidFill>
                  <a:srgbClr val="868B94"/>
                </a:solidFill>
                <a:latin typeface="Arial"/>
              </a:rPr>
              <a:t>Pearl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120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C8CCD2"/>
                </a:solidFill>
                <a:latin typeface="Arial"/>
              </a:rPr>
              <a:t>Swatches are placeholders — replace with approved CMF palette.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777240"/>
            <a:ext cx="1828800" cy="0"/>
          </a:xfrm>
          <a:prstGeom prst="bentConnector3">
            <a:avLst/>
          </a:prstGeom>
          <a:ln w="19050">
            <a:solidFill>
              <a:srgbClr val="A9A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iamond 3"/>
          <p:cNvSpPr/>
          <p:nvPr/>
        </p:nvSpPr>
        <p:spPr>
          <a:xfrm>
            <a:off x="1536192" y="713232"/>
            <a:ext cx="128016" cy="128016"/>
          </a:xfrm>
          <a:prstGeom prst="diamond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300">
                <a:solidFill>
                  <a:srgbClr val="1B2A4A"/>
                </a:solidFill>
                <a:latin typeface="Arial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C"/>
                </a:solidFill>
                <a:latin typeface="Arial"/>
              </a:rPr>
              <a:t>Executive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A4E57"/>
                </a:solidFill>
                <a:latin typeface="Arial"/>
              </a:rPr>
              <a:t>Three commitments to carry forward from today's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3361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A9AEB5"/>
                </a:solidFill>
                <a:latin typeface="Arial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343400"/>
            <a:ext cx="3361944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526280"/>
            <a:ext cx="33619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C"/>
                </a:solidFill>
                <a:latin typeface="Arial"/>
              </a:rPr>
              <a:t>A clear design vision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E57"/>
                </a:solidFill>
                <a:latin typeface="Arial"/>
              </a:rPr>
              <a:t>One premium language unifying the Chrysler portfolio.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3504" y="3566160"/>
            <a:ext cx="3361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A9AEB5"/>
                </a:solidFill>
                <a:latin typeface="Arial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13504" y="4343400"/>
            <a:ext cx="3361944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13504" y="4526280"/>
            <a:ext cx="33619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C"/>
                </a:solidFill>
                <a:latin typeface="Arial"/>
              </a:rPr>
              <a:t>A future-ready lineup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E57"/>
                </a:solidFill>
                <a:latin typeface="Arial"/>
              </a:rPr>
              <a:t>Flagship concepts that lead the brand forward.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1208" y="3566160"/>
            <a:ext cx="33619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A9AEB5"/>
                </a:solidFill>
                <a:latin typeface="Arial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41208" y="4343400"/>
            <a:ext cx="3361944" cy="0"/>
          </a:xfrm>
          <a:prstGeom prst="bentConnector3">
            <a:avLst/>
          </a:prstGeom>
          <a:ln w="12700">
            <a:solidFill>
              <a:srgbClr val="C8C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41208" y="4526280"/>
            <a:ext cx="336194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C"/>
                </a:solidFill>
                <a:latin typeface="Arial"/>
              </a:rPr>
              <a:t>Aligned for decision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E57"/>
                </a:solidFill>
                <a:latin typeface="Arial"/>
              </a:rPr>
              <a:t>Direction set for executive endorsement and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50">
                <a:solidFill>
                  <a:srgbClr val="868B94"/>
                </a:solidFill>
                <a:latin typeface="Arial"/>
              </a:rPr>
              <a:t>STELLANTIS  ·  DESIGN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50">
                <a:solidFill>
                  <a:srgbClr val="868B94"/>
                </a:solidFill>
                <a:latin typeface="Arial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spc="200">
                <a:solidFill>
                  <a:srgbClr val="C8CCD2"/>
                </a:solidFill>
                <a:latin typeface="Arial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