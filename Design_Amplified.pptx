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007060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4937760"/>
            <a:ext cx="4023360" cy="4023360"/>
          </a:xfrm>
          <a:prstGeom prst="ellipse">
            <a:avLst/>
          </a:prstGeom>
          <a:solidFill>
            <a:srgbClr val="514B91">
              <a:alpha val="18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66928" y="365760"/>
            <a:ext cx="82296" cy="82296"/>
          </a:xfrm>
          <a:prstGeom prst="ellipse">
            <a:avLst/>
          </a:prstGeom>
          <a:solidFill>
            <a:srgbClr val="4FD0BE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2560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AMPLIFIED</a:t>
            </a:r>
            <a:pPr algn="l" indent="0" marL="0">
              <a:buNone/>
            </a:pPr>
            <a:r>
              <a:rPr lang="en-US" sz="1050" spc="200" kern="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 TRANSFORMATION OFFICE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7589520" y="25603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Amplified</a:t>
            </a:r>
            <a:pPr algn="l" indent="0" marL="0">
              <a:buNone/>
            </a:pPr>
            <a:r>
              <a:rPr lang="en-US" sz="95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Draft for alignment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0241280" y="64556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10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77240" y="15544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STELLANTIS  ·  AI TRANSFORMATION OFFICE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1874520"/>
            <a:ext cx="107899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</a:t>
            </a:r>
            <a:pPr indent="0" marL="0">
              <a:buNone/>
            </a:pPr>
            <a:r>
              <a:rPr lang="en-US" sz="7600" b="1" dirty="0">
                <a:solidFill>
                  <a:srgbClr val="4FD0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Amplified</a:t>
            </a:r>
            <a:endParaRPr lang="en-US" sz="7600" dirty="0"/>
          </a:p>
        </p:txBody>
      </p:sp>
      <p:sp>
        <p:nvSpPr>
          <p:cNvPr id="11" name="Text 9"/>
          <p:cNvSpPr/>
          <p:nvPr/>
        </p:nvSpPr>
        <p:spPr>
          <a:xfrm>
            <a:off x="777240" y="3429000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D9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Amplified begins by helping people </a:t>
            </a:r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better today</a:t>
            </a:r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D9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develops intelligence inside </a:t>
            </a:r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workflows</a:t>
            </a:r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D9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next, and ultimately connects them into a globally reusable </a:t>
            </a:r>
            <a:pPr indent="0" marL="0">
              <a:lnSpc>
                <a:spcPct val="112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Design-development system</a:t>
            </a:r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rgbClr val="D9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822960" y="4645152"/>
            <a:ext cx="0" cy="603504"/>
          </a:xfrm>
          <a:prstGeom prst="line">
            <a:avLst/>
          </a:prstGeom>
          <a:noFill/>
          <a:ln w="31750">
            <a:solidFill>
              <a:srgbClr val="4FD0B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4128" y="459028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6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does not author the vehicle. It expands the designer’s capacity to explore, understand, communicate, and decide.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777240" y="5577840"/>
            <a:ext cx="1095451" cy="40233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440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5577840"/>
            <a:ext cx="109545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872691" y="5577840"/>
            <a:ext cx="310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D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2183587" y="5577840"/>
            <a:ext cx="1490472" cy="40233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4406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183587" y="5577840"/>
            <a:ext cx="1490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674059" y="5577840"/>
            <a:ext cx="310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D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984955" y="5577840"/>
            <a:ext cx="1589227" cy="40233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440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984955" y="5577840"/>
            <a:ext cx="158922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Initiatives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574182" y="5577840"/>
            <a:ext cx="310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D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885078" y="5577840"/>
            <a:ext cx="1194206" cy="40233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4406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85078" y="5577840"/>
            <a:ext cx="119420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079285" y="5577840"/>
            <a:ext cx="3108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FD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390181" y="5577840"/>
            <a:ext cx="1786738" cy="40233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4406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90181" y="5577840"/>
            <a:ext cx="178673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9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AITO evidence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77240" y="614476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for alignment    ·  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Ralph Gilles</a:t>
            </a:r>
            <a:pPr indent="0" marL="0">
              <a:buNone/>
            </a:pPr>
            <a:r>
              <a:rPr lang="en-US" sz="12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Scott Krugger</a:t>
            </a:r>
            <a:pPr indent="0" marL="0">
              <a:buNone/>
            </a:pPr>
            <a:r>
              <a:rPr lang="en-US" sz="12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Scott Thiele</a:t>
            </a:r>
            <a:pPr indent="0" marL="0">
              <a:buNone/>
            </a:pPr>
            <a:r>
              <a:rPr lang="en-US" sz="120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AI Transformation Office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82296" cy="82296"/>
          </a:xfrm>
          <a:prstGeom prst="ellipse">
            <a:avLst/>
          </a:prstGeom>
          <a:solidFill>
            <a:srgbClr val="0070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560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AMPLIFIED</a:t>
            </a:r>
            <a:pPr algn="l" indent="0" marL="0">
              <a:buNone/>
            </a:pPr>
            <a:r>
              <a:rPr lang="en-US" sz="1050" spc="2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 TRANSFORMATION OFFICE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589520" y="25603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&amp; MISSION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Amplified</a:t>
            </a:r>
            <a:pPr algn="l" indent="0" marL="0">
              <a:buNone/>
            </a:pPr>
            <a:r>
              <a:rPr lang="en-US" sz="9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Draft for alignment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241280" y="64556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10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66928" y="78638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NORTH STAR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0607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Vision &amp; Mission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566928" y="18470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future Design organization we are building — and how we move from today to that future.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5358384" cy="3566160"/>
          </a:xfrm>
          <a:prstGeom prst="roundRect">
            <a:avLst>
              <a:gd name="adj" fmla="val 3590"/>
            </a:avLst>
          </a:prstGeom>
          <a:solidFill>
            <a:srgbClr val="E6F2F0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78408" y="2898648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007060"/>
          </a:solidFill>
          <a:ln/>
        </p:spPr>
      </p:sp>
      <p:sp>
        <p:nvSpPr>
          <p:cNvPr id="12" name="Text 10"/>
          <p:cNvSpPr/>
          <p:nvPr/>
        </p:nvSpPr>
        <p:spPr>
          <a:xfrm>
            <a:off x="978408" y="28895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8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488" dirty="0"/>
          </a:p>
        </p:txBody>
      </p:sp>
      <p:sp>
        <p:nvSpPr>
          <p:cNvPr id="13" name="Text 11"/>
          <p:cNvSpPr/>
          <p:nvPr/>
        </p:nvSpPr>
        <p:spPr>
          <a:xfrm>
            <a:off x="1682496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78408" y="3721608"/>
            <a:ext cx="45354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</a:t>
            </a:r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globally connected, AI-enabled Design organization</a:t>
            </a:r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expands human creativity, accelerates learning and decision-making, preserves Design intelligence, and connects creative intent with trusted product information.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978408" y="5248656"/>
            <a:ext cx="4535424" cy="0"/>
          </a:xfrm>
          <a:prstGeom prst="line">
            <a:avLst/>
          </a:prstGeom>
          <a:noFill/>
          <a:ln w="9525">
            <a:solidFill>
              <a:srgbClr val="007060">
                <a:alpha val="45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78408" y="5340096"/>
            <a:ext cx="4535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i="1" dirty="0">
                <a:solidFill>
                  <a:srgbClr val="6C72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Stellantis can create more distinctive, feasible, and valuable products — with greater speed and confidence.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72784" y="2487168"/>
            <a:ext cx="5358384" cy="3566160"/>
          </a:xfrm>
          <a:prstGeom prst="roundRect">
            <a:avLst>
              <a:gd name="adj" fmla="val 3590"/>
            </a:avLst>
          </a:prstGeom>
          <a:solidFill>
            <a:srgbClr val="ECEBF5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84264" y="2898648"/>
            <a:ext cx="566928" cy="566928"/>
          </a:xfrm>
          <a:prstGeom prst="roundRect">
            <a:avLst>
              <a:gd name="adj" fmla="val 28000"/>
            </a:avLst>
          </a:prstGeom>
          <a:solidFill>
            <a:srgbClr val="514B91"/>
          </a:solidFill>
          <a:ln/>
        </p:spPr>
      </p:sp>
      <p:sp>
        <p:nvSpPr>
          <p:cNvPr id="19" name="Text 17"/>
          <p:cNvSpPr/>
          <p:nvPr/>
        </p:nvSpPr>
        <p:spPr>
          <a:xfrm>
            <a:off x="6684264" y="28895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8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488" dirty="0"/>
          </a:p>
        </p:txBody>
      </p:sp>
      <p:sp>
        <p:nvSpPr>
          <p:cNvPr id="20" name="Text 18"/>
          <p:cNvSpPr/>
          <p:nvPr/>
        </p:nvSpPr>
        <p:spPr>
          <a:xfrm>
            <a:off x="7388352" y="289864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14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684264" y="3721608"/>
            <a:ext cx="45354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the highest-value Design workflows by </a:t>
            </a:r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proven AI capabilities</a:t>
            </a:r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developing </a:t>
            </a:r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targeted workflow intelligence</a:t>
            </a:r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progressively </a:t>
            </a:r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connecting</a:t>
            </a:r>
            <a:pPr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Design knowledge, geometry, package, engineering, and cost information into trusted, reusable global capabilities.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684264" y="5248656"/>
            <a:ext cx="4535424" cy="0"/>
          </a:xfrm>
          <a:prstGeom prst="line">
            <a:avLst/>
          </a:prstGeom>
          <a:noFill/>
          <a:ln w="9525">
            <a:solidFill>
              <a:srgbClr val="514B91">
                <a:alpha val="4500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84264" y="5340096"/>
            <a:ext cx="45354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50" i="1" dirty="0">
                <a:solidFill>
                  <a:srgbClr val="6C72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roadmap turns Design ambition into portfolio discipline, value measurement, adoption, and reusable enterprise capability.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82296" cy="82296"/>
          </a:xfrm>
          <a:prstGeom prst="ellipse">
            <a:avLst/>
          </a:prstGeom>
          <a:solidFill>
            <a:srgbClr val="0070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560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AMPLIFIED</a:t>
            </a:r>
            <a:pPr algn="l" indent="0" marL="0">
              <a:buNone/>
            </a:pPr>
            <a:r>
              <a:rPr lang="en-US" sz="1050" spc="2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 TRANSFORMATION OFFICE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589520" y="25603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Amplified</a:t>
            </a:r>
            <a:pPr algn="l" indent="0" marL="0">
              <a:buNone/>
            </a:pPr>
            <a:r>
              <a:rPr lang="en-US" sz="9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Draft for alignment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241280" y="64556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10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66928" y="78638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35C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0607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10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friction is hidden — in information, repetition, and late constraints</a:t>
            </a:r>
            <a:endParaRPr lang="en-US" sz="3100" dirty="0"/>
          </a:p>
        </p:txBody>
      </p:sp>
      <p:sp>
        <p:nvSpPr>
          <p:cNvPr id="9" name="Text 7"/>
          <p:cNvSpPr/>
          <p:nvPr/>
        </p:nvSpPr>
        <p:spPr>
          <a:xfrm>
            <a:off x="566928" y="193852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 not a lack of creativity.  </a:t>
            </a:r>
            <a:pPr indent="0" marL="0">
              <a:buNone/>
            </a:pPr>
            <a:r>
              <a:rPr lang="en-US" sz="1900" b="1" dirty="0">
                <a:solidFill>
                  <a:srgbClr val="B35C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is lost capacity.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923544" y="2752344"/>
            <a:ext cx="2542032" cy="2542032"/>
          </a:xfrm>
          <a:prstGeom prst="ellipse">
            <a:avLst/>
          </a:prstGeom>
          <a:ln w="12700">
            <a:solidFill>
              <a:srgbClr val="007060">
                <a:alpha val="30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1560" y="2880360"/>
            <a:ext cx="2286000" cy="2286000"/>
          </a:xfrm>
          <a:prstGeom prst="ellipse">
            <a:avLst/>
          </a:prstGeom>
          <a:solidFill>
            <a:srgbClr val="F4F6FB"/>
          </a:solidFill>
          <a:ln w="15875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051560" y="34472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00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51560" y="3703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</a:t>
            </a:r>
            <a:endParaRPr lang="en-US" sz="2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Judgment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4160520" y="2743200"/>
            <a:ext cx="2432304" cy="1060704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379976" y="296265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B35C27"/>
          </a:solidFill>
          <a:ln/>
        </p:spPr>
      </p:sp>
      <p:sp>
        <p:nvSpPr>
          <p:cNvPr id="16" name="Text 14"/>
          <p:cNvSpPr/>
          <p:nvPr/>
        </p:nvSpPr>
        <p:spPr>
          <a:xfrm>
            <a:off x="4379976" y="3200400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Searching for knowledge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739128" y="2743200"/>
            <a:ext cx="2432304" cy="1060704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958584" y="296265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B35C27"/>
          </a:solidFill>
          <a:ln/>
        </p:spPr>
      </p:sp>
      <p:sp>
        <p:nvSpPr>
          <p:cNvPr id="19" name="Text 17"/>
          <p:cNvSpPr/>
          <p:nvPr/>
        </p:nvSpPr>
        <p:spPr>
          <a:xfrm>
            <a:off x="6958584" y="3200400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Preparing communication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9317736" y="2743200"/>
            <a:ext cx="2432304" cy="1060704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537192" y="296265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B35C27"/>
          </a:solidFill>
          <a:ln/>
        </p:spPr>
      </p:sp>
      <p:sp>
        <p:nvSpPr>
          <p:cNvPr id="22" name="Text 20"/>
          <p:cNvSpPr/>
          <p:nvPr/>
        </p:nvSpPr>
        <p:spPr>
          <a:xfrm>
            <a:off x="9537192" y="3200400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package constraints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4160520" y="3968496"/>
            <a:ext cx="2432304" cy="1060704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379976" y="418795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B35C27"/>
          </a:solidFill>
          <a:ln/>
        </p:spPr>
      </p:sp>
      <p:sp>
        <p:nvSpPr>
          <p:cNvPr id="25" name="Text 23"/>
          <p:cNvSpPr/>
          <p:nvPr/>
        </p:nvSpPr>
        <p:spPr>
          <a:xfrm>
            <a:off x="4379976" y="4425696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Repeating geometry tasks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739128" y="3968496"/>
            <a:ext cx="2432304" cy="1060704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958584" y="418795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B35C27"/>
          </a:solidFill>
          <a:ln/>
        </p:spPr>
      </p:sp>
      <p:sp>
        <p:nvSpPr>
          <p:cNvPr id="28" name="Text 26"/>
          <p:cNvSpPr/>
          <p:nvPr/>
        </p:nvSpPr>
        <p:spPr>
          <a:xfrm>
            <a:off x="6958584" y="4425696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BOM &amp; cost implications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9317736" y="3968496"/>
            <a:ext cx="2432304" cy="1060704"/>
          </a:xfrm>
          <a:prstGeom prst="roundRect">
            <a:avLst>
              <a:gd name="adj" fmla="val 8621"/>
            </a:avLst>
          </a:prstGeom>
          <a:solidFill>
            <a:srgbClr val="FFFFFF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537192" y="418795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B35C27"/>
          </a:solidFill>
          <a:ln/>
        </p:spPr>
      </p:sp>
      <p:sp>
        <p:nvSpPr>
          <p:cNvPr id="31" name="Text 29"/>
          <p:cNvSpPr/>
          <p:nvPr/>
        </p:nvSpPr>
        <p:spPr>
          <a:xfrm>
            <a:off x="9537192" y="4425696"/>
            <a:ext cx="202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reuse gaps</a:t>
            </a:r>
            <a:endParaRPr lang="en-US" sz="1350" dirty="0"/>
          </a:p>
        </p:txBody>
      </p:sp>
      <p:sp>
        <p:nvSpPr>
          <p:cNvPr id="32" name="Text 30"/>
          <p:cNvSpPr/>
          <p:nvPr/>
        </p:nvSpPr>
        <p:spPr>
          <a:xfrm>
            <a:off x="566928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Amplified gives </a:t>
            </a:r>
            <a:pPr algn="ctr" indent="0" marL="0">
              <a:buNone/>
            </a:pPr>
            <a:r>
              <a:rPr lang="en-US" sz="1550" b="1" dirty="0">
                <a:solidFill>
                  <a:srgbClr val="00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and context</a:t>
            </a:r>
            <a:pPr algn="ctr"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back to the people making the vehicle.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82296" cy="82296"/>
          </a:xfrm>
          <a:prstGeom prst="ellipse">
            <a:avLst/>
          </a:prstGeom>
          <a:solidFill>
            <a:srgbClr val="0070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560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AMPLIFIED</a:t>
            </a:r>
            <a:pPr algn="l" indent="0" marL="0">
              <a:buNone/>
            </a:pPr>
            <a:r>
              <a:rPr lang="en-US" sz="1050" spc="2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 TRANSFORMATION OFFICE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589520" y="25603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Amplified</a:t>
            </a:r>
            <a:pPr algn="l" indent="0" marL="0">
              <a:buNone/>
            </a:pPr>
            <a:r>
              <a:rPr lang="en-US" sz="9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Draft for alignment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241280" y="64556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10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66928" y="78638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ARCHITECTURE  ·  BREADTH-FIRST VIEW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0607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strategies, one progression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566928" y="18470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fulfills the one above it — from immediate capability, to targeted development, to long-term transformation.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66928" y="2432304"/>
            <a:ext cx="3529584" cy="3063240"/>
          </a:xfrm>
          <a:prstGeom prst="roundRect">
            <a:avLst>
              <a:gd name="adj" fmla="val 3881"/>
            </a:avLst>
          </a:prstGeom>
          <a:solidFill>
            <a:srgbClr val="FFFFFF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77824" y="26517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007060">
                    <a:alpha val="4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896112" y="3511296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00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NOW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96112" y="3803904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80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 Proven Creative Enablement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96112" y="466344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the capabilities already demonstrating value and turn them into repeatable, approved, measurable ways of working.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96112" y="499262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6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</a:t>
            </a:r>
            <a:pPr indent="0" marL="0">
              <a:buNone/>
            </a:pPr>
            <a:r>
              <a:rPr lang="en-US" sz="1150" b="1" dirty="0">
                <a:solidFill>
                  <a:srgbClr val="9AA0B0"/>
                </a:solidFill>
              </a:rPr>
              <a:t>initiatives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4315968" y="2432304"/>
            <a:ext cx="3529584" cy="3063240"/>
          </a:xfrm>
          <a:prstGeom prst="roundRect">
            <a:avLst>
              <a:gd name="adj" fmla="val 3881"/>
            </a:avLst>
          </a:prstGeom>
          <a:solidFill>
            <a:srgbClr val="FFFFFF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26864" y="26517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B35C27">
                    <a:alpha val="4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600" dirty="0"/>
          </a:p>
        </p:txBody>
      </p:sp>
      <p:sp>
        <p:nvSpPr>
          <p:cNvPr id="18" name="Text 16"/>
          <p:cNvSpPr/>
          <p:nvPr/>
        </p:nvSpPr>
        <p:spPr>
          <a:xfrm>
            <a:off x="4645152" y="3511296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B35C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NEXT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45152" y="3803904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80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 Intelligence in Critical Design Workflows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4645152" y="466344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structured discovery to convert high-potential opportunity areas into evidence-based products.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645152" y="499262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35C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</a:t>
            </a:r>
            <a:pPr indent="0" marL="0">
              <a:buNone/>
            </a:pPr>
            <a:r>
              <a:rPr lang="en-US" sz="1150" b="1" dirty="0">
                <a:solidFill>
                  <a:srgbClr val="9AA0B0"/>
                </a:solidFill>
              </a:rPr>
              <a:t>initiatives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8065008" y="2432304"/>
            <a:ext cx="3529584" cy="3063240"/>
          </a:xfrm>
          <a:prstGeom prst="roundRect">
            <a:avLst>
              <a:gd name="adj" fmla="val 3881"/>
            </a:avLst>
          </a:prstGeom>
          <a:solidFill>
            <a:srgbClr val="FFFFFF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375904" y="26517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514B91">
                    <a:alpha val="45000"/>
                  </a:srgb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600" dirty="0"/>
          </a:p>
        </p:txBody>
      </p:sp>
      <p:sp>
        <p:nvSpPr>
          <p:cNvPr id="24" name="Text 22"/>
          <p:cNvSpPr/>
          <p:nvPr/>
        </p:nvSpPr>
        <p:spPr>
          <a:xfrm>
            <a:off x="8394192" y="3511296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514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HORIZON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94192" y="3803904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80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Connected Design Intelligence &amp; Optimization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8394192" y="4663440"/>
            <a:ext cx="2926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trusted information and feedback loops across Design and adjacent enterprise systems.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94192" y="499262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14B9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</a:t>
            </a:r>
            <a:pPr indent="0" marL="0">
              <a:buNone/>
            </a:pPr>
            <a:r>
              <a:rPr lang="en-US" sz="1150" b="1" dirty="0">
                <a:solidFill>
                  <a:srgbClr val="9AA0B0"/>
                </a:solidFill>
              </a:rPr>
              <a:t>initiatives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1051560" y="5861304"/>
            <a:ext cx="128016" cy="128016"/>
          </a:xfrm>
          <a:prstGeom prst="ellipse">
            <a:avLst/>
          </a:prstGeom>
          <a:solidFill>
            <a:srgbClr val="007060"/>
          </a:solidFill>
          <a:ln/>
        </p:spPr>
      </p:sp>
      <p:sp>
        <p:nvSpPr>
          <p:cNvPr id="29" name="Text 27"/>
          <p:cNvSpPr/>
          <p:nvPr/>
        </p:nvSpPr>
        <p:spPr>
          <a:xfrm>
            <a:off x="1252728" y="5769864"/>
            <a:ext cx="1993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capability now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3246120" y="5751576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11880" y="5861304"/>
            <a:ext cx="128016" cy="128016"/>
          </a:xfrm>
          <a:prstGeom prst="ellipse">
            <a:avLst/>
          </a:prstGeom>
          <a:solidFill>
            <a:srgbClr val="B35C27"/>
          </a:solidFill>
          <a:ln/>
        </p:spPr>
      </p:sp>
      <p:sp>
        <p:nvSpPr>
          <p:cNvPr id="32" name="Text 30"/>
          <p:cNvSpPr/>
          <p:nvPr/>
        </p:nvSpPr>
        <p:spPr>
          <a:xfrm>
            <a:off x="3813048" y="5769864"/>
            <a:ext cx="344180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next wave through discovery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254850" y="5751576"/>
            <a:ext cx="365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7620610" y="5861304"/>
            <a:ext cx="128016" cy="128016"/>
          </a:xfrm>
          <a:prstGeom prst="ellipse">
            <a:avLst/>
          </a:prstGeom>
          <a:solidFill>
            <a:srgbClr val="514B91"/>
          </a:solidFill>
          <a:ln/>
        </p:spPr>
      </p:sp>
      <p:sp>
        <p:nvSpPr>
          <p:cNvPr id="35" name="Text 33"/>
          <p:cNvSpPr/>
          <p:nvPr/>
        </p:nvSpPr>
        <p:spPr>
          <a:xfrm>
            <a:off x="7821778" y="5769864"/>
            <a:ext cx="40855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intelligence across the product system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82296" cy="82296"/>
          </a:xfrm>
          <a:prstGeom prst="ellipse">
            <a:avLst/>
          </a:prstGeom>
          <a:solidFill>
            <a:srgbClr val="0070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560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AMPLIFIED</a:t>
            </a:r>
            <a:pPr algn="l" indent="0" marL="0">
              <a:buNone/>
            </a:pPr>
            <a:r>
              <a:rPr lang="en-US" sz="1050" spc="2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 TRANSFORMATION OFFICE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589520" y="25603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INITIATIVES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Amplified</a:t>
            </a:r>
            <a:pPr algn="l" indent="0" marL="0">
              <a:buNone/>
            </a:pPr>
            <a:r>
              <a:rPr lang="en-US" sz="9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Draft for alignment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241280" y="64556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10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66928" y="786384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 ·  ALL INITIATIVES, COLORED TO THEIR STRATEGY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060704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initiatives across the three strategies</a:t>
            </a:r>
            <a:endParaRPr lang="en-US" sz="3100" dirty="0"/>
          </a:p>
        </p:txBody>
      </p:sp>
      <p:sp>
        <p:nvSpPr>
          <p:cNvPr id="9" name="Shape 7"/>
          <p:cNvSpPr/>
          <p:nvPr/>
        </p:nvSpPr>
        <p:spPr>
          <a:xfrm>
            <a:off x="566928" y="1810512"/>
            <a:ext cx="3119933" cy="347472"/>
          </a:xfrm>
          <a:prstGeom prst="roundRect">
            <a:avLst>
              <a:gd name="adj" fmla="val 50000"/>
            </a:avLst>
          </a:prstGeom>
          <a:solidFill>
            <a:srgbClr val="E6F2F0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2938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007060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" y="1810512"/>
            <a:ext cx="275417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00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Proven Creative Enablement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851453" y="1810512"/>
            <a:ext cx="3906317" cy="347472"/>
          </a:xfrm>
          <a:prstGeom prst="roundRect">
            <a:avLst>
              <a:gd name="adj" fmla="val 50000"/>
            </a:avLst>
          </a:prstGeom>
          <a:solidFill>
            <a:srgbClr val="FAF1EA"/>
          </a:solidFill>
          <a:ln/>
        </p:spPr>
      </p:sp>
      <p:sp>
        <p:nvSpPr>
          <p:cNvPr id="13" name="Shape 11"/>
          <p:cNvSpPr/>
          <p:nvPr/>
        </p:nvSpPr>
        <p:spPr>
          <a:xfrm>
            <a:off x="3997757" y="192938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B35C27"/>
          </a:solidFill>
          <a:ln/>
        </p:spPr>
      </p:sp>
      <p:sp>
        <p:nvSpPr>
          <p:cNvPr id="14" name="Text 12"/>
          <p:cNvSpPr/>
          <p:nvPr/>
        </p:nvSpPr>
        <p:spPr>
          <a:xfrm>
            <a:off x="4180637" y="1810512"/>
            <a:ext cx="3540557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B35C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Intelligence in Critical Workflows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922362" y="1810512"/>
            <a:ext cx="3355848" cy="347472"/>
          </a:xfrm>
          <a:prstGeom prst="roundRect">
            <a:avLst>
              <a:gd name="adj" fmla="val 50000"/>
            </a:avLst>
          </a:prstGeom>
          <a:solidFill>
            <a:srgbClr val="ECEBF5"/>
          </a:solidFill>
          <a:ln/>
        </p:spPr>
      </p:sp>
      <p:sp>
        <p:nvSpPr>
          <p:cNvPr id="16" name="Shape 14"/>
          <p:cNvSpPr/>
          <p:nvPr/>
        </p:nvSpPr>
        <p:spPr>
          <a:xfrm>
            <a:off x="8068666" y="1929384"/>
            <a:ext cx="118872" cy="118872"/>
          </a:xfrm>
          <a:prstGeom prst="roundRect">
            <a:avLst>
              <a:gd name="adj" fmla="val 23077"/>
            </a:avLst>
          </a:prstGeom>
          <a:solidFill>
            <a:srgbClr val="514B91"/>
          </a:solidFill>
          <a:ln/>
        </p:spPr>
      </p:sp>
      <p:sp>
        <p:nvSpPr>
          <p:cNvPr id="17" name="Text 15"/>
          <p:cNvSpPr/>
          <p:nvPr/>
        </p:nvSpPr>
        <p:spPr>
          <a:xfrm>
            <a:off x="8251546" y="1810512"/>
            <a:ext cx="2990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514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Connected Design Intelligence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2322576"/>
            <a:ext cx="2729484" cy="1847088"/>
          </a:xfrm>
          <a:prstGeom prst="roundRect">
            <a:avLst>
              <a:gd name="adj" fmla="val 5446"/>
            </a:avLst>
          </a:prstGeom>
          <a:solidFill>
            <a:srgbClr val="FFFFFF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68096" y="252374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007060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08" dirty="0"/>
          </a:p>
        </p:txBody>
      </p:sp>
      <p:sp>
        <p:nvSpPr>
          <p:cNvPr id="21" name="Shape 19"/>
          <p:cNvSpPr/>
          <p:nvPr/>
        </p:nvSpPr>
        <p:spPr>
          <a:xfrm>
            <a:off x="2153412" y="2560320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E6F2F0"/>
          </a:solidFill>
          <a:ln/>
        </p:spPr>
      </p:sp>
      <p:sp>
        <p:nvSpPr>
          <p:cNvPr id="22" name="Text 20"/>
          <p:cNvSpPr/>
          <p:nvPr/>
        </p:nvSpPr>
        <p:spPr>
          <a:xfrm>
            <a:off x="2153412" y="25603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00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68096" y="2999232"/>
            <a:ext cx="23271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AI-Supported Visualization &amp; Concept Development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68096" y="3621024"/>
            <a:ext cx="23271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and communicate more high-quality alternatives, earlier — from idea to shared understanding.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470148" y="2322576"/>
            <a:ext cx="2729484" cy="1847088"/>
          </a:xfrm>
          <a:prstGeom prst="roundRect">
            <a:avLst>
              <a:gd name="adj" fmla="val 5446"/>
            </a:avLst>
          </a:prstGeom>
          <a:solidFill>
            <a:srgbClr val="FFFFFF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71316" y="252374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007060"/>
          </a:solidFill>
          <a:ln/>
        </p:spPr>
      </p:sp>
      <p:sp>
        <p:nvSpPr>
          <p:cNvPr id="27" name="Text 25"/>
          <p:cNvSpPr/>
          <p:nvPr/>
        </p:nvSpPr>
        <p:spPr>
          <a:xfrm>
            <a:off x="3671316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8" dirty="0"/>
          </a:p>
        </p:txBody>
      </p:sp>
      <p:sp>
        <p:nvSpPr>
          <p:cNvPr id="28" name="Shape 26"/>
          <p:cNvSpPr/>
          <p:nvPr/>
        </p:nvSpPr>
        <p:spPr>
          <a:xfrm>
            <a:off x="5056632" y="2560320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E6F2F0"/>
          </a:solidFill>
          <a:ln/>
        </p:spPr>
      </p:sp>
      <p:sp>
        <p:nvSpPr>
          <p:cNvPr id="29" name="Text 27"/>
          <p:cNvSpPr/>
          <p:nvPr/>
        </p:nvSpPr>
        <p:spPr>
          <a:xfrm>
            <a:off x="5056632" y="25603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00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1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71316" y="2999232"/>
            <a:ext cx="23271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Workflow-Based AI Training &amp; Adoption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3671316" y="3621024"/>
            <a:ext cx="23271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practical AI proficiency inside real Design work — behavior change, not just licenses.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373368" y="2322576"/>
            <a:ext cx="2729484" cy="1847088"/>
          </a:xfrm>
          <a:prstGeom prst="roundRect">
            <a:avLst>
              <a:gd name="adj" fmla="val 5446"/>
            </a:avLst>
          </a:prstGeom>
          <a:solidFill>
            <a:srgbClr val="FFFFFF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6574536" y="252374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B35C27"/>
          </a:solidFill>
          <a:ln/>
        </p:spPr>
      </p:sp>
      <p:sp>
        <p:nvSpPr>
          <p:cNvPr id="34" name="Text 32"/>
          <p:cNvSpPr/>
          <p:nvPr/>
        </p:nvSpPr>
        <p:spPr>
          <a:xfrm>
            <a:off x="6574536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8" dirty="0"/>
          </a:p>
        </p:txBody>
      </p:sp>
      <p:sp>
        <p:nvSpPr>
          <p:cNvPr id="35" name="Shape 33"/>
          <p:cNvSpPr/>
          <p:nvPr/>
        </p:nvSpPr>
        <p:spPr>
          <a:xfrm>
            <a:off x="7959852" y="2560320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AF1EA"/>
          </a:solidFill>
          <a:ln/>
        </p:spPr>
      </p:sp>
      <p:sp>
        <p:nvSpPr>
          <p:cNvPr id="36" name="Text 34"/>
          <p:cNvSpPr/>
          <p:nvPr/>
        </p:nvSpPr>
        <p:spPr>
          <a:xfrm>
            <a:off x="7959852" y="25603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B35C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2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574536" y="2999232"/>
            <a:ext cx="23271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Knowledge Capture &amp; Retrieval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574536" y="3621024"/>
            <a:ext cx="23271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governed, searchable memory for Design reviews, decisions, and historical programs.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9276588" y="2322576"/>
            <a:ext cx="2729484" cy="1847088"/>
          </a:xfrm>
          <a:prstGeom prst="roundRect">
            <a:avLst>
              <a:gd name="adj" fmla="val 5446"/>
            </a:avLst>
          </a:prstGeom>
          <a:solidFill>
            <a:srgbClr val="FFFFFF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9477756" y="2523744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B35C27"/>
          </a:solidFill>
          <a:ln/>
        </p:spPr>
      </p:sp>
      <p:sp>
        <p:nvSpPr>
          <p:cNvPr id="41" name="Text 39"/>
          <p:cNvSpPr/>
          <p:nvPr/>
        </p:nvSpPr>
        <p:spPr>
          <a:xfrm>
            <a:off x="9477756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8" dirty="0"/>
          </a:p>
        </p:txBody>
      </p:sp>
      <p:sp>
        <p:nvSpPr>
          <p:cNvPr id="42" name="Shape 40"/>
          <p:cNvSpPr/>
          <p:nvPr/>
        </p:nvSpPr>
        <p:spPr>
          <a:xfrm>
            <a:off x="10863072" y="2560320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AF1EA"/>
          </a:solidFill>
          <a:ln/>
        </p:spPr>
      </p:sp>
      <p:sp>
        <p:nvSpPr>
          <p:cNvPr id="43" name="Text 41"/>
          <p:cNvSpPr/>
          <p:nvPr/>
        </p:nvSpPr>
        <p:spPr>
          <a:xfrm>
            <a:off x="10863072" y="256032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B35C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2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477756" y="2999232"/>
            <a:ext cx="23271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Vehicle Packaging Intelligence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9477756" y="3621024"/>
            <a:ext cx="23271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access to trusted package knowledge, comparisons, and constraints — while Design is flexible.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66928" y="4315968"/>
            <a:ext cx="2729484" cy="1847088"/>
          </a:xfrm>
          <a:prstGeom prst="roundRect">
            <a:avLst>
              <a:gd name="adj" fmla="val 5446"/>
            </a:avLst>
          </a:prstGeom>
          <a:solidFill>
            <a:srgbClr val="FFFFFF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768096" y="4517136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B35C27"/>
          </a:solidFill>
          <a:ln/>
        </p:spPr>
      </p:sp>
      <p:sp>
        <p:nvSpPr>
          <p:cNvPr id="48" name="Text 46"/>
          <p:cNvSpPr/>
          <p:nvPr/>
        </p:nvSpPr>
        <p:spPr>
          <a:xfrm>
            <a:off x="768096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8" dirty="0"/>
          </a:p>
        </p:txBody>
      </p:sp>
      <p:sp>
        <p:nvSpPr>
          <p:cNvPr id="49" name="Shape 47"/>
          <p:cNvSpPr/>
          <p:nvPr/>
        </p:nvSpPr>
        <p:spPr>
          <a:xfrm>
            <a:off x="2153412" y="455371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FAF1EA"/>
          </a:solidFill>
          <a:ln/>
        </p:spPr>
      </p:sp>
      <p:sp>
        <p:nvSpPr>
          <p:cNvPr id="50" name="Text 48"/>
          <p:cNvSpPr/>
          <p:nvPr/>
        </p:nvSpPr>
        <p:spPr>
          <a:xfrm>
            <a:off x="2153412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B35C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2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8096" y="4992624"/>
            <a:ext cx="23271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3D Surface Geometry Automation</a:t>
            </a:r>
            <a:endParaRPr lang="en-US" sz="1250" dirty="0"/>
          </a:p>
        </p:txBody>
      </p:sp>
      <p:sp>
        <p:nvSpPr>
          <p:cNvPr id="52" name="Text 50"/>
          <p:cNvSpPr/>
          <p:nvPr/>
        </p:nvSpPr>
        <p:spPr>
          <a:xfrm>
            <a:off x="768096" y="5614416"/>
            <a:ext cx="23271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repetitive geometry tasks under expert control — freeing time for visible Design quality.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470148" y="4315968"/>
            <a:ext cx="2729484" cy="1847088"/>
          </a:xfrm>
          <a:prstGeom prst="roundRect">
            <a:avLst>
              <a:gd name="adj" fmla="val 5446"/>
            </a:avLst>
          </a:prstGeom>
          <a:solidFill>
            <a:srgbClr val="FFFFFF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3671316" y="4517136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514B91"/>
          </a:solidFill>
          <a:ln/>
        </p:spPr>
      </p:sp>
      <p:sp>
        <p:nvSpPr>
          <p:cNvPr id="55" name="Text 53"/>
          <p:cNvSpPr/>
          <p:nvPr/>
        </p:nvSpPr>
        <p:spPr>
          <a:xfrm>
            <a:off x="3671316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8" dirty="0"/>
          </a:p>
        </p:txBody>
      </p:sp>
      <p:sp>
        <p:nvSpPr>
          <p:cNvPr id="56" name="Shape 54"/>
          <p:cNvSpPr/>
          <p:nvPr/>
        </p:nvSpPr>
        <p:spPr>
          <a:xfrm>
            <a:off x="5056632" y="455371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ECEBF5"/>
          </a:solidFill>
          <a:ln/>
        </p:spPr>
      </p:sp>
      <p:sp>
        <p:nvSpPr>
          <p:cNvPr id="57" name="Text 55"/>
          <p:cNvSpPr/>
          <p:nvPr/>
        </p:nvSpPr>
        <p:spPr>
          <a:xfrm>
            <a:off x="5056632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514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3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3671316" y="4992624"/>
            <a:ext cx="23271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Design-to-BOM &amp; Cost-of-Change Intelligence</a:t>
            </a:r>
            <a:endParaRPr lang="en-US" sz="1250" dirty="0"/>
          </a:p>
        </p:txBody>
      </p:sp>
      <p:sp>
        <p:nvSpPr>
          <p:cNvPr id="59" name="Text 57"/>
          <p:cNvSpPr/>
          <p:nvPr/>
        </p:nvSpPr>
        <p:spPr>
          <a:xfrm>
            <a:off x="3671316" y="5614416"/>
            <a:ext cx="23271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visibility into how a Design change ripples into parts, cost, suppliers, tooling, and timing.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6373368" y="4315968"/>
            <a:ext cx="2729484" cy="1847088"/>
          </a:xfrm>
          <a:prstGeom prst="roundRect">
            <a:avLst>
              <a:gd name="adj" fmla="val 5446"/>
            </a:avLst>
          </a:prstGeom>
          <a:solidFill>
            <a:srgbClr val="FFFFFF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61" name="Shape 59"/>
          <p:cNvSpPr/>
          <p:nvPr/>
        </p:nvSpPr>
        <p:spPr>
          <a:xfrm>
            <a:off x="6574536" y="4517136"/>
            <a:ext cx="384048" cy="384048"/>
          </a:xfrm>
          <a:prstGeom prst="roundRect">
            <a:avLst>
              <a:gd name="adj" fmla="val 28000"/>
            </a:avLst>
          </a:prstGeom>
          <a:solidFill>
            <a:srgbClr val="514B91"/>
          </a:solidFill>
          <a:ln/>
        </p:spPr>
      </p:sp>
      <p:sp>
        <p:nvSpPr>
          <p:cNvPr id="62" name="Text 60"/>
          <p:cNvSpPr/>
          <p:nvPr/>
        </p:nvSpPr>
        <p:spPr>
          <a:xfrm>
            <a:off x="6574536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8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8" dirty="0"/>
          </a:p>
        </p:txBody>
      </p:sp>
      <p:sp>
        <p:nvSpPr>
          <p:cNvPr id="63" name="Shape 61"/>
          <p:cNvSpPr/>
          <p:nvPr/>
        </p:nvSpPr>
        <p:spPr>
          <a:xfrm>
            <a:off x="7959852" y="4553712"/>
            <a:ext cx="960120" cy="274320"/>
          </a:xfrm>
          <a:prstGeom prst="roundRect">
            <a:avLst>
              <a:gd name="adj" fmla="val 50000"/>
            </a:avLst>
          </a:prstGeom>
          <a:solidFill>
            <a:srgbClr val="ECEBF5"/>
          </a:solidFill>
          <a:ln/>
        </p:spPr>
      </p:sp>
      <p:sp>
        <p:nvSpPr>
          <p:cNvPr id="64" name="Text 62"/>
          <p:cNvSpPr/>
          <p:nvPr/>
        </p:nvSpPr>
        <p:spPr>
          <a:xfrm>
            <a:off x="7959852" y="4553712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514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3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6574536" y="4992624"/>
            <a:ext cx="232714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Connected Design Intelligence &amp; Optimization</a:t>
            </a:r>
            <a:endParaRPr lang="en-US" sz="1250" dirty="0"/>
          </a:p>
        </p:txBody>
      </p:sp>
      <p:sp>
        <p:nvSpPr>
          <p:cNvPr id="66" name="Text 64"/>
          <p:cNvSpPr/>
          <p:nvPr/>
        </p:nvSpPr>
        <p:spPr>
          <a:xfrm>
            <a:off x="6574536" y="5614416"/>
            <a:ext cx="23271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executive initiative, two execution workstreams.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6574536" y="5870448"/>
            <a:ext cx="1900123" cy="219456"/>
          </a:xfrm>
          <a:prstGeom prst="roundRect">
            <a:avLst>
              <a:gd name="adj" fmla="val 25000"/>
            </a:avLst>
          </a:prstGeom>
          <a:solidFill>
            <a:srgbClr val="ECEBF5"/>
          </a:solidFill>
          <a:ln/>
        </p:spPr>
      </p:sp>
      <p:sp>
        <p:nvSpPr>
          <p:cNvPr id="68" name="Text 66"/>
          <p:cNvSpPr/>
          <p:nvPr/>
        </p:nvSpPr>
        <p:spPr>
          <a:xfrm>
            <a:off x="6574536" y="5870448"/>
            <a:ext cx="190012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14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7A · Design Intelligence Fabric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8566099" y="5870448"/>
            <a:ext cx="1794053" cy="219456"/>
          </a:xfrm>
          <a:prstGeom prst="roundRect">
            <a:avLst>
              <a:gd name="adj" fmla="val 25000"/>
            </a:avLst>
          </a:prstGeom>
          <a:solidFill>
            <a:srgbClr val="ECEBF5"/>
          </a:solidFill>
          <a:ln/>
        </p:spPr>
      </p:sp>
      <p:sp>
        <p:nvSpPr>
          <p:cNvPr id="70" name="Text 68"/>
          <p:cNvSpPr/>
          <p:nvPr/>
        </p:nvSpPr>
        <p:spPr>
          <a:xfrm>
            <a:off x="8566099" y="5870448"/>
            <a:ext cx="179405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14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7B · Closed-Loop Optimization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9368028" y="4498848"/>
            <a:ext cx="254660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initiative traces to a strategy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and every strategy to the </a:t>
            </a:r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0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isolated pilots.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82296" cy="82296"/>
          </a:xfrm>
          <a:prstGeom prst="ellipse">
            <a:avLst/>
          </a:prstGeom>
          <a:solidFill>
            <a:srgbClr val="0070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560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AMPLIFIED</a:t>
            </a:r>
            <a:pPr algn="l" indent="0" marL="0">
              <a:buNone/>
            </a:pPr>
            <a:r>
              <a:rPr lang="en-US" sz="1050" spc="2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 TRANSFORMATION OFFICE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589520" y="25603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Amplified</a:t>
            </a:r>
            <a:pPr algn="l" indent="0" marL="0">
              <a:buNone/>
            </a:pPr>
            <a:r>
              <a:rPr lang="en-US" sz="9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Draft for alignment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241280" y="64556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10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66928" y="78638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 · B · C · D ROADMAP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0607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integrated view of the progression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566928" y="18470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lanes flow left-to-right as capability grows — the whole transformation visible at once, stopping at initiative level.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2487168" y="23225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971800" y="2377440"/>
            <a:ext cx="18402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487168" y="2724912"/>
            <a:ext cx="2114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establish control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784598" y="23225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269230" y="2377440"/>
            <a:ext cx="18402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4784598" y="2724912"/>
            <a:ext cx="2114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Discover, prove, build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66310" y="2971800"/>
            <a:ext cx="0" cy="2990088"/>
          </a:xfrm>
          <a:prstGeom prst="line">
            <a:avLst/>
          </a:prstGeom>
          <a:noFill/>
          <a:ln w="12700">
            <a:solidFill>
              <a:srgbClr val="E4E7EF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7082028" y="23225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566660" y="2377440"/>
            <a:ext cx="18402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2–4 YEARS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082028" y="2724912"/>
            <a:ext cx="2114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&amp; scale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63740" y="2971800"/>
            <a:ext cx="0" cy="2990088"/>
          </a:xfrm>
          <a:prstGeom prst="line">
            <a:avLst/>
          </a:prstGeom>
          <a:noFill/>
          <a:ln w="12700">
            <a:solidFill>
              <a:srgbClr val="E4E7EF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9379458" y="232257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864090" y="2377440"/>
            <a:ext cx="18402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379458" y="2724912"/>
            <a:ext cx="21145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Amplified end state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361170" y="2971800"/>
            <a:ext cx="0" cy="2990088"/>
          </a:xfrm>
          <a:prstGeom prst="line">
            <a:avLst/>
          </a:prstGeom>
          <a:noFill/>
          <a:ln w="12700">
            <a:solidFill>
              <a:srgbClr val="E4E7EF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66928" y="3072384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00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Proven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00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Enablement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66928" y="3593592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1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468880" y="3017520"/>
            <a:ext cx="9189720" cy="886968"/>
          </a:xfrm>
          <a:prstGeom prst="roundRect">
            <a:avLst>
              <a:gd name="adj" fmla="val 6186"/>
            </a:avLst>
          </a:prstGeom>
          <a:solidFill>
            <a:srgbClr val="E6F2F0">
              <a:alpha val="55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523744" y="3105912"/>
            <a:ext cx="6782562" cy="310896"/>
          </a:xfrm>
          <a:prstGeom prst="roundRect">
            <a:avLst>
              <a:gd name="adj" fmla="val 23529"/>
            </a:avLst>
          </a:prstGeom>
          <a:solidFill>
            <a:srgbClr val="007060"/>
          </a:solidFill>
          <a:ln/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2651760" y="3220212"/>
            <a:ext cx="82296" cy="822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2834640" y="3105912"/>
            <a:ext cx="63802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Visualization + concept development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523744" y="3505200"/>
            <a:ext cx="6782562" cy="310896"/>
          </a:xfrm>
          <a:prstGeom prst="roundRect">
            <a:avLst>
              <a:gd name="adj" fmla="val 23529"/>
            </a:avLst>
          </a:prstGeom>
          <a:solidFill>
            <a:srgbClr val="007060"/>
          </a:solidFill>
          <a:ln/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651760" y="3619500"/>
            <a:ext cx="82296" cy="822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2834640" y="3505200"/>
            <a:ext cx="638022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AI training + adoption  ·  portfolio control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566928" y="4078224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B35C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 Intelligence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B35C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Critical Workflows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66928" y="4599432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2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2468880" y="4023360"/>
            <a:ext cx="9189720" cy="886968"/>
          </a:xfrm>
          <a:prstGeom prst="roundRect">
            <a:avLst>
              <a:gd name="adj" fmla="val 6186"/>
            </a:avLst>
          </a:prstGeom>
          <a:solidFill>
            <a:srgbClr val="FAF1EA">
              <a:alpha val="55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3672459" y="4111752"/>
            <a:ext cx="1038987" cy="310896"/>
          </a:xfrm>
          <a:prstGeom prst="roundRect">
            <a:avLst>
              <a:gd name="adj" fmla="val 23529"/>
            </a:avLst>
          </a:prstGeom>
          <a:ln w="15875">
            <a:solidFill>
              <a:srgbClr val="B35C27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3763899" y="4111752"/>
            <a:ext cx="856107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35C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charters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821174" y="4511040"/>
            <a:ext cx="4485132" cy="310896"/>
          </a:xfrm>
          <a:prstGeom prst="roundRect">
            <a:avLst>
              <a:gd name="adj" fmla="val 23529"/>
            </a:avLst>
          </a:prstGeom>
          <a:solidFill>
            <a:srgbClr val="B35C27"/>
          </a:solidFill>
          <a:ln/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4949190" y="4625340"/>
            <a:ext cx="82296" cy="822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5132070" y="4511040"/>
            <a:ext cx="4082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capture · Packaging intelligence · 3D geometry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66928" y="5084064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514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Connected</a:t>
            </a:r>
            <a:endParaRPr lang="en-US" sz="11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150" b="1" dirty="0">
                <a:solidFill>
                  <a:srgbClr val="514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Intelligence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566928" y="5605272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3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2468880" y="5029200"/>
            <a:ext cx="9189720" cy="886968"/>
          </a:xfrm>
          <a:prstGeom prst="roundRect">
            <a:avLst>
              <a:gd name="adj" fmla="val 6186"/>
            </a:avLst>
          </a:prstGeom>
          <a:solidFill>
            <a:srgbClr val="ECEBF5">
              <a:alpha val="55000"/>
            </a:srgbClr>
          </a:solidFill>
          <a:ln/>
        </p:spPr>
      </p:sp>
      <p:sp>
        <p:nvSpPr>
          <p:cNvPr id="45" name="Shape 43"/>
          <p:cNvSpPr/>
          <p:nvPr/>
        </p:nvSpPr>
        <p:spPr>
          <a:xfrm>
            <a:off x="7118604" y="5117592"/>
            <a:ext cx="4485132" cy="310896"/>
          </a:xfrm>
          <a:prstGeom prst="roundRect">
            <a:avLst>
              <a:gd name="adj" fmla="val 23529"/>
            </a:avLst>
          </a:prstGeom>
          <a:solidFill>
            <a:srgbClr val="514B91"/>
          </a:solidFill>
          <a:ln/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7246620" y="5231892"/>
            <a:ext cx="82296" cy="822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7429500" y="5117592"/>
            <a:ext cx="40827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Design-to-BOM · Design Intelligence Fabric · optimization pilots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9416034" y="5516880"/>
            <a:ext cx="2187702" cy="310896"/>
          </a:xfrm>
          <a:prstGeom prst="roundRect">
            <a:avLst>
              <a:gd name="adj" fmla="val 23529"/>
            </a:avLst>
          </a:prstGeom>
          <a:solidFill>
            <a:srgbClr val="514B91"/>
          </a:solidFill>
          <a:ln/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9544050" y="5631180"/>
            <a:ext cx="82296" cy="822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0" name="Text 48"/>
          <p:cNvSpPr/>
          <p:nvPr/>
        </p:nvSpPr>
        <p:spPr>
          <a:xfrm>
            <a:off x="9726930" y="5516880"/>
            <a:ext cx="178536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Design-development system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66928" y="6126480"/>
            <a:ext cx="237744" cy="237744"/>
          </a:xfrm>
          <a:prstGeom prst="roundRect">
            <a:avLst>
              <a:gd name="adj" fmla="val 19231"/>
            </a:avLst>
          </a:prstGeom>
          <a:ln w="19050">
            <a:solidFill>
              <a:srgbClr val="9AA0B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30936" y="6144768"/>
            <a:ext cx="109728" cy="91440"/>
          </a:xfrm>
          <a:prstGeom prst="roundRect">
            <a:avLst>
              <a:gd name="adj" fmla="val 20000"/>
            </a:avLst>
          </a:prstGeom>
          <a:ln w="19050">
            <a:solidFill>
              <a:srgbClr val="9AA0B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6089904"/>
            <a:ext cx="10607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roadmap stops at strategy &amp; initiative level.</a:t>
            </a:r>
            <a:pPr indent="0" marL="0">
              <a:buNone/>
            </a:pPr>
            <a:r>
              <a:rPr lang="en-US" sz="120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Stage-gates, data readiness, owners, and metrics move to the AITO execution review.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82296" cy="82296"/>
          </a:xfrm>
          <a:prstGeom prst="ellipse">
            <a:avLst/>
          </a:prstGeom>
          <a:solidFill>
            <a:srgbClr val="0070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560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AMPLIFIED</a:t>
            </a:r>
            <a:pPr algn="l" indent="0" marL="0">
              <a:buNone/>
            </a:pPr>
            <a:r>
              <a:rPr lang="en-US" sz="1050" spc="2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 TRANSFORMATION OFFICE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589520" y="25603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AITO EVIDENCE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Amplified</a:t>
            </a:r>
            <a:pPr algn="l" indent="0" marL="0">
              <a:buNone/>
            </a:pPr>
            <a:r>
              <a:rPr lang="en-US" sz="9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Draft for alignment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241280" y="64556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10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566928" y="78638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TRANSLATION FOR THE AI TRANSFORMATION OFFICE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8640" y="1060704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story becomes operating evidence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566928" y="184708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executive questions map cleanly to the operational evidence AITO uses to judge readiness — the deck and the portfolio review are one narrative at two altitudes.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66928" y="2542032"/>
            <a:ext cx="2697480" cy="301752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41248" y="2852928"/>
            <a:ext cx="457200" cy="457200"/>
          </a:xfrm>
          <a:prstGeom prst="ellipse">
            <a:avLst/>
          </a:prstGeom>
          <a:solidFill>
            <a:srgbClr val="007060"/>
          </a:solidFill>
          <a:ln/>
        </p:spPr>
      </p:sp>
      <p:sp>
        <p:nvSpPr>
          <p:cNvPr id="12" name="Text 10"/>
          <p:cNvSpPr/>
          <p:nvPr/>
        </p:nvSpPr>
        <p:spPr>
          <a:xfrm>
            <a:off x="841248" y="2843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35608" y="285292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WHY?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9536" y="347472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41248" y="38404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007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RATIONALE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41248" y="411480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problem, strategic fit, priority logic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41248" y="4828032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matters, why AI is relevant, and why it deserves priority.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383280" y="2542032"/>
            <a:ext cx="2697480" cy="301752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657600" y="2852928"/>
            <a:ext cx="457200" cy="457200"/>
          </a:xfrm>
          <a:prstGeom prst="ellipse">
            <a:avLst/>
          </a:prstGeom>
          <a:solidFill>
            <a:srgbClr val="B35C27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0" y="2843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251960" y="285292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675888" y="347472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657600" y="38404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B35C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COMMITMENTS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57600" y="411480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Milestones, owners, resources, dependencies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3657600" y="4828032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gates, timing, and scope boundaries.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99632" y="2542032"/>
            <a:ext cx="2697480" cy="301752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473952" y="2852928"/>
            <a:ext cx="457200" cy="457200"/>
          </a:xfrm>
          <a:prstGeom prst="ellipse">
            <a:avLst/>
          </a:prstGeom>
          <a:solidFill>
            <a:srgbClr val="514B91"/>
          </a:solidFill>
          <a:ln/>
        </p:spPr>
      </p:sp>
      <p:sp>
        <p:nvSpPr>
          <p:cNvPr id="28" name="Text 26"/>
          <p:cNvSpPr/>
          <p:nvPr/>
        </p:nvSpPr>
        <p:spPr>
          <a:xfrm>
            <a:off x="6473952" y="2843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068312" y="285292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92240" y="347472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473952" y="38404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514B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+ ADOPTION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473952" y="411480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Cycle time, active use, cost avoided, reuse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6473952" y="4828032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KPIs and financial outcomes measured against the business case.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9015984" y="2542032"/>
            <a:ext cx="2697480" cy="3017520"/>
          </a:xfrm>
          <a:prstGeom prst="roundRect">
            <a:avLst>
              <a:gd name="adj" fmla="val 4068"/>
            </a:avLst>
          </a:prstGeom>
          <a:solidFill>
            <a:srgbClr val="FFFFFF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9290304" y="2852928"/>
            <a:ext cx="457200" cy="457200"/>
          </a:xfrm>
          <a:prstGeom prst="ellipse">
            <a:avLst/>
          </a:prstGeom>
          <a:solidFill>
            <a:srgbClr val="141E3D"/>
          </a:solidFill>
          <a:ln/>
        </p:spPr>
      </p:sp>
      <p:sp>
        <p:nvSpPr>
          <p:cNvPr id="36" name="Text 34"/>
          <p:cNvSpPr/>
          <p:nvPr/>
        </p:nvSpPr>
        <p:spPr>
          <a:xfrm>
            <a:off x="9290304" y="28437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9884664" y="285292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308592" y="347472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9290304" y="3840480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DEFINITION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9290304" y="411480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Users, workflows, data, governance, regions</a:t>
            </a:r>
            <a:endParaRPr lang="en-US" sz="1450" dirty="0"/>
          </a:p>
        </p:txBody>
      </p:sp>
      <p:sp>
        <p:nvSpPr>
          <p:cNvPr id="41" name="Text 39"/>
          <p:cNvSpPr/>
          <p:nvPr/>
        </p:nvSpPr>
        <p:spPr>
          <a:xfrm>
            <a:off x="9290304" y="4828032"/>
            <a:ext cx="21945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regional implications, and production support.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66928" y="577900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AITO sees a </a:t>
            </a:r>
            <a:pPr algn="ctr" indent="0" marL="0">
              <a:buNone/>
            </a:pPr>
            <a:r>
              <a:rPr lang="en-US" sz="1450" b="1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governed portfolio</a:t>
            </a:r>
            <a:pPr algn="ctr" indent="0" marL="0">
              <a:buNone/>
            </a:pPr>
            <a:r>
              <a:rPr lang="en-US" sz="14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moves from discovery → pilot → scale, with measurable value and adoption at every maturity level.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4754880"/>
            <a:ext cx="3657600" cy="3657600"/>
          </a:xfrm>
          <a:prstGeom prst="ellipse">
            <a:avLst/>
          </a:prstGeom>
          <a:solidFill>
            <a:srgbClr val="007060">
              <a:alpha val="1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365760"/>
            <a:ext cx="82296" cy="82296"/>
          </a:xfrm>
          <a:prstGeom prst="ellipse">
            <a:avLst/>
          </a:prstGeom>
          <a:solidFill>
            <a:srgbClr val="4FD0BE"/>
          </a:solidFill>
          <a:ln/>
        </p:spPr>
      </p:sp>
      <p:sp>
        <p:nvSpPr>
          <p:cNvPr id="4" name="Text 2"/>
          <p:cNvSpPr/>
          <p:nvPr/>
        </p:nvSpPr>
        <p:spPr>
          <a:xfrm>
            <a:off x="713232" y="2560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AMPLIFIED</a:t>
            </a:r>
            <a:pPr algn="l" indent="0" marL="0">
              <a:buNone/>
            </a:pPr>
            <a:r>
              <a:rPr lang="en-US" sz="1050" spc="200" kern="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 TRANSFORMATION OFFICE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589520" y="25603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POSITIONING &amp; NEXT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66928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Amplified</a:t>
            </a:r>
            <a:pPr algn="l" indent="0" marL="0">
              <a:buNone/>
            </a:pPr>
            <a:r>
              <a:rPr lang="en-US" sz="95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Draft for alignment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0241280" y="64556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10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786384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POSITIONING &amp; NEXT STEPS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8640" y="1060704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Ready to move with purpose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566928" y="2139696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007060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1305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056" dirty="0"/>
          </a:p>
        </p:txBody>
      </p:sp>
      <p:sp>
        <p:nvSpPr>
          <p:cNvPr id="12" name="Text 10"/>
          <p:cNvSpPr/>
          <p:nvPr/>
        </p:nvSpPr>
        <p:spPr>
          <a:xfrm>
            <a:off x="1133856" y="2093976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D9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will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D9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where evidence already exists.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66928" y="2889504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B35C27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2880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056" dirty="0"/>
          </a:p>
        </p:txBody>
      </p:sp>
      <p:sp>
        <p:nvSpPr>
          <p:cNvPr id="15" name="Text 13"/>
          <p:cNvSpPr/>
          <p:nvPr/>
        </p:nvSpPr>
        <p:spPr>
          <a:xfrm>
            <a:off x="1133856" y="2843784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D9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will run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disciplined discovery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D9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where the opportunity is strong but the problem, data, or solution needs definition.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3639312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514B91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6301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056" dirty="0"/>
          </a:p>
        </p:txBody>
      </p:sp>
      <p:sp>
        <p:nvSpPr>
          <p:cNvPr id="18" name="Text 16"/>
          <p:cNvSpPr/>
          <p:nvPr/>
        </p:nvSpPr>
        <p:spPr>
          <a:xfrm>
            <a:off x="1133856" y="35935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D9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will build the strategic foundation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incrementally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D9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as trusted data and validated use cases become available.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66928" y="4389120"/>
            <a:ext cx="402336" cy="402336"/>
          </a:xfrm>
          <a:prstGeom prst="roundRect">
            <a:avLst>
              <a:gd name="adj" fmla="val 28000"/>
            </a:avLst>
          </a:prstGeom>
          <a:solidFill>
            <a:srgbClr val="34406B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" y="4379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6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1056" dirty="0"/>
          </a:p>
        </p:txBody>
      </p:sp>
      <p:sp>
        <p:nvSpPr>
          <p:cNvPr id="21" name="Text 19"/>
          <p:cNvSpPr/>
          <p:nvPr/>
        </p:nvSpPr>
        <p:spPr>
          <a:xfrm>
            <a:off x="1133856" y="43434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D9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roadmap becomes </a:t>
            </a:r>
            <a:pPr indent="0" marL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precise as evidence grows</a:t>
            </a:r>
            <a:pPr indent="0" marL="0">
              <a:lnSpc>
                <a:spcPct val="102000"/>
              </a:lnSpc>
              <a:buNone/>
            </a:pPr>
            <a:r>
              <a:rPr lang="en-US" sz="1300" dirty="0">
                <a:solidFill>
                  <a:srgbClr val="D9D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03504" y="5230368"/>
            <a:ext cx="0" cy="914400"/>
          </a:xfrm>
          <a:prstGeom prst="line">
            <a:avLst/>
          </a:prstGeom>
          <a:noFill/>
          <a:ln w="31750">
            <a:solidFill>
              <a:srgbClr val="514B9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5175504"/>
            <a:ext cx="5349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9AA6C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not uncertainty without direction. It is an intentional transformation model that protects investment, accelerates learning, and directs resources toward the opportunities most capable of changing how Design works.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0" y="1554480"/>
            <a:ext cx="5212080" cy="4663440"/>
          </a:xfrm>
          <a:prstGeom prst="roundRect">
            <a:avLst>
              <a:gd name="adj" fmla="val 2745"/>
            </a:avLst>
          </a:prstGeom>
          <a:solidFill>
            <a:srgbClr val="1E2761"/>
          </a:solidFill>
          <a:ln w="12700">
            <a:solidFill>
              <a:srgbClr val="34406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0" y="18653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TO MOVE FROM ALIGNMENT TO EXECUTION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766560" y="230428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FD0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150608" y="2286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portfolio framing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7150608" y="25420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now · develop next · strategic horizon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766560" y="2880360"/>
            <a:ext cx="4480560" cy="0"/>
          </a:xfrm>
          <a:prstGeom prst="line">
            <a:avLst/>
          </a:prstGeom>
          <a:noFill/>
          <a:ln w="9525">
            <a:solidFill>
              <a:srgbClr val="34406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766560" y="2907792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FD0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7150608" y="288950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core Hub roles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150608" y="314553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Portfolio, product, data, engineering, analyst, regional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766560" y="3483864"/>
            <a:ext cx="4480560" cy="0"/>
          </a:xfrm>
          <a:prstGeom prst="line">
            <a:avLst/>
          </a:prstGeom>
          <a:noFill/>
          <a:ln w="9525">
            <a:solidFill>
              <a:srgbClr val="34406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766560" y="3511296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FD0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150608" y="34930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discovery gates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7150608" y="3749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· data · feasibility · value · scale-or-stop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766560" y="4087368"/>
            <a:ext cx="4480560" cy="0"/>
          </a:xfrm>
          <a:prstGeom prst="line">
            <a:avLst/>
          </a:prstGeom>
          <a:noFill/>
          <a:ln w="9525">
            <a:solidFill>
              <a:srgbClr val="34406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66560" y="411480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FD0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7150608" y="40965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 with AITO cadence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7150608" y="435254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· KPI · maturity · budget · governance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766560" y="4690872"/>
            <a:ext cx="4480560" cy="0"/>
          </a:xfrm>
          <a:prstGeom prst="line">
            <a:avLst/>
          </a:prstGeom>
          <a:noFill/>
          <a:ln w="9525">
            <a:solidFill>
              <a:srgbClr val="34406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66560" y="4718304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FD0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7150608" y="470001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regional validation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7150608" y="49560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Europe, Brazil, China &amp; regional constraints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766560" y="5294376"/>
            <a:ext cx="4480560" cy="0"/>
          </a:xfrm>
          <a:prstGeom prst="line">
            <a:avLst/>
          </a:prstGeom>
          <a:noFill/>
          <a:ln w="9525">
            <a:solidFill>
              <a:srgbClr val="34406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766560" y="532180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4FD0B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7150608" y="5303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2027 needs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7150608" y="55595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Capacity, platforms, data products, partners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82296" cy="82296"/>
          </a:xfrm>
          <a:prstGeom prst="ellipse">
            <a:avLst/>
          </a:prstGeom>
          <a:solidFill>
            <a:srgbClr val="0070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560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AMPLIFIED</a:t>
            </a:r>
            <a:pPr algn="l" indent="0" marL="0">
              <a:buNone/>
            </a:pPr>
            <a:r>
              <a:rPr lang="en-US" sz="1050" spc="2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 TRANSFORMATION OFFICE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589520" y="25603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TEAM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Amplified</a:t>
            </a:r>
            <a:pPr algn="l" indent="0" marL="0">
              <a:buNone/>
            </a:pPr>
            <a:r>
              <a:rPr lang="en-US" sz="9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Draft for alignment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241280" y="64556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10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66928" y="768096"/>
            <a:ext cx="2286000" cy="310896"/>
          </a:xfrm>
          <a:prstGeom prst="roundRect">
            <a:avLst>
              <a:gd name="adj" fmla="val 50000"/>
            </a:avLst>
          </a:prstGeom>
          <a:ln w="15875">
            <a:solidFill>
              <a:srgbClr val="E4E7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877824"/>
            <a:ext cx="91440" cy="91440"/>
          </a:xfrm>
          <a:prstGeom prst="ellipse">
            <a:avLst/>
          </a:prstGeom>
          <a:solidFill>
            <a:srgbClr val="9AA0B0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76809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AITO FOLLOW-UP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1170432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capability system behind the roadmap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66928" y="1828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is the execution engine. With the ICT Functional Lead identified, the next hires build portfolio discipline, product depth, and regional deployment.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395728"/>
            <a:ext cx="4023360" cy="786384"/>
          </a:xfrm>
          <a:prstGeom prst="roundRect">
            <a:avLst>
              <a:gd name="adj" fmla="val 13953"/>
            </a:avLst>
          </a:prstGeom>
          <a:solidFill>
            <a:srgbClr val="141E3D"/>
          </a:solidFill>
          <a:ln/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77240" y="2395728"/>
            <a:ext cx="457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FD0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371600" y="2395728"/>
            <a:ext cx="31089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AI Hub Leader
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9AA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Owns the roadmap, value, adoption, and contribution beyond Design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66928" y="3401568"/>
            <a:ext cx="2729484" cy="1225296"/>
          </a:xfrm>
          <a:prstGeom prst="roundRect">
            <a:avLst>
              <a:gd name="adj" fmla="val 7463"/>
            </a:avLst>
          </a:prstGeom>
          <a:solidFill>
            <a:srgbClr val="F4F6FB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86384" y="3657600"/>
            <a:ext cx="137160" cy="137160"/>
          </a:xfrm>
          <a:prstGeom prst="ellipse">
            <a:avLst/>
          </a:prstGeom>
          <a:solidFill>
            <a:srgbClr val="007060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3575304"/>
            <a:ext cx="20894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+ Execution Lead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786384" y="3950208"/>
            <a:ext cx="23088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Intake, prioritization, stage gates, maturity &amp; value tracking, governance cadence.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470148" y="3401568"/>
            <a:ext cx="2729484" cy="1225296"/>
          </a:xfrm>
          <a:prstGeom prst="roundRect">
            <a:avLst>
              <a:gd name="adj" fmla="val 7463"/>
            </a:avLst>
          </a:prstGeom>
          <a:solidFill>
            <a:srgbClr val="F4F6FB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689604" y="3657600"/>
            <a:ext cx="137160" cy="137160"/>
          </a:xfrm>
          <a:prstGeom prst="ellipse">
            <a:avLst/>
          </a:prstGeom>
          <a:solidFill>
            <a:srgbClr val="B35C27"/>
          </a:solidFill>
          <a:ln/>
        </p:spPr>
      </p:sp>
      <p:sp>
        <p:nvSpPr>
          <p:cNvPr id="21" name="Text 19"/>
          <p:cNvSpPr/>
          <p:nvPr/>
        </p:nvSpPr>
        <p:spPr>
          <a:xfrm>
            <a:off x="3927348" y="3575304"/>
            <a:ext cx="20894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Product Owners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689604" y="3950208"/>
            <a:ext cx="23088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discovery, requirements, product roadmaps, pilot definition, scale calls.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373368" y="3401568"/>
            <a:ext cx="2729484" cy="1225296"/>
          </a:xfrm>
          <a:prstGeom prst="roundRect">
            <a:avLst>
              <a:gd name="adj" fmla="val 7463"/>
            </a:avLst>
          </a:prstGeom>
          <a:solidFill>
            <a:srgbClr val="F4F6FB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6592824" y="3657600"/>
            <a:ext cx="137160" cy="137160"/>
          </a:xfrm>
          <a:prstGeom prst="ellipse">
            <a:avLst/>
          </a:prstGeom>
          <a:solidFill>
            <a:srgbClr val="514B91"/>
          </a:solidFill>
          <a:ln/>
        </p:spPr>
      </p:sp>
      <p:sp>
        <p:nvSpPr>
          <p:cNvPr id="25" name="Text 23"/>
          <p:cNvSpPr/>
          <p:nvPr/>
        </p:nvSpPr>
        <p:spPr>
          <a:xfrm>
            <a:off x="6830568" y="3575304"/>
            <a:ext cx="20894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+ Data Manager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592824" y="3950208"/>
            <a:ext cx="23088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Trusted-data strategy, semantic consistency, certification, traceability, readiness.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9276588" y="3401568"/>
            <a:ext cx="2729484" cy="1225296"/>
          </a:xfrm>
          <a:prstGeom prst="roundRect">
            <a:avLst>
              <a:gd name="adj" fmla="val 7463"/>
            </a:avLst>
          </a:prstGeom>
          <a:solidFill>
            <a:srgbClr val="F4F6FB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9496044" y="3657600"/>
            <a:ext cx="137160" cy="137160"/>
          </a:xfrm>
          <a:prstGeom prst="ellipse">
            <a:avLst/>
          </a:prstGeom>
          <a:solidFill>
            <a:srgbClr val="141E3D"/>
          </a:solidFill>
          <a:ln/>
        </p:spPr>
      </p:sp>
      <p:sp>
        <p:nvSpPr>
          <p:cNvPr id="29" name="Text 27"/>
          <p:cNvSpPr/>
          <p:nvPr/>
        </p:nvSpPr>
        <p:spPr>
          <a:xfrm>
            <a:off x="9733788" y="3575304"/>
            <a:ext cx="20894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496044" y="3950208"/>
            <a:ext cx="23088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Prototyping, solution engineering, integration, reusable components, deployable assets.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4773168"/>
            <a:ext cx="2729484" cy="1225296"/>
          </a:xfrm>
          <a:prstGeom prst="roundRect">
            <a:avLst>
              <a:gd name="adj" fmla="val 7463"/>
            </a:avLst>
          </a:prstGeom>
          <a:solidFill>
            <a:srgbClr val="F4F6FB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86384" y="5029200"/>
            <a:ext cx="137160" cy="137160"/>
          </a:xfrm>
          <a:prstGeom prst="ellipse">
            <a:avLst/>
          </a:prstGeom>
          <a:solidFill>
            <a:srgbClr val="007060"/>
          </a:solidFill>
          <a:ln/>
        </p:spPr>
      </p:sp>
      <p:sp>
        <p:nvSpPr>
          <p:cNvPr id="33" name="Text 31"/>
          <p:cNvSpPr/>
          <p:nvPr/>
        </p:nvSpPr>
        <p:spPr>
          <a:xfrm>
            <a:off x="1024128" y="4946904"/>
            <a:ext cx="20894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 Data Engineers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86384" y="5321808"/>
            <a:ext cx="23088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models, pipelines, transformation logic, lineage, reusable data assets.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3470148" y="4773168"/>
            <a:ext cx="2729484" cy="1225296"/>
          </a:xfrm>
          <a:prstGeom prst="roundRect">
            <a:avLst>
              <a:gd name="adj" fmla="val 7463"/>
            </a:avLst>
          </a:prstGeom>
          <a:solidFill>
            <a:srgbClr val="F4F6FB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689604" y="5029200"/>
            <a:ext cx="137160" cy="137160"/>
          </a:xfrm>
          <a:prstGeom prst="ellipse">
            <a:avLst/>
          </a:prstGeom>
          <a:solidFill>
            <a:srgbClr val="B35C27"/>
          </a:solidFill>
          <a:ln/>
        </p:spPr>
      </p:sp>
      <p:sp>
        <p:nvSpPr>
          <p:cNvPr id="37" name="Text 35"/>
          <p:cNvSpPr/>
          <p:nvPr/>
        </p:nvSpPr>
        <p:spPr>
          <a:xfrm>
            <a:off x="3927348" y="4946904"/>
            <a:ext cx="20894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+ AI Analyst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3689604" y="5321808"/>
            <a:ext cx="23088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baselines, adoption metrics, scorecards, value tracking, outcome reporting.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6373368" y="4773168"/>
            <a:ext cx="2729484" cy="1225296"/>
          </a:xfrm>
          <a:prstGeom prst="roundRect">
            <a:avLst>
              <a:gd name="adj" fmla="val 7463"/>
            </a:avLst>
          </a:prstGeom>
          <a:solidFill>
            <a:srgbClr val="F4F6FB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592824" y="5029200"/>
            <a:ext cx="137160" cy="137160"/>
          </a:xfrm>
          <a:prstGeom prst="ellipse">
            <a:avLst/>
          </a:prstGeom>
          <a:solidFill>
            <a:srgbClr val="514B91"/>
          </a:solidFill>
          <a:ln/>
        </p:spPr>
      </p:sp>
      <p:sp>
        <p:nvSpPr>
          <p:cNvPr id="41" name="Text 39"/>
          <p:cNvSpPr/>
          <p:nvPr/>
        </p:nvSpPr>
        <p:spPr>
          <a:xfrm>
            <a:off x="6830568" y="4946904"/>
            <a:ext cx="20894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AI + Data Leads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592824" y="5321808"/>
            <a:ext cx="23088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validation, regional priorities, pilot support, adoption, reuse, feedback.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9276588" y="4773168"/>
            <a:ext cx="2729484" cy="1225296"/>
          </a:xfrm>
          <a:prstGeom prst="roundRect">
            <a:avLst>
              <a:gd name="adj" fmla="val 7463"/>
            </a:avLst>
          </a:prstGeom>
          <a:solidFill>
            <a:srgbClr val="F4F6FB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9496044" y="5029200"/>
            <a:ext cx="137160" cy="137160"/>
          </a:xfrm>
          <a:prstGeom prst="ellipse">
            <a:avLst/>
          </a:prstGeom>
          <a:solidFill>
            <a:srgbClr val="141E3D"/>
          </a:solidFill>
          <a:ln/>
        </p:spPr>
      </p:sp>
      <p:sp>
        <p:nvSpPr>
          <p:cNvPr id="45" name="Text 43"/>
          <p:cNvSpPr/>
          <p:nvPr/>
        </p:nvSpPr>
        <p:spPr>
          <a:xfrm>
            <a:off x="9733788" y="4946904"/>
            <a:ext cx="20894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0000"/>
              </a:lnSpc>
              <a:buNone/>
            </a:pPr>
            <a:r>
              <a:rPr lang="en-US" sz="1200" b="1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ICT AI Functional Lead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9496044" y="5321808"/>
            <a:ext cx="23088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the portfolio to enterprise architecture, platforms, cybersecurity, support.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566928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roles convert opportunity areas into </a:t>
            </a:r>
            <a:pPr algn="ctr" indent="0" marL="0">
              <a:buNone/>
            </a:pPr>
            <a:r>
              <a:rPr lang="en-US" sz="1300" b="1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defined products, trusted data, prototypes, value evidence, and regional scale.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65760"/>
            <a:ext cx="82296" cy="82296"/>
          </a:xfrm>
          <a:prstGeom prst="ellipse">
            <a:avLst/>
          </a:prstGeom>
          <a:solidFill>
            <a:srgbClr val="00706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2560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AMPLIFIED</a:t>
            </a:r>
            <a:pPr algn="l" indent="0" marL="0">
              <a:buNone/>
            </a:pPr>
            <a:r>
              <a:rPr lang="en-US" sz="1050" spc="2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AI TRANSFORMATION OFFICE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589520" y="25603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MEASUREMENT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66928" y="6455664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Amplified</a:t>
            </a:r>
            <a:pPr algn="l" indent="0" marL="0">
              <a:buNone/>
            </a:pPr>
            <a:r>
              <a:rPr lang="en-US" sz="9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Draft for alignment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10241280" y="645566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66928" y="768096"/>
            <a:ext cx="2286000" cy="310896"/>
          </a:xfrm>
          <a:prstGeom prst="roundRect">
            <a:avLst>
              <a:gd name="adj" fmla="val 50000"/>
            </a:avLst>
          </a:prstGeom>
          <a:ln w="15875">
            <a:solidFill>
              <a:srgbClr val="E4E7E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877824"/>
            <a:ext cx="91440" cy="91440"/>
          </a:xfrm>
          <a:prstGeom prst="ellipse">
            <a:avLst/>
          </a:prstGeom>
          <a:solidFill>
            <a:srgbClr val="9AA0B0"/>
          </a:solidFill>
          <a:ln/>
        </p:spPr>
      </p:sp>
      <p:sp>
        <p:nvSpPr>
          <p:cNvPr id="9" name="Text 7"/>
          <p:cNvSpPr/>
          <p:nvPr/>
        </p:nvSpPr>
        <p:spPr>
          <a:xfrm>
            <a:off x="896112" y="76809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· AITO FOLLOW-UP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1170432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41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Measurement model by maturity stage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566928" y="1828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evidence is required as an initiative matures — the value claim strengthens from estimate, to validation, to realized outcome.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432304"/>
            <a:ext cx="3529584" cy="3291840"/>
          </a:xfrm>
          <a:prstGeom prst="roundRect">
            <a:avLst>
              <a:gd name="adj" fmla="val 3611"/>
            </a:avLst>
          </a:prstGeom>
          <a:solidFill>
            <a:srgbClr val="FFFFFF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896112" y="2761488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007060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" y="27523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44" dirty="0"/>
          </a:p>
        </p:txBody>
      </p:sp>
      <p:sp>
        <p:nvSpPr>
          <p:cNvPr id="15" name="Text 13"/>
          <p:cNvSpPr/>
          <p:nvPr/>
        </p:nvSpPr>
        <p:spPr>
          <a:xfrm>
            <a:off x="1536192" y="2761488"/>
            <a:ext cx="24323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96112" y="3392424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the problem &amp; the opportunity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32688" y="3922776"/>
            <a:ext cx="118872" cy="118872"/>
          </a:xfrm>
          <a:prstGeom prst="ellipse">
            <a:avLst/>
          </a:prstGeom>
          <a:solidFill>
            <a:srgbClr val="007060"/>
          </a:solidFill>
          <a:ln/>
        </p:spPr>
      </p:sp>
      <p:sp>
        <p:nvSpPr>
          <p:cNvPr id="18" name="Text 16"/>
          <p:cNvSpPr/>
          <p:nvPr/>
        </p:nvSpPr>
        <p:spPr>
          <a:xfrm>
            <a:off x="1170432" y="3831336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size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932688" y="4343400"/>
            <a:ext cx="118872" cy="118872"/>
          </a:xfrm>
          <a:prstGeom prst="ellipse">
            <a:avLst/>
          </a:prstGeom>
          <a:solidFill>
            <a:srgbClr val="007060"/>
          </a:solidFill>
          <a:ln/>
        </p:spPr>
      </p:sp>
      <p:sp>
        <p:nvSpPr>
          <p:cNvPr id="20" name="Text 18"/>
          <p:cNvSpPr/>
          <p:nvPr/>
        </p:nvSpPr>
        <p:spPr>
          <a:xfrm>
            <a:off x="1170432" y="4251960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baseline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932688" y="4764024"/>
            <a:ext cx="118872" cy="118872"/>
          </a:xfrm>
          <a:prstGeom prst="ellipse">
            <a:avLst/>
          </a:prstGeom>
          <a:solidFill>
            <a:srgbClr val="007060"/>
          </a:solidFill>
          <a:ln/>
        </p:spPr>
      </p:sp>
      <p:sp>
        <p:nvSpPr>
          <p:cNvPr id="22" name="Text 20"/>
          <p:cNvSpPr/>
          <p:nvPr/>
        </p:nvSpPr>
        <p:spPr>
          <a:xfrm>
            <a:off x="1170432" y="4672584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readiness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32688" y="5184648"/>
            <a:ext cx="118872" cy="118872"/>
          </a:xfrm>
          <a:prstGeom prst="ellipse">
            <a:avLst/>
          </a:prstGeom>
          <a:solidFill>
            <a:srgbClr val="007060"/>
          </a:solidFill>
          <a:ln/>
        </p:spPr>
      </p:sp>
      <p:sp>
        <p:nvSpPr>
          <p:cNvPr id="24" name="Text 22"/>
          <p:cNvSpPr/>
          <p:nvPr/>
        </p:nvSpPr>
        <p:spPr>
          <a:xfrm>
            <a:off x="1170432" y="5093208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 confidence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4105656" y="3712464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4306824" y="2432304"/>
            <a:ext cx="3529584" cy="3291840"/>
          </a:xfrm>
          <a:prstGeom prst="roundRect">
            <a:avLst>
              <a:gd name="adj" fmla="val 3611"/>
            </a:avLst>
          </a:prstGeom>
          <a:solidFill>
            <a:srgbClr val="FFFFFF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636008" y="2761488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B35C27"/>
          </a:solidFill>
          <a:ln/>
        </p:spPr>
      </p:sp>
      <p:sp>
        <p:nvSpPr>
          <p:cNvPr id="28" name="Text 26"/>
          <p:cNvSpPr/>
          <p:nvPr/>
        </p:nvSpPr>
        <p:spPr>
          <a:xfrm>
            <a:off x="4636008" y="27523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44" dirty="0"/>
          </a:p>
        </p:txBody>
      </p:sp>
      <p:sp>
        <p:nvSpPr>
          <p:cNvPr id="29" name="Text 27"/>
          <p:cNvSpPr/>
          <p:nvPr/>
        </p:nvSpPr>
        <p:spPr>
          <a:xfrm>
            <a:off x="5276088" y="2761488"/>
            <a:ext cx="24323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636008" y="3392424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value with real users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672584" y="3922776"/>
            <a:ext cx="118872" cy="118872"/>
          </a:xfrm>
          <a:prstGeom prst="ellipse">
            <a:avLst/>
          </a:prstGeom>
          <a:solidFill>
            <a:srgbClr val="B35C27"/>
          </a:solidFill>
          <a:ln/>
        </p:spPr>
      </p:sp>
      <p:sp>
        <p:nvSpPr>
          <p:cNvPr id="32" name="Text 30"/>
          <p:cNvSpPr/>
          <p:nvPr/>
        </p:nvSpPr>
        <p:spPr>
          <a:xfrm>
            <a:off x="4910328" y="3831336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time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4672584" y="4343400"/>
            <a:ext cx="118872" cy="118872"/>
          </a:xfrm>
          <a:prstGeom prst="ellipse">
            <a:avLst/>
          </a:prstGeom>
          <a:solidFill>
            <a:srgbClr val="B35C27"/>
          </a:solidFill>
          <a:ln/>
        </p:spPr>
      </p:sp>
      <p:sp>
        <p:nvSpPr>
          <p:cNvPr id="34" name="Text 32"/>
          <p:cNvSpPr/>
          <p:nvPr/>
        </p:nvSpPr>
        <p:spPr>
          <a:xfrm>
            <a:off x="4910328" y="4251960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quality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4672584" y="4764024"/>
            <a:ext cx="118872" cy="118872"/>
          </a:xfrm>
          <a:prstGeom prst="ellipse">
            <a:avLst/>
          </a:prstGeom>
          <a:solidFill>
            <a:srgbClr val="B35C27"/>
          </a:solidFill>
          <a:ln/>
        </p:spPr>
      </p:sp>
      <p:sp>
        <p:nvSpPr>
          <p:cNvPr id="36" name="Text 34"/>
          <p:cNvSpPr/>
          <p:nvPr/>
        </p:nvSpPr>
        <p:spPr>
          <a:xfrm>
            <a:off x="4910328" y="4672584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validation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4672584" y="5184648"/>
            <a:ext cx="118872" cy="118872"/>
          </a:xfrm>
          <a:prstGeom prst="ellipse">
            <a:avLst/>
          </a:prstGeom>
          <a:solidFill>
            <a:srgbClr val="B35C27"/>
          </a:solidFill>
          <a:ln/>
        </p:spPr>
      </p:sp>
      <p:sp>
        <p:nvSpPr>
          <p:cNvPr id="38" name="Text 36"/>
          <p:cNvSpPr/>
          <p:nvPr/>
        </p:nvSpPr>
        <p:spPr>
          <a:xfrm>
            <a:off x="4910328" y="5093208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reliability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7845552" y="3712464"/>
            <a:ext cx="210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40" name="Shape 38"/>
          <p:cNvSpPr/>
          <p:nvPr/>
        </p:nvSpPr>
        <p:spPr>
          <a:xfrm>
            <a:off x="8046720" y="2432304"/>
            <a:ext cx="3529584" cy="3291840"/>
          </a:xfrm>
          <a:prstGeom prst="roundRect">
            <a:avLst>
              <a:gd name="adj" fmla="val 3611"/>
            </a:avLst>
          </a:prstGeom>
          <a:solidFill>
            <a:srgbClr val="FFFFFF"/>
          </a:solidFill>
          <a:ln w="12700">
            <a:solidFill>
              <a:srgbClr val="E4E7EF"/>
            </a:solidFill>
            <a:prstDash val="solid"/>
          </a:ln>
          <a:effectLst>
            <a:outerShdw sx="100000" sy="100000" kx="0" ky="0" algn="bl" rotWithShape="0" blurRad="114300" dist="38100" dir="5400000">
              <a:srgbClr val="8894AE">
                <a:alpha val="28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8375904" y="2761488"/>
            <a:ext cx="512064" cy="512064"/>
          </a:xfrm>
          <a:prstGeom prst="roundRect">
            <a:avLst>
              <a:gd name="adj" fmla="val 28000"/>
            </a:avLst>
          </a:prstGeom>
          <a:solidFill>
            <a:srgbClr val="514B91"/>
          </a:solidFill>
          <a:ln/>
        </p:spPr>
      </p:sp>
      <p:sp>
        <p:nvSpPr>
          <p:cNvPr id="42" name="Text 40"/>
          <p:cNvSpPr/>
          <p:nvPr/>
        </p:nvSpPr>
        <p:spPr>
          <a:xfrm>
            <a:off x="8375904" y="275234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44" dirty="0"/>
          </a:p>
        </p:txBody>
      </p:sp>
      <p:sp>
        <p:nvSpPr>
          <p:cNvPr id="43" name="Text 41"/>
          <p:cNvSpPr/>
          <p:nvPr/>
        </p:nvSpPr>
        <p:spPr>
          <a:xfrm>
            <a:off x="9015984" y="2761488"/>
            <a:ext cx="24323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00" kern="0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375904" y="3392424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 outcomes with Finance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412480" y="3922776"/>
            <a:ext cx="118872" cy="118872"/>
          </a:xfrm>
          <a:prstGeom prst="ellipse">
            <a:avLst/>
          </a:prstGeom>
          <a:solidFill>
            <a:srgbClr val="514B91"/>
          </a:solidFill>
          <a:ln/>
        </p:spPr>
      </p:sp>
      <p:sp>
        <p:nvSpPr>
          <p:cNvPr id="46" name="Text 44"/>
          <p:cNvSpPr/>
          <p:nvPr/>
        </p:nvSpPr>
        <p:spPr>
          <a:xfrm>
            <a:off x="8650224" y="3831336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use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8412480" y="4343400"/>
            <a:ext cx="118872" cy="118872"/>
          </a:xfrm>
          <a:prstGeom prst="ellipse">
            <a:avLst/>
          </a:prstGeom>
          <a:solidFill>
            <a:srgbClr val="514B91"/>
          </a:solidFill>
          <a:ln/>
        </p:spPr>
      </p:sp>
      <p:sp>
        <p:nvSpPr>
          <p:cNvPr id="48" name="Text 46"/>
          <p:cNvSpPr/>
          <p:nvPr/>
        </p:nvSpPr>
        <p:spPr>
          <a:xfrm>
            <a:off x="8650224" y="4251960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Cycle-time reduction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8412480" y="4764024"/>
            <a:ext cx="118872" cy="118872"/>
          </a:xfrm>
          <a:prstGeom prst="ellipse">
            <a:avLst/>
          </a:prstGeom>
          <a:solidFill>
            <a:srgbClr val="514B91"/>
          </a:solidFill>
          <a:ln/>
        </p:spPr>
      </p:sp>
      <p:sp>
        <p:nvSpPr>
          <p:cNvPr id="50" name="Text 48"/>
          <p:cNvSpPr/>
          <p:nvPr/>
        </p:nvSpPr>
        <p:spPr>
          <a:xfrm>
            <a:off x="8650224" y="4672584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Rework avoided</a:t>
            </a:r>
            <a:endParaRPr lang="en-US" sz="1350" dirty="0"/>
          </a:p>
        </p:txBody>
      </p:sp>
      <p:sp>
        <p:nvSpPr>
          <p:cNvPr id="51" name="Shape 49"/>
          <p:cNvSpPr/>
          <p:nvPr/>
        </p:nvSpPr>
        <p:spPr>
          <a:xfrm>
            <a:off x="8412480" y="5184648"/>
            <a:ext cx="118872" cy="118872"/>
          </a:xfrm>
          <a:prstGeom prst="ellipse">
            <a:avLst/>
          </a:prstGeom>
          <a:solidFill>
            <a:srgbClr val="514B91"/>
          </a:solidFill>
          <a:ln/>
        </p:spPr>
      </p:sp>
      <p:sp>
        <p:nvSpPr>
          <p:cNvPr id="52" name="Text 50"/>
          <p:cNvSpPr/>
          <p:nvPr/>
        </p:nvSpPr>
        <p:spPr>
          <a:xfrm>
            <a:off x="8650224" y="5093208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A31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value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566928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 → validate → </a:t>
            </a:r>
            <a:pPr algn="ctr" indent="0" marL="0">
              <a:buNone/>
            </a:pPr>
            <a:r>
              <a:rPr lang="en-US" sz="1400" b="1" dirty="0">
                <a:solidFill>
                  <a:srgbClr val="14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realize.</a:t>
            </a:r>
            <a:pPr algn="ctr" indent="0" marL="0">
              <a:buNone/>
            </a:pPr>
            <a:r>
              <a:rPr lang="en-US" sz="1400" dirty="0">
                <a:solidFill>
                  <a:srgbClr val="6C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The value claim becomes stronger as evidence matures.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Design Amplified</dc:title>
  <dc:subject>PptxGenJS Presentation</dc:subject>
  <dc:creator>AI Transformation Office</dc:creator>
  <cp:lastModifiedBy>AI Transformation Office</cp:lastModifiedBy>
  <cp:revision>1</cp:revision>
  <dcterms:created xsi:type="dcterms:W3CDTF">2026-08-02T14:08:01Z</dcterms:created>
  <dcterms:modified xsi:type="dcterms:W3CDTF">2026-08-02T14:08:01Z</dcterms:modified>
</cp:coreProperties>
</file>