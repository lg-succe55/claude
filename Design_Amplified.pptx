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0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31752" y="384048"/>
            <a:ext cx="-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31752" y="384048"/>
            <a:ext cx="0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6473952"/>
            <a:ext cx="0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31752" y="6473952"/>
            <a:ext cx="-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31752" y="6473952"/>
            <a:ext cx="0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DESIGN OFFICE  ·  AI TRANSFORMATION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148840"/>
            <a:ext cx="10058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-100" kern="0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9600" dirty="0"/>
          </a:p>
        </p:txBody>
      </p:sp>
      <p:sp>
        <p:nvSpPr>
          <p:cNvPr id="12" name="Text 10"/>
          <p:cNvSpPr/>
          <p:nvPr/>
        </p:nvSpPr>
        <p:spPr>
          <a:xfrm>
            <a:off x="502920" y="3383280"/>
            <a:ext cx="11155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-100" kern="0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AMPLIFIED</a:t>
            </a:r>
            <a:endParaRPr lang="en-US" sz="9600" dirty="0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CA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Amplified begins by helping people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better today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CA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develops intelligence inside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workflows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CA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next, and ultimately connects those capabilities into a globally reusable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Design-development system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CA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THIS STORY UNFOLDS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Breadth first,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controlled depth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complete system before the mechanics. Scale Now, Develop Next, and Build Connected are not buckets — they are a progression.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72030" cy="3291840"/>
          </a:xfrm>
          <a:prstGeom prst="roundRect">
            <a:avLst>
              <a:gd name="adj" fmla="val 4854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" y="2852928"/>
            <a:ext cx="310896" cy="25603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999232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4343400"/>
            <a:ext cx="16879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Design organization we are building — and why it matters now.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638958" y="2286000"/>
            <a:ext cx="182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03550" y="2286000"/>
            <a:ext cx="2072030" cy="3291840"/>
          </a:xfrm>
          <a:prstGeom prst="roundRect">
            <a:avLst>
              <a:gd name="adj" fmla="val 4854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04718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23006" y="2852928"/>
            <a:ext cx="310896" cy="25603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14" name="Text 12"/>
          <p:cNvSpPr/>
          <p:nvPr/>
        </p:nvSpPr>
        <p:spPr>
          <a:xfrm>
            <a:off x="3004718" y="2999232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Architecture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04718" y="4343400"/>
            <a:ext cx="16879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strategies in one clean view — immediate, targeted, transformational.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93869" y="2286000"/>
            <a:ext cx="182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58461" y="2286000"/>
            <a:ext cx="2072030" cy="3291840"/>
          </a:xfrm>
          <a:prstGeom prst="roundRect">
            <a:avLst>
              <a:gd name="adj" fmla="val 4854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59629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77917" y="2852928"/>
            <a:ext cx="310896" cy="25603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0" name="Text 18"/>
          <p:cNvSpPr/>
          <p:nvPr/>
        </p:nvSpPr>
        <p:spPr>
          <a:xfrm>
            <a:off x="5259629" y="2999232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259629" y="4343400"/>
            <a:ext cx="16879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seven initiatives, each tied back to the strategy it advances.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48779" y="2286000"/>
            <a:ext cx="182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3371" y="2286000"/>
            <a:ext cx="2072030" cy="3291840"/>
          </a:xfrm>
          <a:prstGeom prst="roundRect">
            <a:avLst>
              <a:gd name="adj" fmla="val 4854"/>
            </a:avLst>
          </a:prstGeom>
          <a:solidFill>
            <a:srgbClr val="12160A"/>
          </a:solidFill>
          <a:ln w="19050">
            <a:solidFill>
              <a:srgbClr val="C5F8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14539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32827" y="2852928"/>
            <a:ext cx="310896" cy="25603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6" name="Text 24"/>
          <p:cNvSpPr/>
          <p:nvPr/>
        </p:nvSpPr>
        <p:spPr>
          <a:xfrm>
            <a:off x="7514539" y="2999232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14539" y="4343400"/>
            <a:ext cx="16879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integrated A · B · C · D roadmap showing how everything progresses over time.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403690" y="2286000"/>
            <a:ext cx="182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568282" y="2286000"/>
            <a:ext cx="2072030" cy="3291840"/>
          </a:xfrm>
          <a:prstGeom prst="roundRect">
            <a:avLst>
              <a:gd name="adj" fmla="val 4854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6945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787738" y="2852928"/>
            <a:ext cx="310896" cy="25603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2" name="Text 30"/>
          <p:cNvSpPr/>
          <p:nvPr/>
        </p:nvSpPr>
        <p:spPr>
          <a:xfrm>
            <a:off x="9769450" y="2999232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769450" y="4343400"/>
            <a:ext cx="16879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roadmap becomes ownership, value, adoption, staffing, and governance.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58704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Per-strategy roadmaps and full delivery evidence live in the appendix and AITO follow-up — the executive roadmap stays at the initiative level.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6" name="Text 34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949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globally connected, AI-enabled Design organization that </a:t>
            </a:r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expands human creativity</a:t>
            </a:r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accelerates learning and decisions, </a:t>
            </a:r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preserves Design intelligence</a:t>
            </a:r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connects creative intent with trusted product information.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Stellantis creates more distinctive, feasible, and valuable products - with greater speed and confidence.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5029200"/>
            <a:ext cx="2741371" cy="36576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5029200"/>
            <a:ext cx="25584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Designers design more, search less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99739" y="5029200"/>
            <a:ext cx="2412187" cy="36576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7755" y="5029200"/>
            <a:ext cx="22293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understood earlier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5486400"/>
            <a:ext cx="2214677" cy="36576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" y="5486400"/>
            <a:ext cx="20317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knowledge persists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73045" y="5486400"/>
            <a:ext cx="2412187" cy="36576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1061" y="5486400"/>
            <a:ext cx="22293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 &amp; cost visible sooner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943600"/>
            <a:ext cx="2543861" cy="36576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5943600"/>
            <a:ext cx="23609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workflows scale globally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051560"/>
            <a:ext cx="3840480" cy="1572768"/>
          </a:xfrm>
          <a:prstGeom prst="roundRect">
            <a:avLst>
              <a:gd name="adj" fmla="val 6395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0" y="1271016"/>
            <a:ext cx="54864" cy="1133856"/>
          </a:xfrm>
          <a:prstGeom prst="roundRect">
            <a:avLst>
              <a:gd name="adj" fmla="val 50000"/>
            </a:avLst>
          </a:prstGeom>
          <a:solidFill>
            <a:srgbClr val="C5F82A"/>
          </a:solidFill>
          <a:ln/>
        </p:spPr>
      </p:sp>
      <p:sp>
        <p:nvSpPr>
          <p:cNvPr id="18" name="Text 16"/>
          <p:cNvSpPr/>
          <p:nvPr/>
        </p:nvSpPr>
        <p:spPr>
          <a:xfrm>
            <a:off x="8028432" y="12527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Amplify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28432" y="1655064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the creative and decision-making capacity of the global Design organization.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0" y="2807208"/>
            <a:ext cx="3840480" cy="1572768"/>
          </a:xfrm>
          <a:prstGeom prst="roundRect">
            <a:avLst>
              <a:gd name="adj" fmla="val 6395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3026664"/>
            <a:ext cx="54864" cy="1133856"/>
          </a:xfrm>
          <a:prstGeom prst="roundRect">
            <a:avLst>
              <a:gd name="adj" fmla="val 50000"/>
            </a:avLst>
          </a:prstGeom>
          <a:solidFill>
            <a:srgbClr val="C5F82A"/>
          </a:solidFill>
          <a:ln/>
        </p:spPr>
      </p:sp>
      <p:sp>
        <p:nvSpPr>
          <p:cNvPr id="22" name="Text 20"/>
          <p:cNvSpPr/>
          <p:nvPr/>
        </p:nvSpPr>
        <p:spPr>
          <a:xfrm>
            <a:off x="8028432" y="300837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28432" y="341071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more alternatives, understand constraints sooner, reuse knowledge more effectively.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0" y="4562856"/>
            <a:ext cx="3840480" cy="1572768"/>
          </a:xfrm>
          <a:prstGeom prst="roundRect">
            <a:avLst>
              <a:gd name="adj" fmla="val 6395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0" y="4782312"/>
            <a:ext cx="54864" cy="1133856"/>
          </a:xfrm>
          <a:prstGeom prst="roundRect">
            <a:avLst>
              <a:gd name="adj" fmla="val 50000"/>
            </a:avLst>
          </a:prstGeom>
          <a:solidFill>
            <a:srgbClr val="C5F82A"/>
          </a:solidFill>
          <a:ln/>
        </p:spPr>
      </p:sp>
      <p:sp>
        <p:nvSpPr>
          <p:cNvPr id="26" name="Text 24"/>
          <p:cNvSpPr/>
          <p:nvPr/>
        </p:nvSpPr>
        <p:spPr>
          <a:xfrm>
            <a:off x="8028432" y="476402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&amp; Connect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028432" y="5166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human Design judgment; keep program knowledge available as teams and phases change.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is getting more complex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its knowledge is scattered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forces are compounding. Amplification is the response to both.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58384" cy="3246120"/>
          </a:xfrm>
          <a:prstGeom prst="roundRect">
            <a:avLst>
              <a:gd name="adj" fmla="val 309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441448"/>
            <a:ext cx="566928" cy="566928"/>
          </a:xfrm>
          <a:prstGeom prst="ellipse">
            <a:avLst/>
          </a:prstGeom>
          <a:ln w="19050">
            <a:solidFill>
              <a:srgbClr val="38B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2478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Rising complexity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3172968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Design must now balance more, at once: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361188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6118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character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86000" y="3611880"/>
            <a:ext cx="1709928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0" y="3611880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expectations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8680" y="4014216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014216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 constraints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542032" y="4014216"/>
            <a:ext cx="1837944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42032" y="4014216"/>
            <a:ext cx="183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feasibility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471416" y="4014216"/>
            <a:ext cx="62179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1416" y="401421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68680" y="441655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416552"/>
            <a:ext cx="1197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57984" y="4416552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57984" y="4416552"/>
            <a:ext cx="941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191256" y="4416552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91256" y="441655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68680" y="4818888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481888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timing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221992" y="4818888"/>
            <a:ext cx="1709928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2E4A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21992" y="4818888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6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requirements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81928" y="2148840"/>
            <a:ext cx="5358384" cy="3246120"/>
          </a:xfrm>
          <a:prstGeom prst="roundRect">
            <a:avLst>
              <a:gd name="adj" fmla="val 309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01968" y="2441448"/>
            <a:ext cx="566928" cy="566928"/>
          </a:xfrm>
          <a:prstGeom prst="ellipse">
            <a:avLst/>
          </a:prstGeom>
          <a:ln w="19050">
            <a:solidFill>
              <a:srgbClr val="A78A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01968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⋔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333488" y="247802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knowledge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6601968" y="3172968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information — and the reasoning behind decisions — is distributed across: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287768" y="4023360"/>
            <a:ext cx="1673352" cy="45720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933688" y="3886200"/>
            <a:ext cx="27432" cy="59436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961120" y="4114800"/>
            <a:ext cx="1618488" cy="36576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7333488" y="4480560"/>
            <a:ext cx="1627632" cy="45720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8933688" y="4480560"/>
            <a:ext cx="27432" cy="64008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8961120" y="4480560"/>
            <a:ext cx="1618488" cy="457200"/>
          </a:xfrm>
          <a:prstGeom prst="line">
            <a:avLst/>
          </a:prstGeom>
          <a:noFill/>
          <a:ln w="12700">
            <a:solidFill>
              <a:srgbClr val="55407A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874459" y="3867912"/>
            <a:ext cx="826618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74459" y="3867912"/>
            <a:ext cx="8266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322869" y="3730752"/>
            <a:ext cx="1221638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22869" y="3730752"/>
            <a:ext cx="12216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133381" y="3959352"/>
            <a:ext cx="892454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133381" y="3959352"/>
            <a:ext cx="892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920179" y="4782312"/>
            <a:ext cx="826618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20179" y="4782312"/>
            <a:ext cx="8266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158277" y="4965192"/>
            <a:ext cx="1550822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158277" y="4965192"/>
            <a:ext cx="15508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experts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771278" y="4782312"/>
            <a:ext cx="1616659" cy="310896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6A549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771278" y="4782312"/>
            <a:ext cx="16166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2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programs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787384" y="4306824"/>
            <a:ext cx="347472" cy="347472"/>
          </a:xfrm>
          <a:prstGeom prst="ellipse">
            <a:avLst/>
          </a:prstGeom>
          <a:solidFill>
            <a:srgbClr val="160E28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78738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48640" y="5623560"/>
            <a:ext cx="11091672" cy="603504"/>
          </a:xfrm>
          <a:prstGeom prst="roundRect">
            <a:avLst>
              <a:gd name="adj" fmla="val 15152"/>
            </a:avLst>
          </a:prstGeom>
          <a:solidFill>
            <a:srgbClr val="12160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22960" y="562356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RESPONSE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2606040" y="5623560"/>
            <a:ext cx="8778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8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Amplify human judgment while reducing repetitive work — and connect scattered knowledge back into the moment of creation.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59" name="Text 57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0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31752" y="384048"/>
            <a:ext cx="-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31752" y="384048"/>
            <a:ext cx="0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6473952"/>
            <a:ext cx="0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31752" y="6473952"/>
            <a:ext cx="-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31752" y="6473952"/>
            <a:ext cx="0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MISSION  ·  HOW WE MOVE FROM TODAY TO THAT FUTURE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80160" y="1828800"/>
            <a:ext cx="9601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 the highest-value Design workflows by 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proven AI, 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developing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targeted workflow intelligence, and progressively 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</a:t>
            </a:r>
            <a:pPr algn="ctr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Design knowledge, geometry, package, engineering, and cost into trusted, reusable global capabilities.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920240" y="5074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54480" y="5486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already works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92040" y="5074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26280" y="5486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is proven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63840" y="5074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498080" y="5486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one system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77640" y="5029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49440" y="5029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STRATEGIC ARCHITECTURE · ALL STRATEGIES AT ONCE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strategies,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progression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immediate capability to targeted development to long-term transformation. Each layer fulfils the one above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602736" cy="397764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C5F8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38144" y="2404872"/>
            <a:ext cx="475488" cy="47548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7" name="Text 5"/>
          <p:cNvSpPr/>
          <p:nvPr/>
        </p:nvSpPr>
        <p:spPr>
          <a:xfrm>
            <a:off x="3438144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16" dirty="0"/>
          </a:p>
        </p:txBody>
      </p:sp>
      <p:sp>
        <p:nvSpPr>
          <p:cNvPr id="8" name="Text 6"/>
          <p:cNvSpPr/>
          <p:nvPr/>
        </p:nvSpPr>
        <p:spPr>
          <a:xfrm>
            <a:off x="804672" y="2441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807208"/>
            <a:ext cx="2688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Proven Creative Enablement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04672" y="3776472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capabilities that are already demonstrating value and turn them into repeatable, approved, and measurable ways of working.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" y="4846320"/>
            <a:ext cx="3099816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9651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INITIATIVES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22960" y="5321808"/>
            <a:ext cx="91440" cy="91440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523951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AI-supported visualization &amp; concept development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5687568"/>
            <a:ext cx="91440" cy="91440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560527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Workflow-based AI training &amp; adoption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3602736" cy="397764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38BC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87184" y="2404872"/>
            <a:ext cx="475488" cy="47548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19" name="Text 17"/>
          <p:cNvSpPr/>
          <p:nvPr/>
        </p:nvSpPr>
        <p:spPr>
          <a:xfrm>
            <a:off x="7187184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16" dirty="0"/>
          </a:p>
        </p:txBody>
      </p:sp>
      <p:sp>
        <p:nvSpPr>
          <p:cNvPr id="20" name="Text 18"/>
          <p:cNvSpPr/>
          <p:nvPr/>
        </p:nvSpPr>
        <p:spPr>
          <a:xfrm>
            <a:off x="4553712" y="2441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53712" y="2807208"/>
            <a:ext cx="2688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Intelligence in Critical Design Workflows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53712" y="3776472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structured discovery to convert high-potential opportunity areas into clearly defined, evidence-based products and capabilities.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53712" y="4846320"/>
            <a:ext cx="3099816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53712" y="49651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INITIATIVES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0" y="5321808"/>
            <a:ext cx="91440" cy="91440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6" name="Text 24"/>
          <p:cNvSpPr/>
          <p:nvPr/>
        </p:nvSpPr>
        <p:spPr>
          <a:xfrm>
            <a:off x="4773168" y="523951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knowledge capture &amp; retrieval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5687568"/>
            <a:ext cx="91440" cy="91440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8" name="Text 26"/>
          <p:cNvSpPr/>
          <p:nvPr/>
        </p:nvSpPr>
        <p:spPr>
          <a:xfrm>
            <a:off x="4773168" y="560527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vehicle packaging intelligence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6053328"/>
            <a:ext cx="91440" cy="91440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0" name="Text 28"/>
          <p:cNvSpPr/>
          <p:nvPr/>
        </p:nvSpPr>
        <p:spPr>
          <a:xfrm>
            <a:off x="4773168" y="597103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surface geometry automation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46720" y="2148840"/>
            <a:ext cx="3602736" cy="397764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A78AF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936224" y="2404872"/>
            <a:ext cx="475488" cy="47548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33" name="Text 31"/>
          <p:cNvSpPr/>
          <p:nvPr/>
        </p:nvSpPr>
        <p:spPr>
          <a:xfrm>
            <a:off x="10936224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16" dirty="0"/>
          </a:p>
        </p:txBody>
      </p:sp>
      <p:sp>
        <p:nvSpPr>
          <p:cNvPr id="34" name="Text 32"/>
          <p:cNvSpPr/>
          <p:nvPr/>
        </p:nvSpPr>
        <p:spPr>
          <a:xfrm>
            <a:off x="8302752" y="2441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03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302752" y="2807208"/>
            <a:ext cx="2688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Connected Design Intelligence &amp; Optimization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02752" y="3776472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trusted information and feedback loops across Design and adjacent enterprise systems so consequences are understood earlier.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302752" y="4846320"/>
            <a:ext cx="3099816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2752" y="49651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INITIATIVES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321040" y="5321808"/>
            <a:ext cx="91440" cy="91440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0" name="Text 38"/>
          <p:cNvSpPr/>
          <p:nvPr/>
        </p:nvSpPr>
        <p:spPr>
          <a:xfrm>
            <a:off x="8522208" y="523951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&amp; cost-of-change intelligence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321040" y="5687568"/>
            <a:ext cx="91440" cy="91440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2" name="Text 40"/>
          <p:cNvSpPr/>
          <p:nvPr/>
        </p:nvSpPr>
        <p:spPr>
          <a:xfrm>
            <a:off x="8522208" y="560527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Design intelligence &amp; optimization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44" name="Text 42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SEVEN INITIATIVES · PORTFOLIO 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initiative,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tied to its strategy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signals the strategy each initiative advances. This is the full portfolio before we go deeper.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118872" cy="118872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Now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92885" y="1938528"/>
            <a:ext cx="118872" cy="118872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8" name="Text 6"/>
          <p:cNvSpPr/>
          <p:nvPr/>
        </p:nvSpPr>
        <p:spPr>
          <a:xfrm>
            <a:off x="1775765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 Next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78531" y="1938528"/>
            <a:ext cx="118872" cy="118872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10" name="Text 8"/>
          <p:cNvSpPr/>
          <p:nvPr/>
        </p:nvSpPr>
        <p:spPr>
          <a:xfrm>
            <a:off x="3061411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&amp; Optimize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468880"/>
            <a:ext cx="329184" cy="329184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52144" y="25054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" y="288950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AI-Supported Visualization &amp; Concept Development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31520" y="343814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Shorten the distance between an initial idea and organizational understanding.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01568" y="2286000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84448" y="2468880"/>
            <a:ext cx="329184" cy="329184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9" name="Text 17"/>
          <p:cNvSpPr/>
          <p:nvPr/>
        </p:nvSpPr>
        <p:spPr>
          <a:xfrm>
            <a:off x="3584448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005072" y="25054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584448" y="288950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Workflow-Based AI Training &amp; Adoption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584448" y="343814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tool deployment into behavior change inside the real work of Design.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54496" y="2286000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38BC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37376" y="2468880"/>
            <a:ext cx="329184" cy="329184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5" name="Text 23"/>
          <p:cNvSpPr/>
          <p:nvPr/>
        </p:nvSpPr>
        <p:spPr>
          <a:xfrm>
            <a:off x="6437376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25054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37376" y="288950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Knowledge Capture &amp; Retrieval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37376" y="343814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governed, searchable memory for Design that preserves decision rationale.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07424" y="2286000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38BC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90304" y="2468880"/>
            <a:ext cx="329184" cy="329184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1" name="Text 29"/>
          <p:cNvSpPr/>
          <p:nvPr/>
        </p:nvSpPr>
        <p:spPr>
          <a:xfrm>
            <a:off x="9290304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10928" y="25054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2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290304" y="288950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Vehicle Packaging Intelligence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290304" y="343814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access to trusted package knowledge while the Design is still flexible.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187952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38BC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4370832"/>
            <a:ext cx="329184" cy="329184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7" name="Text 35"/>
          <p:cNvSpPr/>
          <p:nvPr/>
        </p:nvSpPr>
        <p:spPr>
          <a:xfrm>
            <a:off x="731520" y="4361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152144" y="4407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" y="4791456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Surface Geometry Automation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31520" y="5340096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repetitive geometry work; protect expert control of Design quality.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01568" y="4187952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84448" y="4370832"/>
            <a:ext cx="329184" cy="329184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3" name="Text 41"/>
          <p:cNvSpPr/>
          <p:nvPr/>
        </p:nvSpPr>
        <p:spPr>
          <a:xfrm>
            <a:off x="3584448" y="4361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005072" y="4407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3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584448" y="4791456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&amp; Cost-of-Change Intelligence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3584448" y="5340096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visibility into the product, cost, and timing impact of Design changes.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54496" y="4187952"/>
            <a:ext cx="2706624" cy="1773936"/>
          </a:xfrm>
          <a:prstGeom prst="roundRect">
            <a:avLst>
              <a:gd name="adj" fmla="val 5670"/>
            </a:avLst>
          </a:prstGeom>
          <a:solidFill>
            <a:srgbClr val="141414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37376" y="4370832"/>
            <a:ext cx="329184" cy="329184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9" name="Text 47"/>
          <p:cNvSpPr/>
          <p:nvPr/>
        </p:nvSpPr>
        <p:spPr>
          <a:xfrm>
            <a:off x="6437376" y="4361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858000" y="4407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3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437376" y="4791456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Design Intelligence &amp; Optimization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437376" y="5340096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trusted knowledge and continuous technical feedback into the moment of creation.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9107424" y="4187952"/>
            <a:ext cx="2706624" cy="1773936"/>
          </a:xfrm>
          <a:prstGeom prst="roundRect">
            <a:avLst>
              <a:gd name="adj" fmla="val 5670"/>
            </a:avLst>
          </a:prstGeom>
          <a:ln w="12700">
            <a:solidFill>
              <a:srgbClr val="2A2A2A"/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9308592" y="4187952"/>
            <a:ext cx="230428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7 runs as two workstreams — 7A Design Intelligence Fabric and 7B Closed-Loop Optimization.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56" name="Text 54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SEVEN INITIATIVES · IN DEPTH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01  </a:t>
            </a:r>
            <a:pPr indent="0" marL="0">
              <a:buNone/>
            </a:pPr>
            <a:r>
              <a:rPr lang="en-US" sz="28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Proven Creative Enablement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358384" cy="4754880"/>
          </a:xfrm>
          <a:prstGeom prst="roundRect">
            <a:avLst>
              <a:gd name="adj" fmla="val 2115"/>
            </a:avLst>
          </a:prstGeom>
          <a:solidFill>
            <a:srgbClr val="141414"/>
          </a:solidFill>
          <a:ln w="15240">
            <a:solidFill>
              <a:srgbClr val="C5F8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92224"/>
            <a:ext cx="402336" cy="402336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35024" y="1792224"/>
            <a:ext cx="3438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AI-Supported Visualization &amp; Concept Development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809744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C5F8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9744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A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04672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04672" y="2615184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effort stands between a strong idea and shared understanding — refining, rendering, placing it in an environment, animating, and building the presentation.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04672" y="3877056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alternatives tested before commitment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411937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Earlier, clearer communication of ideas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4361688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time preparing reviews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4604004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compares directions earlier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8096" y="4937760"/>
            <a:ext cx="4919472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0976" y="5340096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rendering, sketch-to-image, color &amp; material exploration, contextual visualization, animation, presentation &amp; review prep — with governance and measurement.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81928" y="1536192"/>
            <a:ext cx="5358384" cy="4754880"/>
          </a:xfrm>
          <a:prstGeom prst="roundRect">
            <a:avLst>
              <a:gd name="adj" fmla="val 2115"/>
            </a:avLst>
          </a:prstGeom>
          <a:solidFill>
            <a:srgbClr val="141414"/>
          </a:solidFill>
          <a:ln w="15240">
            <a:solidFill>
              <a:srgbClr val="C5F8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792224"/>
            <a:ext cx="402336" cy="402336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68312" y="1792224"/>
            <a:ext cx="3438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Workflow-Based AI Training &amp; Adoption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10543032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C5F8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43032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A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37960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537960" y="2615184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a tool does not change work. People need to know where AI applies, how to use it on a real assignment, what to protect, and how to judge output quality.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537960" y="3877056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capabilities used in core workflows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37960" y="411937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learning paths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37960" y="4361688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Champion network for peer learning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37960" y="4604004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Responsible use becomes routine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01384" y="4937760"/>
            <a:ext cx="4919472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84264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684264" y="5340096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paths, discipline-specific training, AI Champions, prompt &amp; workflow libraries, coaching, adoption dashboards, and continuous improvement.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SEVEN INITIATIVES · IN DEPTH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02  </a:t>
            </a:r>
            <a:pPr indent="0" marL="0">
              <a:buNone/>
            </a:pPr>
            <a:r>
              <a:rPr lang="en-US" sz="2800" b="1" i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Intelligence in Critical Workflows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602736" cy="475488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38BC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92224"/>
            <a:ext cx="402336" cy="402336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35024" y="179222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Knowledge Capture &amp; Retrieval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054096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38B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54096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B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04672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04672" y="2615184"/>
            <a:ext cx="3099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creates valuable knowledge in reviews, decisions, critiques and historical programs — yet the reasoning behind decisions is often fragmented or lost.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04672" y="387705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Reliable, source-linked answers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4119372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review preparation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436168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Continuity between program phases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4604004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Preserved rationale; faster onboarding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8096" y="4937760"/>
            <a:ext cx="3163824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0976" y="5340096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focused pilot on Design-review information for one program. Discovery defines sources, classification, traceability, ownership, access, and platform fit.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0" y="1536192"/>
            <a:ext cx="3602736" cy="475488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38BC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3712" y="1792224"/>
            <a:ext cx="402336" cy="402336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2" name="Text 20"/>
          <p:cNvSpPr/>
          <p:nvPr/>
        </p:nvSpPr>
        <p:spPr>
          <a:xfrm>
            <a:off x="455371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84064" y="179222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Vehicle Packaging Intelligence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803136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38BC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03136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B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53712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53712" y="2615184"/>
            <a:ext cx="3099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sets the physical framework Design works within. Important constraints can become visible only after a direction has already advanced.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53712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553712" y="387705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Comparable packages found quickly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53712" y="4119372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understood earlier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53712" y="436168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Alternatives compared efficiently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53712" y="4604004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Conflicts caught before major investment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17136" y="4937760"/>
            <a:ext cx="3163824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0016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00016" y="5340096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assistant for H-Point &amp; package-library search, architecture comparison, constraint explanation, dimensional alternatives, and basic conflict identification.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046720" y="1536192"/>
            <a:ext cx="3602736" cy="4754880"/>
          </a:xfrm>
          <a:prstGeom prst="roundRect">
            <a:avLst>
              <a:gd name="adj" fmla="val 2792"/>
            </a:avLst>
          </a:prstGeom>
          <a:solidFill>
            <a:srgbClr val="141414"/>
          </a:solidFill>
          <a:ln w="15240">
            <a:solidFill>
              <a:srgbClr val="38BC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02752" y="1792224"/>
            <a:ext cx="402336" cy="402336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8" name="Text 36"/>
          <p:cNvSpPr/>
          <p:nvPr/>
        </p:nvSpPr>
        <p:spPr>
          <a:xfrm>
            <a:off x="830275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8833104" y="179222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Surface Geometry Automation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10552176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38BC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552176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B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302752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302752" y="2615184"/>
            <a:ext cx="3099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Geometry development blends craftsmanship with repetitive technical work that consumes time expert sculptors could spend on visible Design quality.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302752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302752" y="387705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manual effort on defined tasks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302752" y="4119372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iteration after package changes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302752" y="436168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geometry-error identification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302752" y="4604004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expert time on Design quality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66176" y="4937760"/>
            <a:ext cx="3163824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9056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449056" y="5340096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tasks — shut-face, B-side geometry, surface adaptation &amp; morphing, foam-block prep, geometry checking. Discovery gauges feasibility and value.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53" name="Text 51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SEVEN INITIATIVES · IN DEPTH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03  </a:t>
            </a:r>
            <a:pPr indent="0" marL="0">
              <a:buNone/>
            </a:pPr>
            <a:r>
              <a:rPr lang="en-US" sz="2800" b="1" i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Connected Design Intelligence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358384" cy="4754880"/>
          </a:xfrm>
          <a:prstGeom prst="roundRect">
            <a:avLst>
              <a:gd name="adj" fmla="val 2115"/>
            </a:avLst>
          </a:prstGeom>
          <a:solidFill>
            <a:srgbClr val="141414"/>
          </a:solidFill>
          <a:ln w="15240">
            <a:solidFill>
              <a:srgbClr val="A78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92224"/>
            <a:ext cx="402336" cy="402336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35024" y="1792224"/>
            <a:ext cx="3438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&amp; Cost-of-Change Intelligence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809744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A78A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9744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C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04672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04672" y="2615184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visible Design change can ripple into parts, engineering, tooling, suppliers, weight, validation, timing and cost — consequences not immediately visible to Design.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36210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04672" y="3877056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Better-informed trade-offs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411937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late surprises; reduced rework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4361688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cost awareness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4604004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intent aligned to business reality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8096" y="4937760"/>
            <a:ext cx="4919472" cy="1143000"/>
          </a:xfrm>
          <a:prstGeom prst="roundRect">
            <a:avLst>
              <a:gd name="adj" fmla="val 6400"/>
            </a:avLst>
          </a:prstGeom>
          <a:solidFill>
            <a:srgbClr val="0F0F0F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50840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/ WHERE IT STARTS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0976" y="5340096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limited first feature or subsystem, connecting Design geometry, product definitions, engineering, BOM, suppliers, tooling, cost, timing, and historical changes.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81928" y="1536192"/>
            <a:ext cx="5358384" cy="4754880"/>
          </a:xfrm>
          <a:prstGeom prst="roundRect">
            <a:avLst>
              <a:gd name="adj" fmla="val 2115"/>
            </a:avLst>
          </a:prstGeom>
          <a:solidFill>
            <a:srgbClr val="141414"/>
          </a:solidFill>
          <a:ln w="15240">
            <a:solidFill>
              <a:srgbClr val="A78A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792224"/>
            <a:ext cx="402336" cy="402336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68312" y="1792224"/>
            <a:ext cx="3438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Design Intelligence &amp; Optimization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10543032" y="1828800"/>
            <a:ext cx="868680" cy="292608"/>
          </a:xfrm>
          <a:prstGeom prst="roundRect">
            <a:avLst>
              <a:gd name="adj" fmla="val 50000"/>
            </a:avLst>
          </a:prstGeom>
          <a:ln w="12700">
            <a:solidFill>
              <a:srgbClr val="A78AF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43032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C–D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37960" y="23774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537960" y="2615184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and product information are distributed across systems, regions and functions — rarely accessible in the context of an actual Design decision.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01384" y="3547872"/>
            <a:ext cx="4919472" cy="960120"/>
          </a:xfrm>
          <a:prstGeom prst="roundRect">
            <a:avLst>
              <a:gd name="adj" fmla="val 7619"/>
            </a:avLst>
          </a:prstGeom>
          <a:solidFill>
            <a:srgbClr val="140E20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65976" y="3657600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7A · Design Intelligence Fabric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65976" y="393192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governed connective layer linking reviews &amp; decisions, historical programs, package, geometry, materials, engineering, BOM &amp; cost, suppliers, timing, and benchmarks — so many AI products can use consistent, traceable, protected information.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501384" y="4626864"/>
            <a:ext cx="4919472" cy="960120"/>
          </a:xfrm>
          <a:prstGeom prst="roundRect">
            <a:avLst>
              <a:gd name="adj" fmla="val 7619"/>
            </a:avLst>
          </a:prstGeom>
          <a:solidFill>
            <a:srgbClr val="140E20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5976" y="4736592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 · Closed-Loop Optimization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65976" y="5010912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fabric to give earlier feedback on alternatives — evaluated against package, aerodynamics, weight, cost, manufacturing, materials, and regulation. It informs consequences; the team still decides.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5" name="Text 33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ROADMAP · ONE INTEGRATED 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progresses:  </a:t>
            </a:r>
            <a:pPr indent="0" marL="0">
              <a:buNone/>
            </a:pPr>
            <a:r>
              <a:rPr lang="en-US" sz="30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B · C · 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0" y="932688"/>
            <a:ext cx="146304" cy="146304"/>
          </a:xfrm>
          <a:prstGeom prst="ellipse">
            <a:avLst/>
          </a:prstGeom>
          <a:ln w="12700">
            <a:solidFill>
              <a:srgbClr val="63666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973568" y="877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 charter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464040" y="914400"/>
            <a:ext cx="219456" cy="146304"/>
          </a:xfrm>
          <a:prstGeom prst="roundRect">
            <a:avLst>
              <a:gd name="adj" fmla="val 31250"/>
            </a:avLst>
          </a:prstGeom>
          <a:ln w="12700">
            <a:solidFill>
              <a:srgbClr val="63666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38360" y="87782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/ pilot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0625328" y="1005840"/>
            <a:ext cx="256032" cy="0"/>
          </a:xfrm>
          <a:prstGeom prst="line">
            <a:avLst/>
          </a:prstGeom>
          <a:noFill/>
          <a:ln w="12700">
            <a:solidFill>
              <a:srgbClr val="63666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0927080" y="87782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matures &amp; scales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91640" y="1600200"/>
            <a:ext cx="9966960" cy="3977640"/>
          </a:xfrm>
          <a:prstGeom prst="roundRect">
            <a:avLst>
              <a:gd name="adj" fmla="val 252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74520" y="1801368"/>
            <a:ext cx="384048" cy="38404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2" name="Text 10"/>
          <p:cNvSpPr/>
          <p:nvPr/>
        </p:nvSpPr>
        <p:spPr>
          <a:xfrm>
            <a:off x="187452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86" dirty="0"/>
          </a:p>
        </p:txBody>
      </p:sp>
      <p:sp>
        <p:nvSpPr>
          <p:cNvPr id="13" name="Text 11"/>
          <p:cNvSpPr/>
          <p:nvPr/>
        </p:nvSpPr>
        <p:spPr>
          <a:xfrm>
            <a:off x="2350008" y="1801368"/>
            <a:ext cx="1760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control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0008" y="2020824"/>
            <a:ext cx="1760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183380" y="1600200"/>
            <a:ext cx="0" cy="397764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66260" y="1801368"/>
            <a:ext cx="384048" cy="38404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17" name="Text 15"/>
          <p:cNvSpPr/>
          <p:nvPr/>
        </p:nvSpPr>
        <p:spPr>
          <a:xfrm>
            <a:off x="436626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86" dirty="0"/>
          </a:p>
        </p:txBody>
      </p:sp>
      <p:sp>
        <p:nvSpPr>
          <p:cNvPr id="18" name="Text 16"/>
          <p:cNvSpPr/>
          <p:nvPr/>
        </p:nvSpPr>
        <p:spPr>
          <a:xfrm>
            <a:off x="4841748" y="1801368"/>
            <a:ext cx="1760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&amp; prove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41748" y="2020824"/>
            <a:ext cx="1760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BRIDGE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675120" y="1600200"/>
            <a:ext cx="0" cy="397764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0" y="1801368"/>
            <a:ext cx="384048" cy="38404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86" dirty="0"/>
          </a:p>
        </p:txBody>
      </p:sp>
      <p:sp>
        <p:nvSpPr>
          <p:cNvPr id="23" name="Text 21"/>
          <p:cNvSpPr/>
          <p:nvPr/>
        </p:nvSpPr>
        <p:spPr>
          <a:xfrm>
            <a:off x="7333488" y="1801368"/>
            <a:ext cx="1760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&amp; scale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33488" y="2020824"/>
            <a:ext cx="1760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2–4 YEARS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166860" y="1600200"/>
            <a:ext cx="0" cy="397764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49740" y="1801368"/>
            <a:ext cx="384048" cy="384048"/>
          </a:xfrm>
          <a:prstGeom prst="ellipse">
            <a:avLst/>
          </a:prstGeom>
          <a:solidFill>
            <a:srgbClr val="FA923B"/>
          </a:solidFill>
          <a:ln/>
        </p:spPr>
      </p:sp>
      <p:sp>
        <p:nvSpPr>
          <p:cNvPr id="27" name="Text 25"/>
          <p:cNvSpPr/>
          <p:nvPr/>
        </p:nvSpPr>
        <p:spPr>
          <a:xfrm>
            <a:off x="934974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86" dirty="0"/>
          </a:p>
        </p:txBody>
      </p:sp>
      <p:sp>
        <p:nvSpPr>
          <p:cNvPr id="28" name="Text 26"/>
          <p:cNvSpPr/>
          <p:nvPr/>
        </p:nvSpPr>
        <p:spPr>
          <a:xfrm>
            <a:off x="9825228" y="1801368"/>
            <a:ext cx="1760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End-state system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825228" y="2020824"/>
            <a:ext cx="1760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A9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10-YEAR HORIZON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8640" y="2744724"/>
            <a:ext cx="41148" cy="438912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" y="26898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3735324"/>
            <a:ext cx="41148" cy="438912"/>
          </a:xfrm>
          <a:prstGeom prst="rect">
            <a:avLst/>
          </a:prstGeom>
          <a:solidFill>
            <a:srgbClr val="38BCF8"/>
          </a:solidFill>
          <a:ln/>
        </p:spPr>
      </p:sp>
      <p:sp>
        <p:nvSpPr>
          <p:cNvPr id="33" name="Text 31"/>
          <p:cNvSpPr/>
          <p:nvPr/>
        </p:nvSpPr>
        <p:spPr>
          <a:xfrm>
            <a:off x="667512" y="36804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725924"/>
            <a:ext cx="41148" cy="438912"/>
          </a:xfrm>
          <a:prstGeom prst="rect">
            <a:avLst/>
          </a:prstGeom>
          <a:solidFill>
            <a:srgbClr val="A78AF9"/>
          </a:solidFill>
          <a:ln/>
        </p:spPr>
      </p:sp>
      <p:sp>
        <p:nvSpPr>
          <p:cNvPr id="35" name="Text 33"/>
          <p:cNvSpPr/>
          <p:nvPr/>
        </p:nvSpPr>
        <p:spPr>
          <a:xfrm>
            <a:off x="667512" y="46710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&amp;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148840" y="2945892"/>
            <a:ext cx="9372600" cy="0"/>
          </a:xfrm>
          <a:prstGeom prst="line">
            <a:avLst/>
          </a:prstGeom>
          <a:noFill/>
          <a:ln w="15875">
            <a:solidFill>
              <a:srgbClr val="C5F82A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1475720" y="282702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920240" y="2598420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0240" y="2598420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 &amp; concept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920240" y="3037332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20240" y="3037332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adoption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937510" y="3854196"/>
            <a:ext cx="201168" cy="201168"/>
          </a:xfrm>
          <a:prstGeom prst="ellipse">
            <a:avLst/>
          </a:prstGeom>
          <a:ln w="12700">
            <a:solidFill>
              <a:srgbClr val="63666D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3074670" y="3936492"/>
            <a:ext cx="8446770" cy="0"/>
          </a:xfrm>
          <a:prstGeom prst="line">
            <a:avLst/>
          </a:prstGeom>
          <a:noFill/>
          <a:ln w="15875">
            <a:solidFill>
              <a:srgbClr val="38BCF8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1475720" y="381762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411980" y="3424428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38BCF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11980" y="3424428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capture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411980" y="3808476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38BCF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11980" y="3808476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intelligence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411980" y="4192524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38BCF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11980" y="4192524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Geometry automation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29250" y="4844796"/>
            <a:ext cx="201168" cy="201168"/>
          </a:xfrm>
          <a:prstGeom prst="ellipse">
            <a:avLst/>
          </a:prstGeom>
          <a:ln w="12700">
            <a:solidFill>
              <a:srgbClr val="63666D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5566410" y="4927092"/>
            <a:ext cx="3554730" cy="0"/>
          </a:xfrm>
          <a:prstGeom prst="line">
            <a:avLst/>
          </a:prstGeom>
          <a:noFill/>
          <a:ln w="15875">
            <a:solidFill>
              <a:srgbClr val="A78AF9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9075420" y="480822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6903720" y="4579620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A78AF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903720" y="4579620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&amp; cost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903720" y="5018532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A78AF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03720" y="5018532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 + optimization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9395460" y="4799076"/>
            <a:ext cx="2034540" cy="292608"/>
          </a:xfrm>
          <a:prstGeom prst="roundRect">
            <a:avLst>
              <a:gd name="adj" fmla="val 18750"/>
            </a:avLst>
          </a:prstGeom>
          <a:solidFill>
            <a:srgbClr val="1A1A1A"/>
          </a:solidFill>
          <a:ln w="15875">
            <a:solidFill>
              <a:srgbClr val="FA923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395460" y="4799076"/>
            <a:ext cx="20345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End-state system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48640" y="58064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12160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7240" y="5806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2194560" y="58064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· Data readiness · Metadata · Ownership · Portfolio discipline  </a:t>
            </a:r>
            <a:pPr indent="0" marL="0">
              <a:buNone/>
            </a:pPr>
            <a:r>
              <a:rPr lang="en-US" sz="1150" i="1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funded now, required for everything above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64" name="Text 62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ROADMAP · WHAT EACH STAGE MEANS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proven work today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system that learns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Increasing organizational and technical capability. Not every initiative begins and ends in one stage — some start with discovery and mature across stages.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2706624" cy="4206240"/>
          </a:xfrm>
          <a:prstGeom prst="roundRect">
            <a:avLst>
              <a:gd name="adj" fmla="val 3716"/>
            </a:avLst>
          </a:prstGeom>
          <a:solidFill>
            <a:srgbClr val="141414"/>
          </a:solidFill>
          <a:ln w="13970">
            <a:solidFill>
              <a:srgbClr val="C5F8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304288"/>
            <a:ext cx="365760" cy="365760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1188720" y="232257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49808" y="272491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Establish Control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3218688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proven AI to improve work today while establishing governance, team, baselines, and portfolio discipline.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49808" y="3931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THE DECK HERE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49808" y="415137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AI-supported visualization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49808" y="432054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adoption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49808" y="4489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charters for next initiatives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49808" y="4919472"/>
            <a:ext cx="2304288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992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 EVIDENCE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49808" y="521208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owners &amp; users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49808" y="5362956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baselines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49808" y="551383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registration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49808" y="5664708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measures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49808" y="581558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path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49808" y="596646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plan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401568" y="2121408"/>
            <a:ext cx="2706624" cy="4206240"/>
          </a:xfrm>
          <a:prstGeom prst="roundRect">
            <a:avLst>
              <a:gd name="adj" fmla="val 3716"/>
            </a:avLst>
          </a:prstGeom>
          <a:solidFill>
            <a:srgbClr val="141414"/>
          </a:solidFill>
          <a:ln w="13970">
            <a:solidFill>
              <a:srgbClr val="38BC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02736" y="2304288"/>
            <a:ext cx="365760" cy="365760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5" name="Text 23"/>
          <p:cNvSpPr/>
          <p:nvPr/>
        </p:nvSpPr>
        <p:spPr>
          <a:xfrm>
            <a:off x="360273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4041648" y="232257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BRIDGE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602736" y="272491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Discover, Prove &amp; Build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02736" y="3218688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targeted intelligence in workflows where value is significant but the solution must be defined and validated.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602736" y="3931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THE DECK HERE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602736" y="415137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capture &amp; retrieval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602736" y="432054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 intelligence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02736" y="4489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geometry automation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02736" y="4919472"/>
            <a:ext cx="2304288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02736" y="4992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 EVIDENCE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602736" y="521208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completion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3602736" y="5362956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Data-readiness scores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602736" y="551383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definitions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602736" y="5664708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feasibility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602736" y="581558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validation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602736" y="596646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/ stop decisions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54496" y="2121408"/>
            <a:ext cx="2706624" cy="4206240"/>
          </a:xfrm>
          <a:prstGeom prst="roundRect">
            <a:avLst>
              <a:gd name="adj" fmla="val 3716"/>
            </a:avLst>
          </a:prstGeom>
          <a:solidFill>
            <a:srgbClr val="141414"/>
          </a:solidFill>
          <a:ln w="13970">
            <a:solidFill>
              <a:srgbClr val="A78AF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55664" y="2304288"/>
            <a:ext cx="365760" cy="365760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3" name="Text 41"/>
          <p:cNvSpPr/>
          <p:nvPr/>
        </p:nvSpPr>
        <p:spPr>
          <a:xfrm>
            <a:off x="6455664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20" dirty="0"/>
          </a:p>
        </p:txBody>
      </p:sp>
      <p:sp>
        <p:nvSpPr>
          <p:cNvPr id="44" name="Text 42"/>
          <p:cNvSpPr/>
          <p:nvPr/>
        </p:nvSpPr>
        <p:spPr>
          <a:xfrm>
            <a:off x="6894576" y="232257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2–4 YEARS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455664" y="272491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&amp; Scale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455664" y="3218688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proven workflow capabilities with enterprise information and scale them across programs and regions.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455664" y="3931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THE DECK HERE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455664" y="415137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&amp; cost-of-change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455664" y="432054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Design Intelligence Fabric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455664" y="4489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pilots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455664" y="4658868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scale of proven solutions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455664" y="4919472"/>
            <a:ext cx="2304288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55664" y="4992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 EVIDENCE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455664" y="521208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deployments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455664" y="5362956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adoption &amp; reuse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455664" y="551383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cycle-time reduction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455664" y="5664708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Avoided cost / rework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455664" y="581558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value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455664" y="596646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certification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107424" y="2121408"/>
            <a:ext cx="2706624" cy="4206240"/>
          </a:xfrm>
          <a:prstGeom prst="roundRect">
            <a:avLst>
              <a:gd name="adj" fmla="val 3716"/>
            </a:avLst>
          </a:prstGeom>
          <a:solidFill>
            <a:srgbClr val="141414"/>
          </a:solidFill>
          <a:ln w="13970">
            <a:solidFill>
              <a:srgbClr val="FA923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308592" y="2304288"/>
            <a:ext cx="365760" cy="365760"/>
          </a:xfrm>
          <a:prstGeom prst="ellipse">
            <a:avLst/>
          </a:prstGeom>
          <a:solidFill>
            <a:srgbClr val="FA923B"/>
          </a:solidFill>
          <a:ln/>
        </p:spPr>
      </p:sp>
      <p:sp>
        <p:nvSpPr>
          <p:cNvPr id="62" name="Text 60"/>
          <p:cNvSpPr/>
          <p:nvPr/>
        </p:nvSpPr>
        <p:spPr>
          <a:xfrm>
            <a:off x="9308592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20" dirty="0"/>
          </a:p>
        </p:txBody>
      </p:sp>
      <p:sp>
        <p:nvSpPr>
          <p:cNvPr id="63" name="Text 61"/>
          <p:cNvSpPr/>
          <p:nvPr/>
        </p:nvSpPr>
        <p:spPr>
          <a:xfrm>
            <a:off x="9747504" y="2322576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FA9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10-YEAR HORIZON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308592" y="272491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Amplified End State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9308592" y="3218688"/>
            <a:ext cx="2322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connected Design-development system that learns from previous programs and gives continuous feedback on the implications of decisions.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9308592" y="3931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THE DECK HERE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9308592" y="4151376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A9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6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connected Design intelligence &amp; optimization across knowledge, package, geometry, BOM, cost &amp; enterprise constraints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9308592" y="4919472"/>
            <a:ext cx="2304288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08592" y="4992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 EVIDENCE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308592" y="5212080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operating model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9308592" y="5362956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knowledge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308592" y="551383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decision quality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9308592" y="5664708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reuse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9308592" y="581558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pPr indent="0" marL="0">
              <a:buNone/>
            </a:pPr>
            <a:r>
              <a:rPr lang="en-US" sz="8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advantage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76" name="Text 74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 · MEASURABLE VALUE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grows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capability matures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portfolio is measured differently at each maturity level — moving from problem sizing to proven, realized value.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DURING DISCOVERY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40080" y="25694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A → 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3072384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990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size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3392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consumed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877056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2" name="Text 10"/>
          <p:cNvSpPr/>
          <p:nvPr/>
        </p:nvSpPr>
        <p:spPr>
          <a:xfrm>
            <a:off x="877824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279392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4197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Affected users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681728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6" name="Text 14"/>
          <p:cNvSpPr/>
          <p:nvPr/>
        </p:nvSpPr>
        <p:spPr>
          <a:xfrm>
            <a:off x="877824" y="45994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readiness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5084064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8" name="Text 16"/>
          <p:cNvSpPr/>
          <p:nvPr/>
        </p:nvSpPr>
        <p:spPr>
          <a:xfrm>
            <a:off x="877824" y="5001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confidence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5486400"/>
            <a:ext cx="109728" cy="10972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20" name="Text 18"/>
          <p:cNvSpPr/>
          <p:nvPr/>
        </p:nvSpPr>
        <p:spPr>
          <a:xfrm>
            <a:off x="877824" y="54041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potential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069080" y="2971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26280" y="2331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DURING PILOTS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26280" y="25694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B → 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3072384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2990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time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26280" y="3474720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7" name="Text 25"/>
          <p:cNvSpPr/>
          <p:nvPr/>
        </p:nvSpPr>
        <p:spPr>
          <a:xfrm>
            <a:off x="4764024" y="3392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26280" y="3877056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4024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satisfaction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4526280" y="4279392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1" name="Text 29"/>
          <p:cNvSpPr/>
          <p:nvPr/>
        </p:nvSpPr>
        <p:spPr>
          <a:xfrm>
            <a:off x="4764024" y="4197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526280" y="4681728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3" name="Text 31"/>
          <p:cNvSpPr/>
          <p:nvPr/>
        </p:nvSpPr>
        <p:spPr>
          <a:xfrm>
            <a:off x="4764024" y="45994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526280" y="5084064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5" name="Text 33"/>
          <p:cNvSpPr/>
          <p:nvPr/>
        </p:nvSpPr>
        <p:spPr>
          <a:xfrm>
            <a:off x="4764024" y="5001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intent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4526280" y="5486400"/>
            <a:ext cx="109728" cy="10972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37" name="Text 35"/>
          <p:cNvSpPr/>
          <p:nvPr/>
        </p:nvSpPr>
        <p:spPr>
          <a:xfrm>
            <a:off x="4764024" y="54041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effort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7955280" y="2971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412480" y="2331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DURING SCALE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8412480" y="25694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C → 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412480" y="3072384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2" name="Text 40"/>
          <p:cNvSpPr/>
          <p:nvPr/>
        </p:nvSpPr>
        <p:spPr>
          <a:xfrm>
            <a:off x="8650224" y="2990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use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412480" y="3474720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4" name="Text 42"/>
          <p:cNvSpPr/>
          <p:nvPr/>
        </p:nvSpPr>
        <p:spPr>
          <a:xfrm>
            <a:off x="8650224" y="3392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Cycle-time reduction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8412480" y="3877056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6" name="Text 44"/>
          <p:cNvSpPr/>
          <p:nvPr/>
        </p:nvSpPr>
        <p:spPr>
          <a:xfrm>
            <a:off x="8650224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released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8412480" y="4279392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48" name="Text 46"/>
          <p:cNvSpPr/>
          <p:nvPr/>
        </p:nvSpPr>
        <p:spPr>
          <a:xfrm>
            <a:off x="8650224" y="4197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Rework avoided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8412480" y="4681728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50" name="Text 48"/>
          <p:cNvSpPr/>
          <p:nvPr/>
        </p:nvSpPr>
        <p:spPr>
          <a:xfrm>
            <a:off x="8650224" y="45994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avoided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8412480" y="5084064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52" name="Text 50"/>
          <p:cNvSpPr/>
          <p:nvPr/>
        </p:nvSpPr>
        <p:spPr>
          <a:xfrm>
            <a:off x="8650224" y="5001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reuse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8412480" y="5486400"/>
            <a:ext cx="109728" cy="10972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54" name="Text 52"/>
          <p:cNvSpPr/>
          <p:nvPr/>
        </p:nvSpPr>
        <p:spPr>
          <a:xfrm>
            <a:off x="8650224" y="54041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6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value realized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56" name="Text 54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 · AITO TRANSLATION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story,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lenses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executive question has an operational counterpart. One deck answers both audiences.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2377440" cy="786384"/>
          </a:xfrm>
          <a:prstGeom prst="roundRect">
            <a:avLst>
              <a:gd name="adj" fmla="val 11628"/>
            </a:avLst>
          </a:prstGeom>
          <a:solidFill>
            <a:srgbClr val="12160A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4028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926080" y="224028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331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rationale &amp; priority logic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20440" y="2651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problem is solved, why it matters, why AI is relevant, and why it deserves priority.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20440" y="3044952"/>
            <a:ext cx="8046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172968"/>
            <a:ext cx="2377440" cy="786384"/>
          </a:xfrm>
          <a:prstGeom prst="roundRect">
            <a:avLst>
              <a:gd name="adj" fmla="val 11628"/>
            </a:avLst>
          </a:prstGeom>
          <a:solidFill>
            <a:srgbClr val="12160A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172968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926080" y="317296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20440" y="326440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commitments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358444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Milestones, owners, dependencies, resources, decision gates, timing, and scope boundaries.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20440" y="3977640"/>
            <a:ext cx="8046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105656"/>
            <a:ext cx="2377440" cy="786384"/>
          </a:xfrm>
          <a:prstGeom prst="roundRect">
            <a:avLst>
              <a:gd name="adj" fmla="val 11628"/>
            </a:avLst>
          </a:prstGeom>
          <a:solidFill>
            <a:srgbClr val="12160A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105656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926080" y="4105656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520440" y="4197096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&amp; adoption measures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520440" y="451713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KPIs, financial outcomes, behavior change, scale &amp; reuse, evidence against the business case.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520440" y="4910328"/>
            <a:ext cx="8046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038344"/>
            <a:ext cx="2377440" cy="786384"/>
          </a:xfrm>
          <a:prstGeom prst="roundRect">
            <a:avLst>
              <a:gd name="adj" fmla="val 11628"/>
            </a:avLst>
          </a:prstGeom>
          <a:solidFill>
            <a:srgbClr val="12160A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038344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926080" y="5038344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520440" y="5129784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definition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520440" y="544982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users, workflow &amp; data requirements, architecture, governance, regional implications, production support.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 · HUB LEADER ACCOUNTABILITIES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accountabilities,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58384" cy="2148840"/>
          </a:xfrm>
          <a:prstGeom prst="roundRect">
            <a:avLst>
              <a:gd name="adj" fmla="val 4681"/>
            </a:avLst>
          </a:prstGeom>
          <a:solidFill>
            <a:srgbClr val="141414"/>
          </a:solidFill>
          <a:ln w="13970">
            <a:solidFill>
              <a:srgbClr val="C5F8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65960"/>
            <a:ext cx="384048" cy="384048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86" dirty="0"/>
          </a:p>
        </p:txBody>
      </p:sp>
      <p:sp>
        <p:nvSpPr>
          <p:cNvPr id="7" name="Text 5"/>
          <p:cNvSpPr/>
          <p:nvPr/>
        </p:nvSpPr>
        <p:spPr>
          <a:xfrm>
            <a:off x="1389888" y="1965960"/>
            <a:ext cx="4352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roadmap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41248" y="256032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portfolio, connect initiatives to strategy, set prioritization criteria, sequence discovery and delivery, assign owners as roles are staffed, and manage scale-or-stop decisions.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53328" y="1691640"/>
            <a:ext cx="5358384" cy="2148840"/>
          </a:xfrm>
          <a:prstGeom prst="roundRect">
            <a:avLst>
              <a:gd name="adj" fmla="val 4681"/>
            </a:avLst>
          </a:prstGeom>
          <a:solidFill>
            <a:srgbClr val="141414"/>
          </a:solidFill>
          <a:ln w="13970">
            <a:solidFill>
              <a:srgbClr val="38BC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45936" y="1965960"/>
            <a:ext cx="384048" cy="384048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11" name="Text 9"/>
          <p:cNvSpPr/>
          <p:nvPr/>
        </p:nvSpPr>
        <p:spPr>
          <a:xfrm>
            <a:off x="634593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86" dirty="0"/>
          </a:p>
        </p:txBody>
      </p:sp>
      <p:sp>
        <p:nvSpPr>
          <p:cNvPr id="12" name="Text 10"/>
          <p:cNvSpPr/>
          <p:nvPr/>
        </p:nvSpPr>
        <p:spPr>
          <a:xfrm>
            <a:off x="6894576" y="1965960"/>
            <a:ext cx="4352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measurable value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45936" y="256032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problem size and readiness in discovery; task time, quality and reliability in pilots; active use, cycle-time and financial value at scale.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58384" cy="2148840"/>
          </a:xfrm>
          <a:prstGeom prst="roundRect">
            <a:avLst>
              <a:gd name="adj" fmla="val 4681"/>
            </a:avLst>
          </a:prstGeom>
          <a:solidFill>
            <a:srgbClr val="141414"/>
          </a:solidFill>
          <a:ln w="13970">
            <a:solidFill>
              <a:srgbClr val="A78A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4297680"/>
            <a:ext cx="384048" cy="384048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86" dirty="0"/>
          </a:p>
        </p:txBody>
      </p:sp>
      <p:sp>
        <p:nvSpPr>
          <p:cNvPr id="17" name="Text 15"/>
          <p:cNvSpPr/>
          <p:nvPr/>
        </p:nvSpPr>
        <p:spPr>
          <a:xfrm>
            <a:off x="1389888" y="4297680"/>
            <a:ext cx="4352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&amp; sustain adoption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" y="489204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activated users, repeat and in-workflow use, proficiency, retention, regional adoption, champion participation, and workflow-outcome improvement.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053328" y="4023360"/>
            <a:ext cx="5358384" cy="2148840"/>
          </a:xfrm>
          <a:prstGeom prst="roundRect">
            <a:avLst>
              <a:gd name="adj" fmla="val 4681"/>
            </a:avLst>
          </a:prstGeom>
          <a:solidFill>
            <a:srgbClr val="141414"/>
          </a:solidFill>
          <a:ln w="13970">
            <a:solidFill>
              <a:srgbClr val="FA92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297680"/>
            <a:ext cx="384048" cy="384048"/>
          </a:xfrm>
          <a:prstGeom prst="ellipse">
            <a:avLst/>
          </a:prstGeom>
          <a:solidFill>
            <a:srgbClr val="FA923B"/>
          </a:solidFill>
          <a:ln/>
        </p:spPr>
      </p:sp>
      <p:sp>
        <p:nvSpPr>
          <p:cNvPr id="21" name="Text 19"/>
          <p:cNvSpPr/>
          <p:nvPr/>
        </p:nvSpPr>
        <p:spPr>
          <a:xfrm>
            <a:off x="6345936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6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86" dirty="0"/>
          </a:p>
        </p:txBody>
      </p:sp>
      <p:sp>
        <p:nvSpPr>
          <p:cNvPr id="22" name="Text 20"/>
          <p:cNvSpPr/>
          <p:nvPr/>
        </p:nvSpPr>
        <p:spPr>
          <a:xfrm>
            <a:off x="6894576" y="4297680"/>
            <a:ext cx="4352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Contribute beyond Design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45936" y="489204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review-capture methods, retrieval patterns, ontology, data-certification practices, intake models, adoption playbooks, platform connections, and regional deployment methods.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 · CAPABILITIES TO DELIVER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the roadmap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capability roles, grouped by the function they carry across the portfolio.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&amp; GOVERN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2596896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614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ICT AI Functional Lead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552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the portfolio to enterprise architecture, approved platforms, ICT resources, cybersecurity, and production support.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4526280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C5F8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69087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Portfolio &amp; Execution Lead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5184648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intake, prioritization, stage gates, portfolio &amp; maturity reporting, value tracking, and governance cadence.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401568" y="228600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 &amp; DEFINE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401568" y="2596896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38B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84448" y="27614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 Owners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84448" y="32552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workflow discovery, problem definition, requirements, product roadmaps, pilot definition, adoption logic, and scale recommendations.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01568" y="4526280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38B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84448" y="469087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Data Manager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84448" y="5184648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trusted-data strategy, semantic consistency, ownership standards, certification, traceability, and data readiness.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54496" y="228600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54496" y="2596896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7376" y="27614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37376" y="32552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prototyping, experimentation, solution engineering, integration, feasibility, reusable components, and deployment-ready assets.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4496" y="4526280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A78A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37376" y="469087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Data Engineers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37376" y="5184648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data models, pipelines, integrations, transformation logic, quality, lineage, and reusable data assets.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107424" y="228600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FA9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 &amp; SCALE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107424" y="2596896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FA92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90304" y="27614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AI Analyst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290304" y="32552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workflow baselines, adoption metrics, scorecards, business-case assumptions, value tracking, and outcome reporting.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107424" y="4526280"/>
            <a:ext cx="2706624" cy="1783080"/>
          </a:xfrm>
          <a:prstGeom prst="roundRect">
            <a:avLst>
              <a:gd name="adj" fmla="val 5641"/>
            </a:avLst>
          </a:prstGeom>
          <a:solidFill>
            <a:srgbClr val="141414"/>
          </a:solidFill>
          <a:ln w="12700">
            <a:solidFill>
              <a:srgbClr val="FA92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90304" y="469087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AI &amp; Data Leads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90304" y="5184648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local validation, regional priorities, constraints, pilot support, adoption, reuse, and feedback into the global portfolio.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0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31752" y="384048"/>
            <a:ext cx="-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31752" y="384048"/>
            <a:ext cx="0" cy="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473952"/>
            <a:ext cx="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6473952"/>
            <a:ext cx="0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31752" y="6473952"/>
            <a:ext cx="-310896" cy="0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31752" y="6473952"/>
            <a:ext cx="0" cy="-310896"/>
          </a:xfrm>
          <a:prstGeom prst="line">
            <a:avLst/>
          </a:prstGeom>
          <a:noFill/>
          <a:ln w="15875">
            <a:solidFill>
              <a:srgbClr val="4548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LEADERSHIP POSITIONING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0515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clear about the future we are building and the strategic areas that matter. We are equally clear that several opportunities require </a:t>
            </a:r>
            <a:pPr indent="0" marL="0">
              <a:lnSpc>
                <a:spcPct val="114000"/>
              </a:lnSpc>
              <a:buNone/>
            </a:pPr>
            <a:r>
              <a:rPr lang="en-US" sz="2400" b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discovery</a:t>
            </a:r>
            <a:pPr indent="0" marL="0">
              <a:lnSpc>
                <a:spcPct val="114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before the organization commits to a final solution or investment.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2706624" cy="1920240"/>
          </a:xfrm>
          <a:prstGeom prst="roundRect">
            <a:avLst>
              <a:gd name="adj" fmla="val 523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" y="3346704"/>
            <a:ext cx="329184" cy="329184"/>
          </a:xfrm>
          <a:prstGeom prst="ellipse">
            <a:avLst/>
          </a:prstGeom>
          <a:solidFill>
            <a:srgbClr val="C5F82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8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88" dirty="0"/>
          </a:p>
        </p:txBody>
      </p:sp>
      <p:sp>
        <p:nvSpPr>
          <p:cNvPr id="15" name="Text 13"/>
          <p:cNvSpPr/>
          <p:nvPr/>
        </p:nvSpPr>
        <p:spPr>
          <a:xfrm>
            <a:off x="768096" y="382219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where evidence exists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8096" y="43891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what already works into repeatable, measurable capability.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01568" y="3108960"/>
            <a:ext cx="2706624" cy="1920240"/>
          </a:xfrm>
          <a:prstGeom prst="roundRect">
            <a:avLst>
              <a:gd name="adj" fmla="val 523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21024" y="3346704"/>
            <a:ext cx="329184" cy="329184"/>
          </a:xfrm>
          <a:prstGeom prst="ellipse">
            <a:avLst/>
          </a:prstGeom>
          <a:solidFill>
            <a:srgbClr val="38BCF8"/>
          </a:solidFill>
          <a:ln/>
        </p:spPr>
      </p:sp>
      <p:sp>
        <p:nvSpPr>
          <p:cNvPr id="19" name="Text 17"/>
          <p:cNvSpPr/>
          <p:nvPr/>
        </p:nvSpPr>
        <p:spPr>
          <a:xfrm>
            <a:off x="3621024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8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88" dirty="0"/>
          </a:p>
        </p:txBody>
      </p:sp>
      <p:sp>
        <p:nvSpPr>
          <p:cNvPr id="20" name="Text 18"/>
          <p:cNvSpPr/>
          <p:nvPr/>
        </p:nvSpPr>
        <p:spPr>
          <a:xfrm>
            <a:off x="3621024" y="382219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with discipline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21024" y="43891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problem, data, and solution where the opportunity is strong but unproven.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54496" y="3108960"/>
            <a:ext cx="2706624" cy="1920240"/>
          </a:xfrm>
          <a:prstGeom prst="roundRect">
            <a:avLst>
              <a:gd name="adj" fmla="val 523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73952" y="3346704"/>
            <a:ext cx="329184" cy="329184"/>
          </a:xfrm>
          <a:prstGeom prst="ellipse">
            <a:avLst/>
          </a:prstGeom>
          <a:solidFill>
            <a:srgbClr val="A78AF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8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88" dirty="0"/>
          </a:p>
        </p:txBody>
      </p:sp>
      <p:sp>
        <p:nvSpPr>
          <p:cNvPr id="25" name="Text 23"/>
          <p:cNvSpPr/>
          <p:nvPr/>
        </p:nvSpPr>
        <p:spPr>
          <a:xfrm>
            <a:off x="6473952" y="382219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foundation incrementally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73952" y="43891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trusted data and connected capability as validated use cases become available.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107424" y="3108960"/>
            <a:ext cx="2706624" cy="1920240"/>
          </a:xfrm>
          <a:prstGeom prst="roundRect">
            <a:avLst>
              <a:gd name="adj" fmla="val 523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26880" y="3346704"/>
            <a:ext cx="329184" cy="329184"/>
          </a:xfrm>
          <a:prstGeom prst="ellipse">
            <a:avLst/>
          </a:prstGeom>
          <a:solidFill>
            <a:srgbClr val="FA923B"/>
          </a:solidFill>
          <a:ln/>
        </p:spPr>
      </p:sp>
      <p:sp>
        <p:nvSpPr>
          <p:cNvPr id="29" name="Text 27"/>
          <p:cNvSpPr/>
          <p:nvPr/>
        </p:nvSpPr>
        <p:spPr>
          <a:xfrm>
            <a:off x="932688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8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88" dirty="0"/>
          </a:p>
        </p:txBody>
      </p:sp>
      <p:sp>
        <p:nvSpPr>
          <p:cNvPr id="30" name="Text 28"/>
          <p:cNvSpPr/>
          <p:nvPr/>
        </p:nvSpPr>
        <p:spPr>
          <a:xfrm>
            <a:off x="9326880" y="382219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Sharpen as evidence grows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326880" y="43891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intentional model that protects investment, accelerates learning, and directs resources.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uncertainty without direction. </a:t>
            </a:r>
            <a:pPr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an intentional transformation model — and the roadmap becomes more precise as the team produces better evidence.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· PER-STRATEGY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78638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roadmap, </a:t>
            </a:r>
            <a:pPr indent="0" marL="0">
              <a:buNone/>
            </a:pPr>
            <a:r>
              <a:rPr lang="en-US" sz="3000" b="1" i="1" dirty="0">
                <a:solidFill>
                  <a:srgbClr val="C5F8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strategy at a time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operational follow-up — the main deck uses the single integrated view. Each strategy reads left-to-right across the horizon.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19456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</a:t>
            </a:r>
            <a:pPr indent="0" marL="0">
              <a:buNone/>
            </a:pPr>
            <a:r>
              <a:rPr lang="en-US" sz="1100" spc="1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NOW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2628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</a:t>
            </a:r>
            <a:pPr indent="0" marL="0">
              <a:buNone/>
            </a:pPr>
            <a:r>
              <a:rPr lang="en-US" sz="1100" spc="1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BRIDGE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</a:t>
            </a:r>
            <a:pPr indent="0" marL="0">
              <a:buNone/>
            </a:pPr>
            <a:r>
              <a:rPr lang="en-US" sz="1100" spc="1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2–4 YRS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8972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</a:t>
            </a:r>
            <a:pPr indent="0" marL="0">
              <a:buNone/>
            </a:pPr>
            <a:r>
              <a:rPr lang="en-US" sz="1100" spc="1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· HORIZON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916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999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5F8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NOW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31720" y="3108960"/>
            <a:ext cx="9326880" cy="0"/>
          </a:xfrm>
          <a:prstGeom prst="line">
            <a:avLst/>
          </a:prstGeom>
          <a:noFill/>
          <a:ln w="15875">
            <a:solidFill>
              <a:srgbClr val="C5F8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0902" y="2935224"/>
            <a:ext cx="1104595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0902" y="2935224"/>
            <a:ext cx="11045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84518" y="2935224"/>
            <a:ext cx="1044245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84518" y="2935224"/>
            <a:ext cx="104424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scale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65362" y="2935224"/>
            <a:ext cx="1345997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65362" y="2935224"/>
            <a:ext cx="13459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Reused everywhere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009851" y="3493008"/>
            <a:ext cx="1466698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C5F8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09851" y="3493008"/>
            <a:ext cx="1466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adoption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050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8B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 NEXT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331720" y="4160520"/>
            <a:ext cx="9326880" cy="0"/>
          </a:xfrm>
          <a:prstGeom prst="line">
            <a:avLst/>
          </a:prstGeom>
          <a:noFill/>
          <a:ln w="15875">
            <a:solidFill>
              <a:srgbClr val="38BC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40026" y="3986784"/>
            <a:ext cx="1406347" cy="347472"/>
          </a:xfrm>
          <a:prstGeom prst="roundRect">
            <a:avLst>
              <a:gd name="adj" fmla="val 18421"/>
            </a:avLst>
          </a:prstGeom>
          <a:solidFill>
            <a:srgbClr val="090909"/>
          </a:solidFill>
          <a:ln w="15875">
            <a:solidFill>
              <a:srgbClr val="38BCF8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2040026" y="3986784"/>
            <a:ext cx="14063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charters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09644" y="3986784"/>
            <a:ext cx="2130552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38BC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09644" y="3986784"/>
            <a:ext cx="2130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· Packaging · Geometry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4342" y="3986784"/>
            <a:ext cx="1104595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38BC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4342" y="3986784"/>
            <a:ext cx="11045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&amp; scale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67114" y="3986784"/>
            <a:ext cx="742493" cy="347472"/>
          </a:xfrm>
          <a:prstGeom prst="roundRect">
            <a:avLst>
              <a:gd name="adj" fmla="val 18421"/>
            </a:avLst>
          </a:prstGeom>
          <a:solidFill>
            <a:srgbClr val="090909"/>
          </a:solidFill>
          <a:ln w="15875">
            <a:solidFill>
              <a:srgbClr val="38BCF8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367114" y="3986784"/>
            <a:ext cx="74249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709160"/>
            <a:ext cx="110916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51023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78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&amp; OPTIMIZE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331720" y="5212080"/>
            <a:ext cx="9326880" cy="0"/>
          </a:xfrm>
          <a:prstGeom prst="line">
            <a:avLst/>
          </a:prstGeom>
          <a:noFill/>
          <a:ln w="15875">
            <a:solidFill>
              <a:srgbClr val="A78A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89150" y="5038344"/>
            <a:ext cx="1708099" cy="347472"/>
          </a:xfrm>
          <a:prstGeom prst="roundRect">
            <a:avLst>
              <a:gd name="adj" fmla="val 18421"/>
            </a:avLst>
          </a:prstGeom>
          <a:solidFill>
            <a:srgbClr val="090909"/>
          </a:solidFill>
          <a:ln w="15875">
            <a:solidFill>
              <a:srgbClr val="A78AF9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89150" y="5038344"/>
            <a:ext cx="17080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Discovery: BOM · Fabric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009644" y="5038344"/>
            <a:ext cx="2130552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A78AF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09644" y="5038344"/>
            <a:ext cx="2130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Design-to-BOM · Initial Fabric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673291" y="5038344"/>
            <a:ext cx="1466698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A78AF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3291" y="5038344"/>
            <a:ext cx="1466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pilots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95537" y="5038344"/>
            <a:ext cx="1285646" cy="347472"/>
          </a:xfrm>
          <a:prstGeom prst="roundRect">
            <a:avLst>
              <a:gd name="adj" fmla="val 18421"/>
            </a:avLst>
          </a:prstGeom>
          <a:solidFill>
            <a:srgbClr val="1A1A1A"/>
          </a:solidFill>
          <a:ln w="15875">
            <a:solidFill>
              <a:srgbClr val="FA923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95537" y="5038344"/>
            <a:ext cx="12856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9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End-state system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 = build / scale · dashed = discovery. The main-deck roadmap overlays all three of these rails into one integrated view.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2920" y="6510528"/>
            <a:ext cx="182880" cy="100584"/>
          </a:xfrm>
          <a:prstGeom prst="rect">
            <a:avLst/>
          </a:prstGeom>
          <a:solidFill>
            <a:srgbClr val="C5F82A"/>
          </a:solidFill>
          <a:ln/>
        </p:spPr>
      </p:sp>
      <p:sp>
        <p:nvSpPr>
          <p:cNvPr id="44" name="Text 42"/>
          <p:cNvSpPr/>
          <p:nvPr/>
        </p:nvSpPr>
        <p:spPr>
          <a:xfrm>
            <a:off x="74980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AMPLIFIED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1155680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3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Amplified</dc:title>
  <dc:subject>PptxGenJS Presentation</dc:subject>
  <dc:creator>AI Transformation Office</dc:creator>
  <cp:lastModifiedBy>AI Transformation Office</cp:lastModifiedBy>
  <cp:revision>1</cp:revision>
  <dcterms:created xsi:type="dcterms:W3CDTF">2026-08-04T03:57:20Z</dcterms:created>
  <dcterms:modified xsi:type="dcterms:W3CDTF">2026-08-04T03:57:20Z</dcterms:modified>
</cp:coreProperties>
</file>