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78333"/>
            <a:ext cx="310896" cy="11430"/>
          </a:xfrm>
          <a:prstGeom prst="rect">
            <a:avLst/>
          </a:prstGeom>
          <a:solidFill>
            <a:srgbClr val="45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1485" y="384048"/>
            <a:ext cx="11430" cy="310896"/>
          </a:xfrm>
          <a:prstGeom prst="rect">
            <a:avLst/>
          </a:prstGeom>
          <a:solidFill>
            <a:srgbClr val="45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20856" y="378333"/>
            <a:ext cx="310896" cy="11430"/>
          </a:xfrm>
          <a:prstGeom prst="rect">
            <a:avLst/>
          </a:prstGeom>
          <a:solidFill>
            <a:srgbClr val="45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26037" y="384048"/>
            <a:ext cx="11430" cy="310896"/>
          </a:xfrm>
          <a:prstGeom prst="rect">
            <a:avLst/>
          </a:prstGeom>
          <a:solidFill>
            <a:srgbClr val="45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468237"/>
            <a:ext cx="310896" cy="11430"/>
          </a:xfrm>
          <a:prstGeom prst="rect">
            <a:avLst/>
          </a:prstGeom>
          <a:solidFill>
            <a:srgbClr val="45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1485" y="6163056"/>
            <a:ext cx="11430" cy="310896"/>
          </a:xfrm>
          <a:prstGeom prst="rect">
            <a:avLst/>
          </a:prstGeom>
          <a:solidFill>
            <a:srgbClr val="45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20856" y="6468237"/>
            <a:ext cx="310896" cy="11430"/>
          </a:xfrm>
          <a:prstGeom prst="rect">
            <a:avLst/>
          </a:prstGeom>
          <a:solidFill>
            <a:srgbClr val="45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6037" y="6163056"/>
            <a:ext cx="11430" cy="310896"/>
          </a:xfrm>
          <a:prstGeom prst="rect">
            <a:avLst/>
          </a:prstGeom>
          <a:solidFill>
            <a:srgbClr val="45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400">
                <a:solidFill>
                  <a:srgbClr val="C5F82A"/>
                </a:solidFill>
                <a:latin typeface="Consolas"/>
              </a:rPr>
              <a:t>PRODUCT DESIGN OFFICE   ·   AI TRANSFORMATION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F4F4F5"/>
                </a:solidFill>
                <a:latin typeface="Arial"/>
              </a:rPr>
              <a:t>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10128"/>
            <a:ext cx="11155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C5F82A"/>
                </a:solidFill>
                <a:latin typeface="Arial"/>
              </a:rPr>
              <a:t>AMPLIFIED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C8CACE"/>
                </a:solidFill>
                <a:latin typeface="Arial"/>
              </a:rPr>
              <a:t>Design Amplified begins by helping people </a:t>
            </a:r>
            <a:r>
              <a:rPr sz="1500" b="1" i="0">
                <a:solidFill>
                  <a:srgbClr val="FFFFFF"/>
                </a:solidFill>
                <a:latin typeface="Arial"/>
              </a:rPr>
              <a:t>work better today</a:t>
            </a:r>
            <a:r>
              <a:rPr sz="1500" b="0" i="0">
                <a:solidFill>
                  <a:srgbClr val="C8CACE"/>
                </a:solidFill>
                <a:latin typeface="Arial"/>
              </a:rPr>
              <a:t>, develops intelligence inside </a:t>
            </a:r>
            <a:r>
              <a:rPr sz="1500" b="1" i="0">
                <a:solidFill>
                  <a:srgbClr val="FFFFFF"/>
                </a:solidFill>
                <a:latin typeface="Arial"/>
              </a:rPr>
              <a:t>critical workflows</a:t>
            </a:r>
            <a:r>
              <a:rPr sz="1500" b="0" i="0">
                <a:solidFill>
                  <a:srgbClr val="C8CACE"/>
                </a:solidFill>
                <a:latin typeface="Arial"/>
              </a:rPr>
              <a:t> next, and ultimately connects those capabilities into a globally reusable </a:t>
            </a:r>
            <a:r>
              <a:rPr sz="1500" b="1" i="0">
                <a:solidFill>
                  <a:srgbClr val="FFFFFF"/>
                </a:solidFill>
                <a:latin typeface="Arial"/>
              </a:rPr>
              <a:t>Design-development system</a:t>
            </a:r>
            <a:r>
              <a:rPr sz="1500" b="0" i="0">
                <a:solidFill>
                  <a:srgbClr val="C8CACE"/>
                </a:solidFill>
                <a:latin typeface="Arial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82880" cy="100584"/>
          </a:xfrm>
          <a:prstGeom prst="rect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643737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300">
                <a:solidFill>
                  <a:srgbClr val="63666D"/>
                </a:solidFill>
                <a:latin typeface="Consolas"/>
              </a:rPr>
              <a:t>DESIGN AMPLIFIED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>
                <a:solidFill>
                  <a:srgbClr val="63666D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C5F82A"/>
                </a:solidFill>
                <a:latin typeface="Consolas"/>
              </a:rPr>
              <a:t>HOW THIS STORY UNFOLDS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4F4F5"/>
                </a:solidFill>
                <a:latin typeface="Arial"/>
              </a:rPr>
              <a:t>Breadth first, </a:t>
            </a:r>
            <a:r>
              <a:rPr sz="3000" b="1" i="1">
                <a:solidFill>
                  <a:srgbClr val="C5F82A"/>
                </a:solidFill>
                <a:latin typeface="Arial"/>
              </a:rPr>
              <a:t>then controlled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9A9FA6"/>
                </a:solidFill>
                <a:latin typeface="Arial"/>
              </a:rPr>
              <a:t>See the complete system before the mechanics. Scale Now, Develop Next, and Build Connected are not buckets — they are a progression.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072030" cy="3291840"/>
          </a:xfrm>
          <a:prstGeom prst="roundRect">
            <a:avLst>
              <a:gd name="adj" fmla="val 4854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0545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3666D"/>
                </a:solidFill>
                <a:latin typeface="Consolas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" y="2852928"/>
            <a:ext cx="310896" cy="25603"/>
          </a:xfrm>
          <a:prstGeom prst="rect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999232"/>
            <a:ext cx="17062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343400"/>
            <a:ext cx="168798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A9FA6"/>
                </a:solidFill>
                <a:latin typeface="Arial"/>
              </a:rPr>
              <a:t>The future Design organization we are building — and why it matters now.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8958" y="2286000"/>
            <a:ext cx="182880" cy="3291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45484E"/>
                </a:solidFill>
                <a:latin typeface="Arial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3550" y="2286000"/>
            <a:ext cx="2072030" cy="3291840"/>
          </a:xfrm>
          <a:prstGeom prst="roundRect">
            <a:avLst>
              <a:gd name="adj" fmla="val 4854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4718" y="250545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3666D"/>
                </a:solidFill>
                <a:latin typeface="Consolas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23006" y="2852928"/>
            <a:ext cx="310896" cy="25603"/>
          </a:xfrm>
          <a:prstGeom prst="rect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04718" y="2999232"/>
            <a:ext cx="17062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Strategic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4718" y="4343400"/>
            <a:ext cx="168798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A9FA6"/>
                </a:solidFill>
                <a:latin typeface="Arial"/>
              </a:rPr>
              <a:t>All three strategies in one clean view — immediate, targeted, transformational.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3868" y="2286000"/>
            <a:ext cx="182880" cy="3291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45484E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8460" y="2286000"/>
            <a:ext cx="2072030" cy="3291840"/>
          </a:xfrm>
          <a:prstGeom prst="roundRect">
            <a:avLst>
              <a:gd name="adj" fmla="val 4854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9628" y="250545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3666D"/>
                </a:solidFill>
                <a:latin typeface="Consolas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77916" y="2852928"/>
            <a:ext cx="310896" cy="25603"/>
          </a:xfrm>
          <a:prstGeom prst="rect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9628" y="2999232"/>
            <a:ext cx="17062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Initiatives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9628" y="4343400"/>
            <a:ext cx="168798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A9FA6"/>
                </a:solidFill>
                <a:latin typeface="Arial"/>
              </a:rPr>
              <a:t>The seven initiatives, each tied back to the strategy it advances.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8779" y="2286000"/>
            <a:ext cx="182880" cy="3291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45484E"/>
                </a:solidFill>
                <a:latin typeface="Arial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3371" y="2286000"/>
            <a:ext cx="2072030" cy="3291840"/>
          </a:xfrm>
          <a:prstGeom prst="roundRect">
            <a:avLst>
              <a:gd name="adj" fmla="val 4854"/>
            </a:avLst>
          </a:prstGeom>
          <a:solidFill>
            <a:srgbClr val="12160A"/>
          </a:solidFill>
          <a:ln w="19050">
            <a:solidFill>
              <a:srgbClr val="C5F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4539" y="250545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5F82A"/>
                </a:solidFill>
                <a:latin typeface="Consolas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32827" y="2852928"/>
            <a:ext cx="310896" cy="25603"/>
          </a:xfrm>
          <a:prstGeom prst="rect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14539" y="2999232"/>
            <a:ext cx="17062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Roadmap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4539" y="4343400"/>
            <a:ext cx="168798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A9FA6"/>
                </a:solidFill>
                <a:latin typeface="Arial"/>
              </a:rPr>
              <a:t>One integrated A · B · C · D roadmap showing how everything progresses over time.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3689" y="2286000"/>
            <a:ext cx="182880" cy="3291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45484E"/>
                </a:solidFill>
                <a:latin typeface="Arial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68281" y="2286000"/>
            <a:ext cx="2072030" cy="3291840"/>
          </a:xfrm>
          <a:prstGeom prst="roundRect">
            <a:avLst>
              <a:gd name="adj" fmla="val 4854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69449" y="250545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3666D"/>
                </a:solidFill>
                <a:latin typeface="Consolas"/>
              </a:rPr>
              <a:t>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7737" y="2852928"/>
            <a:ext cx="310896" cy="25603"/>
          </a:xfrm>
          <a:prstGeom prst="rect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69449" y="2999232"/>
            <a:ext cx="170627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Operating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69449" y="4343400"/>
            <a:ext cx="168798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A9FA6"/>
                </a:solidFill>
                <a:latin typeface="Arial"/>
              </a:rPr>
              <a:t>How the roadmap becomes ownership, value, adoption, staffing, and governance.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704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63666D"/>
                </a:solidFill>
                <a:latin typeface="Arial"/>
              </a:rPr>
              <a:t>Per-strategy roadmaps and full delivery evidence live in the appendix and AITO follow-up — the executive roadmap stays at the initiative level.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510528"/>
            <a:ext cx="182880" cy="100584"/>
          </a:xfrm>
          <a:prstGeom prst="rect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643737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300">
                <a:solidFill>
                  <a:srgbClr val="63666D"/>
                </a:solidFill>
                <a:latin typeface="Consolas"/>
              </a:rPr>
              <a:t>DESIGN AMPLIFIED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>
                <a:solidFill>
                  <a:srgbClr val="63666D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C5F82A"/>
                </a:solidFill>
                <a:latin typeface="Consolas"/>
              </a:rPr>
              <a:t>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69494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A globally connected, AI-enabled Design organization that </a:t>
            </a:r>
            <a:r>
              <a:rPr sz="2600" b="1" i="0">
                <a:solidFill>
                  <a:srgbClr val="C5F82A"/>
                </a:solidFill>
                <a:latin typeface="Arial"/>
              </a:rPr>
              <a:t>expands human creativity</a:t>
            </a:r>
            <a:r>
              <a:rPr sz="2600" b="1" i="0">
                <a:solidFill>
                  <a:srgbClr val="FFFFFF"/>
                </a:solidFill>
                <a:latin typeface="Arial"/>
              </a:rPr>
              <a:t>, accelerates learning and decisions, </a:t>
            </a:r>
            <a:r>
              <a:rPr sz="2600" b="1" i="0">
                <a:solidFill>
                  <a:srgbClr val="C5F82A"/>
                </a:solidFill>
                <a:latin typeface="Arial"/>
              </a:rPr>
              <a:t>preserves Design intelligence</a:t>
            </a:r>
            <a:r>
              <a:rPr sz="2600" b="1" i="0">
                <a:solidFill>
                  <a:srgbClr val="FFFFFF"/>
                </a:solidFill>
                <a:latin typeface="Arial"/>
              </a:rPr>
              <a:t>, and connects creative intent with trusted product information.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77639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9A9FA6"/>
                </a:solidFill>
                <a:latin typeface="Arial"/>
              </a:rPr>
              <a:t>So Stellantis creates more distinctive, feasible, and valuable products - with greater speed and confidence.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63666D"/>
                </a:solidFill>
                <a:latin typeface="Consolas"/>
              </a:rPr>
              <a:t>WHAT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029200"/>
            <a:ext cx="2741371" cy="36576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 w="12700">
            <a:solidFill>
              <a:srgbClr val="3636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5029200"/>
            <a:ext cx="255849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C5F82A"/>
                </a:solidFill>
                <a:latin typeface="Arial"/>
              </a:rPr>
              <a:t>› </a:t>
            </a:r>
            <a:r>
              <a:rPr sz="1100" b="0" i="0">
                <a:solidFill>
                  <a:srgbClr val="D6D8DC"/>
                </a:solidFill>
                <a:latin typeface="Arial"/>
              </a:rPr>
              <a:t>Designers design more, search less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9739" y="5029200"/>
            <a:ext cx="2412187" cy="36576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 w="12700">
            <a:solidFill>
              <a:srgbClr val="3636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7755" y="5029200"/>
            <a:ext cx="222930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C5F82A"/>
                </a:solidFill>
                <a:latin typeface="Arial"/>
              </a:rPr>
              <a:t>› </a:t>
            </a:r>
            <a:r>
              <a:rPr sz="1100" b="0" i="0">
                <a:solidFill>
                  <a:srgbClr val="D6D8DC"/>
                </a:solidFill>
                <a:latin typeface="Arial"/>
              </a:rPr>
              <a:t>Trade-offs understood earlier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486400"/>
            <a:ext cx="2214676" cy="36576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 w="12700">
            <a:solidFill>
              <a:srgbClr val="3636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5486400"/>
            <a:ext cx="20317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C5F82A"/>
                </a:solidFill>
                <a:latin typeface="Arial"/>
              </a:rPr>
              <a:t>› </a:t>
            </a:r>
            <a:r>
              <a:rPr sz="1100" b="0" i="0">
                <a:solidFill>
                  <a:srgbClr val="D6D8DC"/>
                </a:solidFill>
                <a:latin typeface="Arial"/>
              </a:rPr>
              <a:t>Program knowledge persists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3044" y="5486400"/>
            <a:ext cx="2412187" cy="36576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 w="12700">
            <a:solidFill>
              <a:srgbClr val="3636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01060" y="5486400"/>
            <a:ext cx="222930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C5F82A"/>
                </a:solidFill>
                <a:latin typeface="Arial"/>
              </a:rPr>
              <a:t>› </a:t>
            </a:r>
            <a:r>
              <a:rPr sz="1100" b="0" i="0">
                <a:solidFill>
                  <a:srgbClr val="D6D8DC"/>
                </a:solidFill>
                <a:latin typeface="Arial"/>
              </a:rPr>
              <a:t>Package &amp; cost visible sooner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943600"/>
            <a:ext cx="2543860" cy="36576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 w="12700">
            <a:solidFill>
              <a:srgbClr val="3636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5943600"/>
            <a:ext cx="23609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C5F82A"/>
                </a:solidFill>
                <a:latin typeface="Arial"/>
              </a:rPr>
              <a:t>› </a:t>
            </a:r>
            <a:r>
              <a:rPr sz="1100" b="0" i="0">
                <a:solidFill>
                  <a:srgbClr val="D6D8DC"/>
                </a:solidFill>
                <a:latin typeface="Arial"/>
              </a:rPr>
              <a:t>Proven workflows scale globally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051560"/>
            <a:ext cx="3840480" cy="1572768"/>
          </a:xfrm>
          <a:prstGeom prst="roundRect">
            <a:avLst>
              <a:gd name="adj" fmla="val 6395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0" y="1271016"/>
            <a:ext cx="54864" cy="1133856"/>
          </a:xfrm>
          <a:prstGeom prst="roundRect">
            <a:avLst>
              <a:gd name="adj" fmla="val 50000"/>
            </a:avLst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125272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Amplify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1655064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A9FA6"/>
                </a:solidFill>
                <a:latin typeface="Arial"/>
              </a:rPr>
              <a:t>Expand the creative and decision-making capacity of the global Design organization.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2807208"/>
            <a:ext cx="3840480" cy="1572768"/>
          </a:xfrm>
          <a:prstGeom prst="roundRect">
            <a:avLst>
              <a:gd name="adj" fmla="val 6395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0" y="3026663"/>
            <a:ext cx="54864" cy="1133856"/>
          </a:xfrm>
          <a:prstGeom prst="roundRect">
            <a:avLst>
              <a:gd name="adj" fmla="val 50000"/>
            </a:avLst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28431" y="3008376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Accelerate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1" y="341071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A9FA6"/>
                </a:solidFill>
                <a:latin typeface="Arial"/>
              </a:rPr>
              <a:t>Explore more alternatives, understand constraints sooner, reuse knowledge more effectively.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4562856"/>
            <a:ext cx="3840480" cy="1572768"/>
          </a:xfrm>
          <a:prstGeom prst="roundRect">
            <a:avLst>
              <a:gd name="adj" fmla="val 6395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0" y="4782312"/>
            <a:ext cx="54864" cy="1133856"/>
          </a:xfrm>
          <a:prstGeom prst="roundRect">
            <a:avLst>
              <a:gd name="adj" fmla="val 50000"/>
            </a:avLst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28431" y="4764024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Preserve &amp; Connect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516636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A9FA6"/>
                </a:solidFill>
                <a:latin typeface="Arial"/>
              </a:rPr>
              <a:t>Protect human Design judgment; keep program knowledge available as teams and phases change.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510528"/>
            <a:ext cx="182880" cy="100584"/>
          </a:xfrm>
          <a:prstGeom prst="rect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643737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300">
                <a:solidFill>
                  <a:srgbClr val="63666D"/>
                </a:solidFill>
                <a:latin typeface="Consolas"/>
              </a:rPr>
              <a:t>DESIGN AMPLIFIED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>
                <a:solidFill>
                  <a:srgbClr val="63666D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C5F82A"/>
                </a:solidFill>
                <a:latin typeface="Consolas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4F4F5"/>
                </a:solidFill>
                <a:latin typeface="Arial"/>
              </a:rPr>
              <a:t>Design is getting more complex </a:t>
            </a:r>
            <a:r>
              <a:rPr sz="3000" b="1" i="1">
                <a:solidFill>
                  <a:srgbClr val="C5F82A"/>
                </a:solidFill>
                <a:latin typeface="Arial"/>
              </a:rPr>
              <a:t>and its knowledge is scattered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9A9FA6"/>
                </a:solidFill>
                <a:latin typeface="Arial"/>
              </a:rPr>
              <a:t>Two forces are compounding. Amplification is the response to both.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5358384" cy="3246120"/>
          </a:xfrm>
          <a:prstGeom prst="roundRect">
            <a:avLst>
              <a:gd name="adj" fmla="val 3098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441448"/>
            <a:ext cx="566928" cy="566928"/>
          </a:xfrm>
          <a:prstGeom prst="ellipse">
            <a:avLst/>
          </a:prstGeom>
          <a:noFill/>
          <a:ln w="19050">
            <a:solidFill>
              <a:srgbClr val="38B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38BCF8"/>
                </a:solidFill>
                <a:latin typeface="Arial"/>
              </a:rPr>
              <a:t>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78024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rial"/>
              </a:rPr>
              <a:t>Rising complexity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72968"/>
            <a:ext cx="4718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A9FA6"/>
                </a:solidFill>
                <a:latin typeface="Arial"/>
              </a:rPr>
              <a:t>Every Design must now balance more, at once: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6118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2E4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BFE6FB"/>
                </a:solidFill>
                <a:latin typeface="Arial"/>
              </a:rPr>
              <a:t>Brand character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3611880"/>
            <a:ext cx="1709928" cy="310896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2E4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3611880"/>
            <a:ext cx="17099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BFE6FB"/>
                </a:solidFill>
                <a:latin typeface="Arial"/>
              </a:rPr>
              <a:t>Customer expectations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014216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2E4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14216"/>
            <a:ext cx="15819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BFE6FB"/>
                </a:solidFill>
                <a:latin typeface="Arial"/>
              </a:rPr>
              <a:t>Package constraints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42032" y="4014216"/>
            <a:ext cx="1837944" cy="310896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2E4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42032" y="4014216"/>
            <a:ext cx="18379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BFE6FB"/>
                </a:solidFill>
                <a:latin typeface="Arial"/>
              </a:rPr>
              <a:t>Engineering feasibility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71416" y="4014216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2E4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1416" y="4014216"/>
            <a:ext cx="6217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BFE6FB"/>
                </a:solidFill>
                <a:latin typeface="Arial"/>
              </a:rPr>
              <a:t>Cost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416552"/>
            <a:ext cx="1197864" cy="310896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2E4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416552"/>
            <a:ext cx="11978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BFE6FB"/>
                </a:solidFill>
                <a:latin typeface="Arial"/>
              </a:rPr>
              <a:t>Manufacturing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57984" y="4416552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2E4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57984" y="4416552"/>
            <a:ext cx="9418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BFE6FB"/>
                </a:solidFill>
                <a:latin typeface="Arial"/>
              </a:rPr>
              <a:t>Materials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91256" y="4416552"/>
            <a:ext cx="1261872" cy="310896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2E4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91256" y="4416552"/>
            <a:ext cx="12618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BFE6FB"/>
                </a:solidFill>
                <a:latin typeface="Arial"/>
              </a:rPr>
              <a:t>Sustainability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4818888"/>
            <a:ext cx="1261872" cy="310896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2E4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18888"/>
            <a:ext cx="12618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BFE6FB"/>
                </a:solidFill>
                <a:latin typeface="Arial"/>
              </a:rPr>
              <a:t>Program timing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21992" y="4818888"/>
            <a:ext cx="1709928" cy="310896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2E4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21992" y="4818888"/>
            <a:ext cx="17099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BFE6FB"/>
                </a:solidFill>
                <a:latin typeface="Arial"/>
              </a:rPr>
              <a:t>Regional requirements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81928" y="2148840"/>
            <a:ext cx="5358384" cy="3246120"/>
          </a:xfrm>
          <a:prstGeom prst="roundRect">
            <a:avLst>
              <a:gd name="adj" fmla="val 3098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601968" y="2441448"/>
            <a:ext cx="566928" cy="566928"/>
          </a:xfrm>
          <a:prstGeom prst="ellipse">
            <a:avLst/>
          </a:prstGeom>
          <a:noFill/>
          <a:ln w="19050">
            <a:solidFill>
              <a:srgbClr val="A7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01968" y="242316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 i="0">
                <a:solidFill>
                  <a:srgbClr val="A78AF9"/>
                </a:solidFill>
                <a:latin typeface="Arial"/>
              </a:rPr>
              <a:t>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3488" y="2478024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rial"/>
              </a:rPr>
              <a:t>Fragmented knowledge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3172968"/>
            <a:ext cx="47183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9A9FA6"/>
                </a:solidFill>
                <a:latin typeface="Arial"/>
              </a:rPr>
              <a:t>Critical information — and the reasoning behind decisions — is distributed across:</a:t>
            </a:r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7287768" y="4023360"/>
            <a:ext cx="1673352" cy="457200"/>
          </a:xfrm>
          <a:prstGeom prst="line">
            <a:avLst/>
          </a:prstGeom>
          <a:ln w="12700">
            <a:solidFill>
              <a:srgbClr val="55407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8933688" y="3886200"/>
            <a:ext cx="27432" cy="594360"/>
          </a:xfrm>
          <a:prstGeom prst="line">
            <a:avLst/>
          </a:prstGeom>
          <a:ln w="12700">
            <a:solidFill>
              <a:srgbClr val="55407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961120" y="4114800"/>
            <a:ext cx="1618488" cy="365760"/>
          </a:xfrm>
          <a:prstGeom prst="line">
            <a:avLst/>
          </a:prstGeom>
          <a:ln w="12700">
            <a:solidFill>
              <a:srgbClr val="55407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7333488" y="4480560"/>
            <a:ext cx="1627632" cy="457200"/>
          </a:xfrm>
          <a:prstGeom prst="line">
            <a:avLst/>
          </a:prstGeom>
          <a:ln w="12700">
            <a:solidFill>
              <a:srgbClr val="55407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8933688" y="4480560"/>
            <a:ext cx="27432" cy="640080"/>
          </a:xfrm>
          <a:prstGeom prst="line">
            <a:avLst/>
          </a:prstGeom>
          <a:ln w="12700">
            <a:solidFill>
              <a:srgbClr val="55407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961120" y="4480560"/>
            <a:ext cx="1618488" cy="457200"/>
          </a:xfrm>
          <a:prstGeom prst="line">
            <a:avLst/>
          </a:prstGeom>
          <a:ln w="12700">
            <a:solidFill>
              <a:srgbClr val="55407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874459" y="3867912"/>
            <a:ext cx="826617" cy="310896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6A54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74459" y="3867912"/>
            <a:ext cx="82661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DDD2FB"/>
                </a:solidFill>
                <a:latin typeface="Arial"/>
              </a:rPr>
              <a:t>Studios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2868" y="3730752"/>
            <a:ext cx="1221638" cy="310896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6A54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2868" y="3730752"/>
            <a:ext cx="122163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DDD2FB"/>
                </a:solidFill>
                <a:latin typeface="Arial"/>
              </a:rPr>
              <a:t>Presentations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33380" y="3959352"/>
            <a:ext cx="892454" cy="310896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6A54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3380" y="3959352"/>
            <a:ext cx="89245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DDD2FB"/>
                </a:solidFill>
                <a:latin typeface="Arial"/>
              </a:rPr>
              <a:t>Meetings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20179" y="4782312"/>
            <a:ext cx="826617" cy="310896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6A54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20179" y="4782312"/>
            <a:ext cx="82661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DDD2FB"/>
                </a:solidFill>
                <a:latin typeface="Arial"/>
              </a:rPr>
              <a:t>Systems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58276" y="4965192"/>
            <a:ext cx="1550822" cy="310896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6A54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58276" y="4965192"/>
            <a:ext cx="155082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DDD2FB"/>
                </a:solidFill>
                <a:latin typeface="Arial"/>
              </a:rPr>
              <a:t>Individual experts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771278" y="4782312"/>
            <a:ext cx="1616659" cy="310896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6A54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71278" y="4782312"/>
            <a:ext cx="16166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DDD2FB"/>
                </a:solidFill>
                <a:latin typeface="Arial"/>
              </a:rPr>
              <a:t>Historical programs</a:t>
            </a:r>
          </a:p>
        </p:txBody>
      </p:sp>
      <p:sp>
        <p:nvSpPr>
          <p:cNvPr id="53" name="Oval 52"/>
          <p:cNvSpPr/>
          <p:nvPr/>
        </p:nvSpPr>
        <p:spPr>
          <a:xfrm>
            <a:off x="8787384" y="4306824"/>
            <a:ext cx="347472" cy="347472"/>
          </a:xfrm>
          <a:prstGeom prst="ellipse">
            <a:avLst/>
          </a:prstGeom>
          <a:solidFill>
            <a:srgbClr val="160E28"/>
          </a:solidFill>
          <a:ln w="12700">
            <a:solidFill>
              <a:srgbClr val="A7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87384" y="43068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A78AF9"/>
                </a:solidFill>
                <a:latin typeface="Arial"/>
              </a:rPr>
              <a:t>✦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5623560"/>
            <a:ext cx="11091672" cy="603504"/>
          </a:xfrm>
          <a:prstGeom prst="roundRect">
            <a:avLst>
              <a:gd name="adj" fmla="val 15151"/>
            </a:avLst>
          </a:prstGeom>
          <a:solidFill>
            <a:srgbClr val="12160A"/>
          </a:solidFill>
          <a:ln w="15875">
            <a:solidFill>
              <a:srgbClr val="C5F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5623560"/>
            <a:ext cx="17373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 spc="200">
                <a:solidFill>
                  <a:srgbClr val="C5F82A"/>
                </a:solidFill>
                <a:latin typeface="Consolas"/>
              </a:rPr>
              <a:t>THE RESPONSE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06040" y="5623560"/>
            <a:ext cx="87782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E6E8EA"/>
                </a:solidFill>
                <a:latin typeface="Arial"/>
              </a:rPr>
              <a:t>Amplify human judgment while reducing repetitive work — and connect scattered knowledge back into the moment of creation.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6510528"/>
            <a:ext cx="182880" cy="100584"/>
          </a:xfrm>
          <a:prstGeom prst="rect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8" y="643737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300">
                <a:solidFill>
                  <a:srgbClr val="63666D"/>
                </a:solidFill>
                <a:latin typeface="Consolas"/>
              </a:rPr>
              <a:t>DESIGN AMPLIFIED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55680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>
                <a:solidFill>
                  <a:srgbClr val="63666D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78333"/>
            <a:ext cx="310896" cy="11430"/>
          </a:xfrm>
          <a:prstGeom prst="rect">
            <a:avLst/>
          </a:prstGeom>
          <a:solidFill>
            <a:srgbClr val="45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1485" y="384048"/>
            <a:ext cx="11430" cy="310896"/>
          </a:xfrm>
          <a:prstGeom prst="rect">
            <a:avLst/>
          </a:prstGeom>
          <a:solidFill>
            <a:srgbClr val="45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20856" y="378333"/>
            <a:ext cx="310896" cy="11430"/>
          </a:xfrm>
          <a:prstGeom prst="rect">
            <a:avLst/>
          </a:prstGeom>
          <a:solidFill>
            <a:srgbClr val="45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26037" y="384048"/>
            <a:ext cx="11430" cy="310896"/>
          </a:xfrm>
          <a:prstGeom prst="rect">
            <a:avLst/>
          </a:prstGeom>
          <a:solidFill>
            <a:srgbClr val="45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468237"/>
            <a:ext cx="310896" cy="11430"/>
          </a:xfrm>
          <a:prstGeom prst="rect">
            <a:avLst/>
          </a:prstGeom>
          <a:solidFill>
            <a:srgbClr val="45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1485" y="6163056"/>
            <a:ext cx="11430" cy="310896"/>
          </a:xfrm>
          <a:prstGeom prst="rect">
            <a:avLst/>
          </a:prstGeom>
          <a:solidFill>
            <a:srgbClr val="45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20856" y="6468237"/>
            <a:ext cx="310896" cy="11430"/>
          </a:xfrm>
          <a:prstGeom prst="rect">
            <a:avLst/>
          </a:prstGeom>
          <a:solidFill>
            <a:srgbClr val="45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6037" y="6163056"/>
            <a:ext cx="11430" cy="310896"/>
          </a:xfrm>
          <a:prstGeom prst="rect">
            <a:avLst/>
          </a:prstGeom>
          <a:solidFill>
            <a:srgbClr val="45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C5F82A"/>
                </a:solidFill>
                <a:latin typeface="Consolas"/>
              </a:rPr>
              <a:t>MISSION  ·  HOW WE MOVE FROM TODAY TO THAT FUTURE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28800"/>
            <a:ext cx="9601200" cy="2651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Transform the highest-value Design workflows by </a:t>
            </a:r>
            <a:r>
              <a:rPr sz="3000" b="1" i="0">
                <a:solidFill>
                  <a:srgbClr val="C5F82A"/>
                </a:solidFill>
                <a:latin typeface="Arial"/>
              </a:rPr>
              <a:t>scaling</a:t>
            </a:r>
            <a:r>
              <a:rPr sz="3000" b="1" i="0">
                <a:solidFill>
                  <a:srgbClr val="FFFFFF"/>
                </a:solidFill>
                <a:latin typeface="Arial"/>
              </a:rPr>
              <a:t> proven AI, </a:t>
            </a:r>
            <a:r>
              <a:rPr sz="3000" b="1" i="0">
                <a:solidFill>
                  <a:srgbClr val="38BCF8"/>
                </a:solidFill>
                <a:latin typeface="Arial"/>
              </a:rPr>
              <a:t>developing</a:t>
            </a:r>
            <a:r>
              <a:rPr sz="3000" b="1" i="0">
                <a:solidFill>
                  <a:srgbClr val="FFFFFF"/>
                </a:solidFill>
                <a:latin typeface="Arial"/>
              </a:rPr>
              <a:t> targeted workflow intelligence, and progressively </a:t>
            </a:r>
            <a:r>
              <a:rPr sz="3000" b="1" i="0">
                <a:solidFill>
                  <a:srgbClr val="A78AF9"/>
                </a:solidFill>
                <a:latin typeface="Arial"/>
              </a:rPr>
              <a:t>connecting</a:t>
            </a:r>
            <a:r>
              <a:rPr sz="3000" b="1" i="0">
                <a:solidFill>
                  <a:srgbClr val="FFFFFF"/>
                </a:solidFill>
                <a:latin typeface="Arial"/>
              </a:rPr>
              <a:t> Design knowledge, geometry, package, engineering, and cost into trusted, reusable global capabilities.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39" y="50749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 spc="200">
                <a:solidFill>
                  <a:srgbClr val="C5F82A"/>
                </a:solidFill>
                <a:latin typeface="Consolas"/>
              </a:rPr>
              <a:t>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54864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A9FA6"/>
                </a:solidFill>
                <a:latin typeface="Arial"/>
              </a:rPr>
              <a:t>what already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50749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 spc="200">
                <a:solidFill>
                  <a:srgbClr val="38BCF8"/>
                </a:solidFill>
                <a:latin typeface="Consolas"/>
              </a:rPr>
              <a:t>DEVELOP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54864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A9FA6"/>
                </a:solidFill>
                <a:latin typeface="Arial"/>
              </a:rPr>
              <a:t>where value is proven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50749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 spc="200">
                <a:solidFill>
                  <a:srgbClr val="A78AF9"/>
                </a:solidFill>
                <a:latin typeface="Consolas"/>
              </a:rPr>
              <a:t>CONNECT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54864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A9FA6"/>
                </a:solidFill>
                <a:latin typeface="Arial"/>
              </a:rPr>
              <a:t>into one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502920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45484E"/>
                </a:solidFill>
                <a:latin typeface="Arial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502920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45484E"/>
                </a:solidFill>
                <a:latin typeface="Arial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10528"/>
            <a:ext cx="182880" cy="100584"/>
          </a:xfrm>
          <a:prstGeom prst="rect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643737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300">
                <a:solidFill>
                  <a:srgbClr val="63666D"/>
                </a:solidFill>
                <a:latin typeface="Consolas"/>
              </a:rPr>
              <a:t>DESIGN AMPLIFIED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>
                <a:solidFill>
                  <a:srgbClr val="63666D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C5F82A"/>
                </a:solidFill>
                <a:latin typeface="Consolas"/>
              </a:rPr>
              <a:t>STRATEGIC ARCHITECTURE · ALL STRATEGIES AT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4F4F5"/>
                </a:solidFill>
                <a:latin typeface="Arial"/>
              </a:rPr>
              <a:t>Three strategies, </a:t>
            </a:r>
            <a:r>
              <a:rPr sz="3000" b="1" i="1">
                <a:solidFill>
                  <a:srgbClr val="C5F82A"/>
                </a:solidFill>
                <a:latin typeface="Arial"/>
              </a:rPr>
              <a:t>one 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9A9FA6"/>
                </a:solidFill>
                <a:latin typeface="Arial"/>
              </a:rPr>
              <a:t>From immediate capability to targeted development to long-term transformation. Each layer fulfils the one above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3602736" cy="3977639"/>
          </a:xfrm>
          <a:prstGeom prst="roundRect">
            <a:avLst>
              <a:gd name="adj" fmla="val 2791"/>
            </a:avLst>
          </a:prstGeom>
          <a:solidFill>
            <a:srgbClr val="141414"/>
          </a:solidFill>
          <a:ln w="15240">
            <a:solidFill>
              <a:srgbClr val="C5F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38144" y="2404872"/>
            <a:ext cx="475488" cy="475488"/>
          </a:xfrm>
          <a:prstGeom prst="ellipse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144" y="2386584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16" b="1" i="0">
                <a:solidFill>
                  <a:srgbClr val="0A0A0A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5F82A"/>
                </a:solidFill>
                <a:latin typeface="Consolas"/>
              </a:rPr>
              <a:t>STRATEGY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807208"/>
            <a:ext cx="26883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Scale Proven Creative Enablement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776472"/>
            <a:ext cx="30998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A9FA6"/>
                </a:solidFill>
                <a:latin typeface="Arial"/>
              </a:rPr>
              <a:t>Expand capabilities that are already demonstrating value and turn them into repeatable, approved, and measurable ways of working.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4867402"/>
            <a:ext cx="3099815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965192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63666D"/>
                </a:solidFill>
                <a:latin typeface="Consolas"/>
              </a:rPr>
              <a:t>INITIATIVES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22959" y="5321807"/>
            <a:ext cx="91440" cy="91440"/>
          </a:xfrm>
          <a:prstGeom prst="ellipse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5239512"/>
            <a:ext cx="2871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 i="0">
                <a:solidFill>
                  <a:srgbClr val="D6D8DC"/>
                </a:solidFill>
                <a:latin typeface="Arial"/>
              </a:rPr>
              <a:t>AI-supported visualization &amp; concept development</a:t>
            </a:r>
          </a:p>
        </p:txBody>
      </p:sp>
      <p:sp>
        <p:nvSpPr>
          <p:cNvPr id="15" name="Oval 14"/>
          <p:cNvSpPr/>
          <p:nvPr/>
        </p:nvSpPr>
        <p:spPr>
          <a:xfrm>
            <a:off x="822959" y="5687568"/>
            <a:ext cx="91440" cy="91440"/>
          </a:xfrm>
          <a:prstGeom prst="ellipse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5605272"/>
            <a:ext cx="2871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 i="0">
                <a:solidFill>
                  <a:srgbClr val="D6D8DC"/>
                </a:solidFill>
                <a:latin typeface="Arial"/>
              </a:rPr>
              <a:t>Workflow-based AI training &amp; adoption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2148840"/>
            <a:ext cx="3602736" cy="3977639"/>
          </a:xfrm>
          <a:prstGeom prst="roundRect">
            <a:avLst>
              <a:gd name="adj" fmla="val 2791"/>
            </a:avLst>
          </a:prstGeom>
          <a:solidFill>
            <a:srgbClr val="141414"/>
          </a:solidFill>
          <a:ln w="15240">
            <a:solidFill>
              <a:srgbClr val="38B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87183" y="2404872"/>
            <a:ext cx="475488" cy="475488"/>
          </a:xfrm>
          <a:prstGeom prst="ellipse">
            <a:avLst/>
          </a:prstGeom>
          <a:solidFill>
            <a:srgbClr val="38B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87183" y="2386584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16" b="1" i="0">
                <a:solidFill>
                  <a:srgbClr val="0A0A0A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24414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38BCF8"/>
                </a:solidFill>
                <a:latin typeface="Consolas"/>
              </a:rPr>
              <a:t>STRATEGY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2807208"/>
            <a:ext cx="26883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Develop Intelligence in Critical Design Workflows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3776472"/>
            <a:ext cx="30998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A9FA6"/>
                </a:solidFill>
                <a:latin typeface="Arial"/>
              </a:rPr>
              <a:t>Use structured discovery to convert high-potential opportunity areas into clearly defined, evidence-based products and capabilities.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53712" y="4867402"/>
            <a:ext cx="3099815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4965192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63666D"/>
                </a:solidFill>
                <a:latin typeface="Consolas"/>
              </a:rPr>
              <a:t>INITIATIVES</a:t>
            </a:r>
          </a:p>
        </p:txBody>
      </p:sp>
      <p:sp>
        <p:nvSpPr>
          <p:cNvPr id="25" name="Oval 24"/>
          <p:cNvSpPr/>
          <p:nvPr/>
        </p:nvSpPr>
        <p:spPr>
          <a:xfrm>
            <a:off x="4571999" y="5321807"/>
            <a:ext cx="91440" cy="91440"/>
          </a:xfrm>
          <a:prstGeom prst="ellipse">
            <a:avLst/>
          </a:prstGeom>
          <a:solidFill>
            <a:srgbClr val="38B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7" y="5239512"/>
            <a:ext cx="2871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 i="0">
                <a:solidFill>
                  <a:srgbClr val="D6D8DC"/>
                </a:solidFill>
                <a:latin typeface="Arial"/>
              </a:rPr>
              <a:t>Design knowledge capture &amp; retrieval</a:t>
            </a:r>
          </a:p>
        </p:txBody>
      </p:sp>
      <p:sp>
        <p:nvSpPr>
          <p:cNvPr id="27" name="Oval 26"/>
          <p:cNvSpPr/>
          <p:nvPr/>
        </p:nvSpPr>
        <p:spPr>
          <a:xfrm>
            <a:off x="4571999" y="5687568"/>
            <a:ext cx="91440" cy="91440"/>
          </a:xfrm>
          <a:prstGeom prst="ellipse">
            <a:avLst/>
          </a:prstGeom>
          <a:solidFill>
            <a:srgbClr val="38B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73167" y="5605272"/>
            <a:ext cx="2871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 i="0">
                <a:solidFill>
                  <a:srgbClr val="D6D8DC"/>
                </a:solidFill>
                <a:latin typeface="Arial"/>
              </a:rPr>
              <a:t>AI vehicle packaging intelligence</a:t>
            </a:r>
          </a:p>
        </p:txBody>
      </p:sp>
      <p:sp>
        <p:nvSpPr>
          <p:cNvPr id="29" name="Oval 28"/>
          <p:cNvSpPr/>
          <p:nvPr/>
        </p:nvSpPr>
        <p:spPr>
          <a:xfrm>
            <a:off x="4571999" y="6053328"/>
            <a:ext cx="91440" cy="91440"/>
          </a:xfrm>
          <a:prstGeom prst="ellipse">
            <a:avLst/>
          </a:prstGeom>
          <a:solidFill>
            <a:srgbClr val="38B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7" y="5971032"/>
            <a:ext cx="2871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 i="0">
                <a:solidFill>
                  <a:srgbClr val="D6D8DC"/>
                </a:solidFill>
                <a:latin typeface="Arial"/>
              </a:rPr>
              <a:t>3D surface geometry automation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9" y="2148840"/>
            <a:ext cx="3602736" cy="3977639"/>
          </a:xfrm>
          <a:prstGeom prst="roundRect">
            <a:avLst>
              <a:gd name="adj" fmla="val 2791"/>
            </a:avLst>
          </a:prstGeom>
          <a:solidFill>
            <a:srgbClr val="141414"/>
          </a:solidFill>
          <a:ln w="15240">
            <a:solidFill>
              <a:srgbClr val="A7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936224" y="2404872"/>
            <a:ext cx="475488" cy="475488"/>
          </a:xfrm>
          <a:prstGeom prst="ellipse">
            <a:avLst/>
          </a:prstGeom>
          <a:solidFill>
            <a:srgbClr val="A78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36224" y="2386584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16" b="1" i="0">
                <a:solidFill>
                  <a:srgbClr val="0A0A0A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1" y="24414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A78AF9"/>
                </a:solidFill>
                <a:latin typeface="Consolas"/>
              </a:rPr>
              <a:t>STRATEGY 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1" y="2807208"/>
            <a:ext cx="26883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Build Connected Design Intelligence &amp; Optimization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1" y="3776472"/>
            <a:ext cx="30998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A9FA6"/>
                </a:solidFill>
                <a:latin typeface="Arial"/>
              </a:rPr>
              <a:t>Connect trusted information and feedback loops across Design and adjacent enterprise systems so consequences are understood earlier.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02751" y="4867402"/>
            <a:ext cx="3099815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1" y="4965192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63666D"/>
                </a:solidFill>
                <a:latin typeface="Consolas"/>
              </a:rPr>
              <a:t>INITIATIVES</a:t>
            </a:r>
          </a:p>
        </p:txBody>
      </p:sp>
      <p:sp>
        <p:nvSpPr>
          <p:cNvPr id="39" name="Oval 38"/>
          <p:cNvSpPr/>
          <p:nvPr/>
        </p:nvSpPr>
        <p:spPr>
          <a:xfrm>
            <a:off x="8321040" y="5321807"/>
            <a:ext cx="91440" cy="91440"/>
          </a:xfrm>
          <a:prstGeom prst="ellipse">
            <a:avLst/>
          </a:prstGeom>
          <a:solidFill>
            <a:srgbClr val="A78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22207" y="5239512"/>
            <a:ext cx="2871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 i="0">
                <a:solidFill>
                  <a:srgbClr val="D6D8DC"/>
                </a:solidFill>
                <a:latin typeface="Arial"/>
              </a:rPr>
              <a:t>Design-to-BOM &amp; cost-of-change intelligence</a:t>
            </a:r>
          </a:p>
        </p:txBody>
      </p:sp>
      <p:sp>
        <p:nvSpPr>
          <p:cNvPr id="41" name="Oval 40"/>
          <p:cNvSpPr/>
          <p:nvPr/>
        </p:nvSpPr>
        <p:spPr>
          <a:xfrm>
            <a:off x="8321040" y="5687568"/>
            <a:ext cx="91440" cy="91440"/>
          </a:xfrm>
          <a:prstGeom prst="ellipse">
            <a:avLst/>
          </a:prstGeom>
          <a:solidFill>
            <a:srgbClr val="A78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22207" y="5605272"/>
            <a:ext cx="2871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0" i="0">
                <a:solidFill>
                  <a:srgbClr val="D6D8DC"/>
                </a:solidFill>
                <a:latin typeface="Arial"/>
              </a:rPr>
              <a:t>Connected Design intelligence &amp; optimization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510528"/>
            <a:ext cx="182880" cy="100584"/>
          </a:xfrm>
          <a:prstGeom prst="rect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" y="643737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300">
                <a:solidFill>
                  <a:srgbClr val="63666D"/>
                </a:solidFill>
                <a:latin typeface="Consolas"/>
              </a:rPr>
              <a:t>DESIGN AMPLIFIED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>
                <a:solidFill>
                  <a:srgbClr val="63666D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C5F82A"/>
                </a:solidFill>
                <a:latin typeface="Consolas"/>
              </a:rPr>
              <a:t>THE SEVEN INITIATIVES · PORTFOLIO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4F4F5"/>
                </a:solidFill>
                <a:latin typeface="Arial"/>
              </a:rPr>
              <a:t>Every initiative, </a:t>
            </a:r>
            <a:r>
              <a:rPr sz="3000" b="1" i="1">
                <a:solidFill>
                  <a:srgbClr val="C5F82A"/>
                </a:solidFill>
                <a:latin typeface="Arial"/>
              </a:rPr>
              <a:t>tied to its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9A9FA6"/>
                </a:solidFill>
                <a:latin typeface="Arial"/>
              </a:rPr>
              <a:t>Color signals the strategy each initiative advances. This is the full portfolio before we go deeper.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38528"/>
            <a:ext cx="118872" cy="118872"/>
          </a:xfrm>
          <a:prstGeom prst="ellipse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653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 spc="100">
                <a:solidFill>
                  <a:srgbClr val="9A9FA6"/>
                </a:solidFill>
                <a:latin typeface="Consolas"/>
              </a:rPr>
              <a:t>Scale Now</a:t>
            </a:r>
          </a:p>
        </p:txBody>
      </p:sp>
      <p:sp>
        <p:nvSpPr>
          <p:cNvPr id="7" name="Oval 6"/>
          <p:cNvSpPr/>
          <p:nvPr/>
        </p:nvSpPr>
        <p:spPr>
          <a:xfrm>
            <a:off x="1592884" y="1938528"/>
            <a:ext cx="118872" cy="118872"/>
          </a:xfrm>
          <a:prstGeom prst="ellipse">
            <a:avLst/>
          </a:prstGeom>
          <a:solidFill>
            <a:srgbClr val="38B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75764" y="18653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 spc="100">
                <a:solidFill>
                  <a:srgbClr val="9A9FA6"/>
                </a:solidFill>
                <a:latin typeface="Consolas"/>
              </a:rPr>
              <a:t>Develop Next</a:t>
            </a:r>
          </a:p>
        </p:txBody>
      </p:sp>
      <p:sp>
        <p:nvSpPr>
          <p:cNvPr id="9" name="Oval 8"/>
          <p:cNvSpPr/>
          <p:nvPr/>
        </p:nvSpPr>
        <p:spPr>
          <a:xfrm>
            <a:off x="2878531" y="1938528"/>
            <a:ext cx="118872" cy="118872"/>
          </a:xfrm>
          <a:prstGeom prst="ellipse">
            <a:avLst/>
          </a:prstGeom>
          <a:solidFill>
            <a:srgbClr val="A78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1411" y="18653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 spc="100">
                <a:solidFill>
                  <a:srgbClr val="9A9FA6"/>
                </a:solidFill>
                <a:latin typeface="Consolas"/>
              </a:rPr>
              <a:t>Connect &amp; Optimize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86000"/>
            <a:ext cx="2706624" cy="1773936"/>
          </a:xfrm>
          <a:prstGeom prst="roundRect">
            <a:avLst>
              <a:gd name="adj" fmla="val 5670"/>
            </a:avLst>
          </a:prstGeom>
          <a:solidFill>
            <a:srgbClr val="141414"/>
          </a:solidFill>
          <a:ln w="12700">
            <a:solidFill>
              <a:srgbClr val="C5F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468880"/>
            <a:ext cx="329184" cy="329184"/>
          </a:xfrm>
          <a:prstGeom prst="ellipse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5059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88" b="1" i="0">
                <a:solidFill>
                  <a:srgbClr val="0A0A0A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25054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 spc="100">
                <a:solidFill>
                  <a:srgbClr val="A3E635"/>
                </a:solidFill>
                <a:latin typeface="Consolas"/>
              </a:rPr>
              <a:t>STRATEGY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89504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AI-Supported Visualization &amp; Concept 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38144"/>
            <a:ext cx="23408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0">
                <a:solidFill>
                  <a:srgbClr val="9A9FA6"/>
                </a:solidFill>
                <a:latin typeface="Arial"/>
              </a:rPr>
              <a:t>Shorten the distance between an initial idea and organizational understanding.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1568" y="2286000"/>
            <a:ext cx="2706624" cy="1773936"/>
          </a:xfrm>
          <a:prstGeom prst="roundRect">
            <a:avLst>
              <a:gd name="adj" fmla="val 5670"/>
            </a:avLst>
          </a:prstGeom>
          <a:solidFill>
            <a:srgbClr val="141414"/>
          </a:solidFill>
          <a:ln w="12700">
            <a:solidFill>
              <a:srgbClr val="C5F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84448" y="2468880"/>
            <a:ext cx="329184" cy="329184"/>
          </a:xfrm>
          <a:prstGeom prst="ellipse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245059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88" b="1" i="0">
                <a:solidFill>
                  <a:srgbClr val="0A0A0A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5072" y="25054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 spc="100">
                <a:solidFill>
                  <a:srgbClr val="A3E635"/>
                </a:solidFill>
                <a:latin typeface="Consolas"/>
              </a:rPr>
              <a:t>STRATEGY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2889504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Workflow-Based AI Training &amp; Adoption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4448" y="3438144"/>
            <a:ext cx="23408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0">
                <a:solidFill>
                  <a:srgbClr val="9A9FA6"/>
                </a:solidFill>
                <a:latin typeface="Arial"/>
              </a:rPr>
              <a:t>Turn tool deployment into behavior change inside the real work of Design.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4496" y="2286000"/>
            <a:ext cx="2706624" cy="1773936"/>
          </a:xfrm>
          <a:prstGeom prst="roundRect">
            <a:avLst>
              <a:gd name="adj" fmla="val 5670"/>
            </a:avLst>
          </a:prstGeom>
          <a:solidFill>
            <a:srgbClr val="141414"/>
          </a:solidFill>
          <a:ln w="12700">
            <a:solidFill>
              <a:srgbClr val="38B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6" y="2468880"/>
            <a:ext cx="329184" cy="329184"/>
          </a:xfrm>
          <a:prstGeom prst="ellipse">
            <a:avLst/>
          </a:prstGeom>
          <a:solidFill>
            <a:srgbClr val="38B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245059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88" b="1" i="0">
                <a:solidFill>
                  <a:srgbClr val="0A0A0A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5054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 spc="100">
                <a:solidFill>
                  <a:srgbClr val="38BCF8"/>
                </a:solidFill>
                <a:latin typeface="Consolas"/>
              </a:rPr>
              <a:t>STRATEGY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2889504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Design Knowledge Capture &amp; Retrieval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3438144"/>
            <a:ext cx="23408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0">
                <a:solidFill>
                  <a:srgbClr val="9A9FA6"/>
                </a:solidFill>
                <a:latin typeface="Arial"/>
              </a:rPr>
              <a:t>A governed, searchable memory for Design that preserves decision rationale.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07424" y="2286000"/>
            <a:ext cx="2706624" cy="1773936"/>
          </a:xfrm>
          <a:prstGeom prst="roundRect">
            <a:avLst>
              <a:gd name="adj" fmla="val 5670"/>
            </a:avLst>
          </a:prstGeom>
          <a:solidFill>
            <a:srgbClr val="141414"/>
          </a:solidFill>
          <a:ln w="12700">
            <a:solidFill>
              <a:srgbClr val="38B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90303" y="2468880"/>
            <a:ext cx="329184" cy="329184"/>
          </a:xfrm>
          <a:prstGeom prst="ellipse">
            <a:avLst/>
          </a:prstGeom>
          <a:solidFill>
            <a:srgbClr val="38B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90303" y="245059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88" b="1" i="0">
                <a:solidFill>
                  <a:srgbClr val="0A0A0A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0928" y="25054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 spc="100">
                <a:solidFill>
                  <a:srgbClr val="38BCF8"/>
                </a:solidFill>
                <a:latin typeface="Consolas"/>
              </a:rPr>
              <a:t>STRATEGY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0303" y="2889504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AI Vehicle Packaging 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0303" y="3438144"/>
            <a:ext cx="23408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0">
                <a:solidFill>
                  <a:srgbClr val="9A9FA6"/>
                </a:solidFill>
                <a:latin typeface="Arial"/>
              </a:rPr>
              <a:t>Earlier access to trusted package knowledge while the Design is still flexible.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187952"/>
            <a:ext cx="2706624" cy="1773936"/>
          </a:xfrm>
          <a:prstGeom prst="roundRect">
            <a:avLst>
              <a:gd name="adj" fmla="val 5670"/>
            </a:avLst>
          </a:prstGeom>
          <a:solidFill>
            <a:srgbClr val="141414"/>
          </a:solidFill>
          <a:ln w="12700">
            <a:solidFill>
              <a:srgbClr val="38B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31520" y="4370832"/>
            <a:ext cx="329184" cy="329184"/>
          </a:xfrm>
          <a:prstGeom prst="ellipse">
            <a:avLst/>
          </a:prstGeom>
          <a:solidFill>
            <a:srgbClr val="38B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35254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88" b="1" i="0">
                <a:solidFill>
                  <a:srgbClr val="0A0A0A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2144" y="440740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 spc="100">
                <a:solidFill>
                  <a:srgbClr val="38BCF8"/>
                </a:solidFill>
                <a:latin typeface="Consolas"/>
              </a:rPr>
              <a:t>STRATEGY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791456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3D Surface Geometry Automation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340096"/>
            <a:ext cx="23408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0">
                <a:solidFill>
                  <a:srgbClr val="9A9FA6"/>
                </a:solidFill>
                <a:latin typeface="Arial"/>
              </a:rPr>
              <a:t>Automate repetitive geometry work; protect expert control of Design quality.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01568" y="4187952"/>
            <a:ext cx="2706624" cy="1773936"/>
          </a:xfrm>
          <a:prstGeom prst="roundRect">
            <a:avLst>
              <a:gd name="adj" fmla="val 5670"/>
            </a:avLst>
          </a:prstGeom>
          <a:solidFill>
            <a:srgbClr val="141414"/>
          </a:solidFill>
          <a:ln w="12700">
            <a:solidFill>
              <a:srgbClr val="A7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584448" y="4370832"/>
            <a:ext cx="329184" cy="329184"/>
          </a:xfrm>
          <a:prstGeom prst="ellipse">
            <a:avLst/>
          </a:prstGeom>
          <a:solidFill>
            <a:srgbClr val="A78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84448" y="435254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88" b="1" i="0">
                <a:solidFill>
                  <a:srgbClr val="0A0A0A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05072" y="440740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 spc="100">
                <a:solidFill>
                  <a:srgbClr val="A78AF9"/>
                </a:solidFill>
                <a:latin typeface="Consolas"/>
              </a:rPr>
              <a:t>STRATEGY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84448" y="4791456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Design-to-BOM &amp; Cost-of-Change Intelligence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84448" y="5340096"/>
            <a:ext cx="23408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0">
                <a:solidFill>
                  <a:srgbClr val="9A9FA6"/>
                </a:solidFill>
                <a:latin typeface="Arial"/>
              </a:rPr>
              <a:t>Earlier visibility into the product, cost, and timing impact of Design changes.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54496" y="4187952"/>
            <a:ext cx="2706624" cy="1773936"/>
          </a:xfrm>
          <a:prstGeom prst="roundRect">
            <a:avLst>
              <a:gd name="adj" fmla="val 5670"/>
            </a:avLst>
          </a:prstGeom>
          <a:solidFill>
            <a:srgbClr val="141414"/>
          </a:solidFill>
          <a:ln w="12700">
            <a:solidFill>
              <a:srgbClr val="A7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37376" y="4370832"/>
            <a:ext cx="329184" cy="329184"/>
          </a:xfrm>
          <a:prstGeom prst="ellipse">
            <a:avLst/>
          </a:prstGeom>
          <a:solidFill>
            <a:srgbClr val="A78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37376" y="435254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88" b="1" i="0">
                <a:solidFill>
                  <a:srgbClr val="0A0A0A"/>
                </a:solidFill>
                <a:latin typeface="Arial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440740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 spc="100">
                <a:solidFill>
                  <a:srgbClr val="A78AF9"/>
                </a:solidFill>
                <a:latin typeface="Consolas"/>
              </a:rPr>
              <a:t>STRATEGY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37376" y="4791456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Connected Design Intelligence &amp; Optimization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37376" y="5340096"/>
            <a:ext cx="23408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 i="0">
                <a:solidFill>
                  <a:srgbClr val="9A9FA6"/>
                </a:solidFill>
                <a:latin typeface="Arial"/>
              </a:rPr>
              <a:t>Bring trusted knowledge and continuous technical feedback into the moment of creation.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07424" y="4187952"/>
            <a:ext cx="2706624" cy="1773936"/>
          </a:xfrm>
          <a:prstGeom prst="roundRect">
            <a:avLst>
              <a:gd name="adj" fmla="val 5670"/>
            </a:avLst>
          </a:prstGeom>
          <a:noFill/>
          <a:ln w="12700">
            <a:solidFill>
              <a:srgbClr val="2A2A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08592" y="4187952"/>
            <a:ext cx="2304288" cy="1773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9A9FA6"/>
                </a:solidFill>
                <a:latin typeface="Arial"/>
              </a:rPr>
              <a:t>Initiative 7 runs as two workstreams — 7A Design Intelligence Fabric and 7B Closed-Loop Optimization.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6510528"/>
            <a:ext cx="182880" cy="100584"/>
          </a:xfrm>
          <a:prstGeom prst="rect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9808" y="643737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300">
                <a:solidFill>
                  <a:srgbClr val="63666D"/>
                </a:solidFill>
                <a:latin typeface="Consolas"/>
              </a:rPr>
              <a:t>DESIGN AMPLIFIED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0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>
                <a:solidFill>
                  <a:srgbClr val="63666D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C5F82A"/>
                </a:solidFill>
                <a:latin typeface="Consolas"/>
              </a:rPr>
              <a:t>THE SEVEN INITIATIVES · IN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Strategy 01  </a:t>
            </a:r>
            <a:r>
              <a:rPr sz="2800" b="1" i="1">
                <a:solidFill>
                  <a:srgbClr val="C5F82A"/>
                </a:solidFill>
                <a:latin typeface="Arial"/>
              </a:rPr>
              <a:t>Scale Proven Creative Enablement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36192"/>
            <a:ext cx="5358384" cy="4754880"/>
          </a:xfrm>
          <a:prstGeom prst="roundRect">
            <a:avLst>
              <a:gd name="adj" fmla="val 2115"/>
            </a:avLst>
          </a:prstGeom>
          <a:solidFill>
            <a:srgbClr val="141414"/>
          </a:solidFill>
          <a:ln w="15240">
            <a:solidFill>
              <a:srgbClr val="C5F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1792224"/>
            <a:ext cx="402336" cy="402336"/>
          </a:xfrm>
          <a:prstGeom prst="ellipse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7739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2" b="1" i="0">
                <a:solidFill>
                  <a:srgbClr val="0A0A0A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1792224"/>
            <a:ext cx="34381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1" i="0">
                <a:solidFill>
                  <a:srgbClr val="FFFFFF"/>
                </a:solidFill>
                <a:latin typeface="Arial"/>
              </a:rPr>
              <a:t>AI-Supported Visualization &amp; Concept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9744" y="1828800"/>
            <a:ext cx="86868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5F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9744" y="18288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C5F82A"/>
                </a:solidFill>
                <a:latin typeface="Consolas"/>
              </a:rPr>
              <a:t>STAGE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7744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C5F82A"/>
                </a:solidFill>
                <a:latin typeface="Consolas"/>
              </a:rPr>
              <a:t>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615184"/>
            <a:ext cx="485546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9A9FA6"/>
                </a:solidFill>
                <a:latin typeface="Arial"/>
              </a:rPr>
              <a:t>Real effort stands between a strong idea and shared understanding — refining, rendering, placing it in an environment, animating, and building the presentation.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62102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C5F82A"/>
                </a:solidFill>
                <a:latin typeface="Consolas"/>
              </a:rPr>
              <a:t>WHAT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877056"/>
            <a:ext cx="4855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5F82A"/>
                </a:solidFill>
                <a:latin typeface="Arial"/>
              </a:rPr>
              <a:t>› </a:t>
            </a:r>
            <a:r>
              <a:rPr sz="1100" b="0" i="0">
                <a:solidFill>
                  <a:srgbClr val="D6D8DC"/>
                </a:solidFill>
                <a:latin typeface="Arial"/>
              </a:rPr>
              <a:t>More alternatives tested before commitment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119372"/>
            <a:ext cx="4855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5F82A"/>
                </a:solidFill>
                <a:latin typeface="Arial"/>
              </a:rPr>
              <a:t>› </a:t>
            </a:r>
            <a:r>
              <a:rPr sz="1100" b="0" i="0">
                <a:solidFill>
                  <a:srgbClr val="D6D8DC"/>
                </a:solidFill>
                <a:latin typeface="Arial"/>
              </a:rPr>
              <a:t>Earlier, clearer communication of ideas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361688"/>
            <a:ext cx="4855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5F82A"/>
                </a:solidFill>
                <a:latin typeface="Arial"/>
              </a:rPr>
              <a:t>› </a:t>
            </a:r>
            <a:r>
              <a:rPr sz="1100" b="0" i="0">
                <a:solidFill>
                  <a:srgbClr val="D6D8DC"/>
                </a:solidFill>
                <a:latin typeface="Arial"/>
              </a:rPr>
              <a:t>Less time preparing reviews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604003"/>
            <a:ext cx="4855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5F82A"/>
                </a:solidFill>
                <a:latin typeface="Arial"/>
              </a:rPr>
              <a:t>› </a:t>
            </a:r>
            <a:r>
              <a:rPr sz="1100" b="0" i="0">
                <a:solidFill>
                  <a:srgbClr val="D6D8DC"/>
                </a:solidFill>
                <a:latin typeface="Arial"/>
              </a:rPr>
              <a:t>Leadership compares directions earlier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937760"/>
            <a:ext cx="4919472" cy="1143000"/>
          </a:xfrm>
          <a:prstGeom prst="roundRect">
            <a:avLst>
              <a:gd name="adj" fmla="val 6400"/>
            </a:avLst>
          </a:prstGeom>
          <a:solidFill>
            <a:srgbClr val="0F0F0F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508406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A3E635"/>
                </a:solidFill>
                <a:latin typeface="Consolas"/>
              </a:rPr>
              <a:t>SCOPE / WHERE IT STARTS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5340096"/>
            <a:ext cx="45354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A9FA6"/>
                </a:solidFill>
                <a:latin typeface="Arial"/>
              </a:rPr>
              <a:t>Concept rendering, sketch-to-image, color &amp; material exploration, contextual visualization, animation, presentation &amp; review prep — with governance and measurement.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1536192"/>
            <a:ext cx="5358384" cy="4754880"/>
          </a:xfrm>
          <a:prstGeom prst="roundRect">
            <a:avLst>
              <a:gd name="adj" fmla="val 2115"/>
            </a:avLst>
          </a:prstGeom>
          <a:solidFill>
            <a:srgbClr val="141414"/>
          </a:solidFill>
          <a:ln w="15240">
            <a:solidFill>
              <a:srgbClr val="C5F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7960" y="1792224"/>
            <a:ext cx="402336" cy="402336"/>
          </a:xfrm>
          <a:prstGeom prst="ellipse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7739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2" b="1" i="0">
                <a:solidFill>
                  <a:srgbClr val="0A0A0A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312" y="1792224"/>
            <a:ext cx="34381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1" i="0">
                <a:solidFill>
                  <a:srgbClr val="FFFFFF"/>
                </a:solidFill>
                <a:latin typeface="Arial"/>
              </a:rPr>
              <a:t>Workflow-Based AI Training &amp; Adoption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43032" y="1828800"/>
            <a:ext cx="86868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5F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43032" y="18288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C5F82A"/>
                </a:solidFill>
                <a:latin typeface="Consolas"/>
              </a:rPr>
              <a:t>STAGE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37744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C5F82A"/>
                </a:solidFill>
                <a:latin typeface="Consolas"/>
              </a:rPr>
              <a:t>WHY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615184"/>
            <a:ext cx="485546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9A9FA6"/>
                </a:solidFill>
                <a:latin typeface="Arial"/>
              </a:rPr>
              <a:t>Access to a tool does not change work. People need to know where AI applies, how to use it on a real assignment, what to protect, and how to judge output quality.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62102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C5F82A"/>
                </a:solidFill>
                <a:latin typeface="Consolas"/>
              </a:rPr>
              <a:t>WHAT CHANGES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877056"/>
            <a:ext cx="4855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5F82A"/>
                </a:solidFill>
                <a:latin typeface="Arial"/>
              </a:rPr>
              <a:t>› </a:t>
            </a:r>
            <a:r>
              <a:rPr sz="1100" b="0" i="0">
                <a:solidFill>
                  <a:srgbClr val="D6D8DC"/>
                </a:solidFill>
                <a:latin typeface="Arial"/>
              </a:rPr>
              <a:t>Approved capabilities used in core workflows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119372"/>
            <a:ext cx="4855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5F82A"/>
                </a:solidFill>
                <a:latin typeface="Arial"/>
              </a:rPr>
              <a:t>› </a:t>
            </a:r>
            <a:r>
              <a:rPr sz="1100" b="0" i="0">
                <a:solidFill>
                  <a:srgbClr val="D6D8DC"/>
                </a:solidFill>
                <a:latin typeface="Arial"/>
              </a:rPr>
              <a:t>Role-based learning paths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361688"/>
            <a:ext cx="4855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5F82A"/>
                </a:solidFill>
                <a:latin typeface="Arial"/>
              </a:rPr>
              <a:t>› </a:t>
            </a:r>
            <a:r>
              <a:rPr sz="1100" b="0" i="0">
                <a:solidFill>
                  <a:srgbClr val="D6D8DC"/>
                </a:solidFill>
                <a:latin typeface="Arial"/>
              </a:rPr>
              <a:t>AI Champion network for peer learning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604003"/>
            <a:ext cx="4855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5F82A"/>
                </a:solidFill>
                <a:latin typeface="Arial"/>
              </a:rPr>
              <a:t>› </a:t>
            </a:r>
            <a:r>
              <a:rPr sz="1100" b="0" i="0">
                <a:solidFill>
                  <a:srgbClr val="D6D8DC"/>
                </a:solidFill>
                <a:latin typeface="Arial"/>
              </a:rPr>
              <a:t>Responsible use becomes routine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01384" y="4937760"/>
            <a:ext cx="4919472" cy="1143000"/>
          </a:xfrm>
          <a:prstGeom prst="roundRect">
            <a:avLst>
              <a:gd name="adj" fmla="val 6400"/>
            </a:avLst>
          </a:prstGeom>
          <a:solidFill>
            <a:srgbClr val="0F0F0F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84264" y="508406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A3E635"/>
                </a:solidFill>
                <a:latin typeface="Consolas"/>
              </a:rPr>
              <a:t>SCOPE / WHERE IT STARTS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84264" y="5340096"/>
            <a:ext cx="45354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A9FA6"/>
                </a:solidFill>
                <a:latin typeface="Arial"/>
              </a:rPr>
              <a:t>Role-based paths, discipline-specific training, AI Champions, prompt &amp; workflow libraries, coaching, adoption dashboards, and continuous improvement.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510528"/>
            <a:ext cx="182880" cy="100584"/>
          </a:xfrm>
          <a:prstGeom prst="rect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643737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300">
                <a:solidFill>
                  <a:srgbClr val="63666D"/>
                </a:solidFill>
                <a:latin typeface="Consolas"/>
              </a:rPr>
              <a:t>DESIGN AMPLIFIED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>
                <a:solidFill>
                  <a:srgbClr val="63666D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C5F82A"/>
                </a:solidFill>
                <a:latin typeface="Consolas"/>
              </a:rPr>
              <a:t>THE SEVEN INITIATIVES · IN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Strategy 02  </a:t>
            </a:r>
            <a:r>
              <a:rPr sz="2800" b="1" i="1">
                <a:solidFill>
                  <a:srgbClr val="38BCF8"/>
                </a:solidFill>
                <a:latin typeface="Arial"/>
              </a:rPr>
              <a:t>Develop Intelligence in Critical Workflows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36192"/>
            <a:ext cx="3602736" cy="4754880"/>
          </a:xfrm>
          <a:prstGeom prst="roundRect">
            <a:avLst>
              <a:gd name="adj" fmla="val 2791"/>
            </a:avLst>
          </a:prstGeom>
          <a:solidFill>
            <a:srgbClr val="141414"/>
          </a:solidFill>
          <a:ln w="15240">
            <a:solidFill>
              <a:srgbClr val="38B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1792224"/>
            <a:ext cx="402336" cy="402336"/>
          </a:xfrm>
          <a:prstGeom prst="ellipse">
            <a:avLst/>
          </a:prstGeom>
          <a:solidFill>
            <a:srgbClr val="38B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7739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2" b="1" i="0">
                <a:solidFill>
                  <a:srgbClr val="0A0A0A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1792224"/>
            <a:ext cx="16824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1" i="0">
                <a:solidFill>
                  <a:srgbClr val="FFFFFF"/>
                </a:solidFill>
                <a:latin typeface="Arial"/>
              </a:rPr>
              <a:t>Design Knowledge Capture &amp; Retrieval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54096" y="1828800"/>
            <a:ext cx="86868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8B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8288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38BCF8"/>
                </a:solidFill>
                <a:latin typeface="Consolas"/>
              </a:rPr>
              <a:t>STAGE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7744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38BCF8"/>
                </a:solidFill>
                <a:latin typeface="Consolas"/>
              </a:rPr>
              <a:t>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615184"/>
            <a:ext cx="30998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9A9FA6"/>
                </a:solidFill>
                <a:latin typeface="Arial"/>
              </a:rPr>
              <a:t>Design creates valuable knowledge in reviews, decisions, critiques and historical programs — yet the reasoning behind decisions is often fragmented or lost.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62102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38BCF8"/>
                </a:solidFill>
                <a:latin typeface="Consolas"/>
              </a:rPr>
              <a:t>WHAT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877056"/>
            <a:ext cx="3099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BCF8"/>
                </a:solidFill>
                <a:latin typeface="Arial"/>
              </a:rPr>
              <a:t>› </a:t>
            </a:r>
            <a:r>
              <a:rPr sz="1100" b="0" i="0">
                <a:solidFill>
                  <a:srgbClr val="D6D8DC"/>
                </a:solidFill>
                <a:latin typeface="Arial"/>
              </a:rPr>
              <a:t>Reliable, source-linked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119372"/>
            <a:ext cx="3099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BCF8"/>
                </a:solidFill>
                <a:latin typeface="Arial"/>
              </a:rPr>
              <a:t>› </a:t>
            </a:r>
            <a:r>
              <a:rPr sz="1100" b="0" i="0">
                <a:solidFill>
                  <a:srgbClr val="D6D8DC"/>
                </a:solidFill>
                <a:latin typeface="Arial"/>
              </a:rPr>
              <a:t>Faster review preparation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361688"/>
            <a:ext cx="3099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BCF8"/>
                </a:solidFill>
                <a:latin typeface="Arial"/>
              </a:rPr>
              <a:t>› </a:t>
            </a:r>
            <a:r>
              <a:rPr sz="1100" b="0" i="0">
                <a:solidFill>
                  <a:srgbClr val="D6D8DC"/>
                </a:solidFill>
                <a:latin typeface="Arial"/>
              </a:rPr>
              <a:t>Continuity between program phases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604003"/>
            <a:ext cx="3099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BCF8"/>
                </a:solidFill>
                <a:latin typeface="Arial"/>
              </a:rPr>
              <a:t>› </a:t>
            </a:r>
            <a:r>
              <a:rPr sz="1100" b="0" i="0">
                <a:solidFill>
                  <a:srgbClr val="D6D8DC"/>
                </a:solidFill>
                <a:latin typeface="Arial"/>
              </a:rPr>
              <a:t>Preserved rationale; faster onboarding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937760"/>
            <a:ext cx="3163824" cy="1143000"/>
          </a:xfrm>
          <a:prstGeom prst="roundRect">
            <a:avLst>
              <a:gd name="adj" fmla="val 6400"/>
            </a:avLst>
          </a:prstGeom>
          <a:solidFill>
            <a:srgbClr val="0F0F0F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508406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38BCF8"/>
                </a:solidFill>
                <a:latin typeface="Consolas"/>
              </a:rPr>
              <a:t>SCOPE / WHERE IT STARTS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5340096"/>
            <a:ext cx="27797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A9FA6"/>
                </a:solidFill>
                <a:latin typeface="Arial"/>
              </a:rPr>
              <a:t>Start with a focused pilot on Design-review information for one program. Discovery defines sources, classification, traceability, ownership, access, and platform fit.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1536192"/>
            <a:ext cx="3602736" cy="4754880"/>
          </a:xfrm>
          <a:prstGeom prst="roundRect">
            <a:avLst>
              <a:gd name="adj" fmla="val 2791"/>
            </a:avLst>
          </a:prstGeom>
          <a:solidFill>
            <a:srgbClr val="141414"/>
          </a:solidFill>
          <a:ln w="15240">
            <a:solidFill>
              <a:srgbClr val="38B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53712" y="1792224"/>
            <a:ext cx="402336" cy="402336"/>
          </a:xfrm>
          <a:prstGeom prst="ellipse">
            <a:avLst/>
          </a:prstGeom>
          <a:solidFill>
            <a:srgbClr val="38B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17739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2" b="1" i="0">
                <a:solidFill>
                  <a:srgbClr val="0A0A0A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1792224"/>
            <a:ext cx="16824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1" i="0">
                <a:solidFill>
                  <a:srgbClr val="FFFFFF"/>
                </a:solidFill>
                <a:latin typeface="Arial"/>
              </a:rPr>
              <a:t>AI Vehicle Packaging Intelligence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03136" y="1828800"/>
            <a:ext cx="86868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8B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18288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38BCF8"/>
                </a:solidFill>
                <a:latin typeface="Consolas"/>
              </a:rPr>
              <a:t>STAGE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237744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38BCF8"/>
                </a:solidFill>
                <a:latin typeface="Consolas"/>
              </a:rPr>
              <a:t>WHY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2615184"/>
            <a:ext cx="30998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9A9FA6"/>
                </a:solidFill>
                <a:latin typeface="Arial"/>
              </a:rPr>
              <a:t>Packaging sets the physical framework Design works within. Important constraints can become visible only after a direction has already advanced.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362102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38BCF8"/>
                </a:solidFill>
                <a:latin typeface="Consolas"/>
              </a:rPr>
              <a:t>WHAT CHANGES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3877056"/>
            <a:ext cx="3099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BCF8"/>
                </a:solidFill>
                <a:latin typeface="Arial"/>
              </a:rPr>
              <a:t>› </a:t>
            </a:r>
            <a:r>
              <a:rPr sz="1100" b="0" i="0">
                <a:solidFill>
                  <a:srgbClr val="D6D8DC"/>
                </a:solidFill>
                <a:latin typeface="Arial"/>
              </a:rPr>
              <a:t>Comparable packages found quickly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4119372"/>
            <a:ext cx="3099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BCF8"/>
                </a:solidFill>
                <a:latin typeface="Arial"/>
              </a:rPr>
              <a:t>› </a:t>
            </a:r>
            <a:r>
              <a:rPr sz="1100" b="0" i="0">
                <a:solidFill>
                  <a:srgbClr val="D6D8DC"/>
                </a:solidFill>
                <a:latin typeface="Arial"/>
              </a:rPr>
              <a:t>Constraints understood earlier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4361688"/>
            <a:ext cx="3099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BCF8"/>
                </a:solidFill>
                <a:latin typeface="Arial"/>
              </a:rPr>
              <a:t>› </a:t>
            </a:r>
            <a:r>
              <a:rPr sz="1100" b="0" i="0">
                <a:solidFill>
                  <a:srgbClr val="D6D8DC"/>
                </a:solidFill>
                <a:latin typeface="Arial"/>
              </a:rPr>
              <a:t>Alternatives compared efficiently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4604003"/>
            <a:ext cx="3099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BCF8"/>
                </a:solidFill>
                <a:latin typeface="Arial"/>
              </a:rPr>
              <a:t>› </a:t>
            </a:r>
            <a:r>
              <a:rPr sz="1100" b="0" i="0">
                <a:solidFill>
                  <a:srgbClr val="D6D8DC"/>
                </a:solidFill>
                <a:latin typeface="Arial"/>
              </a:rPr>
              <a:t>Conflicts caught before major investment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17136" y="4937760"/>
            <a:ext cx="3163824" cy="1143000"/>
          </a:xfrm>
          <a:prstGeom prst="roundRect">
            <a:avLst>
              <a:gd name="adj" fmla="val 6400"/>
            </a:avLst>
          </a:prstGeom>
          <a:solidFill>
            <a:srgbClr val="0F0F0F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0016" y="508406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38BCF8"/>
                </a:solidFill>
                <a:latin typeface="Consolas"/>
              </a:rPr>
              <a:t>SCOPE / WHERE IT STARTS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0016" y="5340096"/>
            <a:ext cx="27797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A9FA6"/>
                </a:solidFill>
                <a:latin typeface="Arial"/>
              </a:rPr>
              <a:t>An assistant for H-Point &amp; package-library search, architecture comparison, constraint explanation, dimensional alternatives, and basic conflict identification.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19" y="1536192"/>
            <a:ext cx="3602736" cy="4754880"/>
          </a:xfrm>
          <a:prstGeom prst="roundRect">
            <a:avLst>
              <a:gd name="adj" fmla="val 2791"/>
            </a:avLst>
          </a:prstGeom>
          <a:solidFill>
            <a:srgbClr val="141414"/>
          </a:solidFill>
          <a:ln w="15240">
            <a:solidFill>
              <a:srgbClr val="38B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02751" y="1792224"/>
            <a:ext cx="402336" cy="402336"/>
          </a:xfrm>
          <a:prstGeom prst="ellipse">
            <a:avLst/>
          </a:prstGeom>
          <a:solidFill>
            <a:srgbClr val="38B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1" y="17739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2" b="1" i="0">
                <a:solidFill>
                  <a:srgbClr val="0A0A0A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33103" y="1792224"/>
            <a:ext cx="16824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1" i="0">
                <a:solidFill>
                  <a:srgbClr val="FFFFFF"/>
                </a:solidFill>
                <a:latin typeface="Arial"/>
              </a:rPr>
              <a:t>3D Surface Geometry Automation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552176" y="1828800"/>
            <a:ext cx="86868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8B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52176" y="18288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38BCF8"/>
                </a:solidFill>
                <a:latin typeface="Consolas"/>
              </a:rPr>
              <a:t>STAGE 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2751" y="237744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38BCF8"/>
                </a:solidFill>
                <a:latin typeface="Consolas"/>
              </a:rPr>
              <a:t>WHY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1" y="2615184"/>
            <a:ext cx="30998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9A9FA6"/>
                </a:solidFill>
                <a:latin typeface="Arial"/>
              </a:rPr>
              <a:t>Geometry development blends craftsmanship with repetitive technical work that consumes time expert sculptors could spend on visible Design quality.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02751" y="362102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38BCF8"/>
                </a:solidFill>
                <a:latin typeface="Consolas"/>
              </a:rPr>
              <a:t>WHAT CHANGES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02751" y="3877056"/>
            <a:ext cx="3099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BCF8"/>
                </a:solidFill>
                <a:latin typeface="Arial"/>
              </a:rPr>
              <a:t>› </a:t>
            </a:r>
            <a:r>
              <a:rPr sz="1100" b="0" i="0">
                <a:solidFill>
                  <a:srgbClr val="D6D8DC"/>
                </a:solidFill>
                <a:latin typeface="Arial"/>
              </a:rPr>
              <a:t>Less manual effort on defined tasks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02751" y="4119372"/>
            <a:ext cx="3099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BCF8"/>
                </a:solidFill>
                <a:latin typeface="Arial"/>
              </a:rPr>
              <a:t>› </a:t>
            </a:r>
            <a:r>
              <a:rPr sz="1100" b="0" i="0">
                <a:solidFill>
                  <a:srgbClr val="D6D8DC"/>
                </a:solidFill>
                <a:latin typeface="Arial"/>
              </a:rPr>
              <a:t>Faster iteration after package changes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02751" y="4361688"/>
            <a:ext cx="3099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BCF8"/>
                </a:solidFill>
                <a:latin typeface="Arial"/>
              </a:rPr>
              <a:t>› </a:t>
            </a:r>
            <a:r>
              <a:rPr sz="1100" b="0" i="0">
                <a:solidFill>
                  <a:srgbClr val="D6D8DC"/>
                </a:solidFill>
                <a:latin typeface="Arial"/>
              </a:rPr>
              <a:t>Earlier geometry-error identification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02751" y="4604003"/>
            <a:ext cx="3099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BCF8"/>
                </a:solidFill>
                <a:latin typeface="Arial"/>
              </a:rPr>
              <a:t>› </a:t>
            </a:r>
            <a:r>
              <a:rPr sz="1100" b="0" i="0">
                <a:solidFill>
                  <a:srgbClr val="D6D8DC"/>
                </a:solidFill>
                <a:latin typeface="Arial"/>
              </a:rPr>
              <a:t>More expert time on Design quality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66175" y="4937760"/>
            <a:ext cx="3163824" cy="1143000"/>
          </a:xfrm>
          <a:prstGeom prst="roundRect">
            <a:avLst>
              <a:gd name="adj" fmla="val 6400"/>
            </a:avLst>
          </a:prstGeom>
          <a:solidFill>
            <a:srgbClr val="0F0F0F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49055" y="508406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38BCF8"/>
                </a:solidFill>
                <a:latin typeface="Consolas"/>
              </a:rPr>
              <a:t>SCOPE / WHERE IT STARTS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49055" y="5340096"/>
            <a:ext cx="27797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A9FA6"/>
                </a:solidFill>
                <a:latin typeface="Arial"/>
              </a:rPr>
              <a:t>Bounded tasks — shut-face, B-side geometry, surface adaptation &amp; morphing, foam-block prep, geometry checking. Discovery gauges feasibility and value.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6510528"/>
            <a:ext cx="182880" cy="100584"/>
          </a:xfrm>
          <a:prstGeom prst="rect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8" y="643737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300">
                <a:solidFill>
                  <a:srgbClr val="63666D"/>
                </a:solidFill>
                <a:latin typeface="Consolas"/>
              </a:rPr>
              <a:t>DESIGN AMPLIFIED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0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>
                <a:solidFill>
                  <a:srgbClr val="63666D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C5F82A"/>
                </a:solidFill>
                <a:latin typeface="Consolas"/>
              </a:rPr>
              <a:t>THE SEVEN INITIATIVES · IN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Strategy 03  </a:t>
            </a:r>
            <a:r>
              <a:rPr sz="2800" b="1" i="1">
                <a:solidFill>
                  <a:srgbClr val="A78AF9"/>
                </a:solidFill>
                <a:latin typeface="Arial"/>
              </a:rPr>
              <a:t>Build Connected Design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36192"/>
            <a:ext cx="5358384" cy="4754880"/>
          </a:xfrm>
          <a:prstGeom prst="roundRect">
            <a:avLst>
              <a:gd name="adj" fmla="val 2115"/>
            </a:avLst>
          </a:prstGeom>
          <a:solidFill>
            <a:srgbClr val="141414"/>
          </a:solidFill>
          <a:ln w="15240">
            <a:solidFill>
              <a:srgbClr val="A7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1792224"/>
            <a:ext cx="402336" cy="402336"/>
          </a:xfrm>
          <a:prstGeom prst="ellipse">
            <a:avLst/>
          </a:prstGeom>
          <a:solidFill>
            <a:srgbClr val="A78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7739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2" b="1" i="0">
                <a:solidFill>
                  <a:srgbClr val="0A0A0A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1792224"/>
            <a:ext cx="34381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1" i="0">
                <a:solidFill>
                  <a:srgbClr val="FFFFFF"/>
                </a:solidFill>
                <a:latin typeface="Arial"/>
              </a:rPr>
              <a:t>Design-to-BOM &amp; Cost-of-Change 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9744" y="1828800"/>
            <a:ext cx="86868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7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9744" y="18288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A78AF9"/>
                </a:solidFill>
                <a:latin typeface="Consolas"/>
              </a:rPr>
              <a:t>STAGE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7744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A78AF9"/>
                </a:solidFill>
                <a:latin typeface="Consolas"/>
              </a:rPr>
              <a:t>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615184"/>
            <a:ext cx="485546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9A9FA6"/>
                </a:solidFill>
                <a:latin typeface="Arial"/>
              </a:rPr>
              <a:t>A visible Design change can ripple into parts, engineering, tooling, suppliers, weight, validation, timing and cost — consequences not immediately visible to Design.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62102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A78AF9"/>
                </a:solidFill>
                <a:latin typeface="Consolas"/>
              </a:rPr>
              <a:t>WHAT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877056"/>
            <a:ext cx="4855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78AF9"/>
                </a:solidFill>
                <a:latin typeface="Arial"/>
              </a:rPr>
              <a:t>› </a:t>
            </a:r>
            <a:r>
              <a:rPr sz="1100" b="0" i="0">
                <a:solidFill>
                  <a:srgbClr val="D6D8DC"/>
                </a:solidFill>
                <a:latin typeface="Arial"/>
              </a:rPr>
              <a:t>Better-informed trade-offs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119372"/>
            <a:ext cx="4855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78AF9"/>
                </a:solidFill>
                <a:latin typeface="Arial"/>
              </a:rPr>
              <a:t>› </a:t>
            </a:r>
            <a:r>
              <a:rPr sz="1100" b="0" i="0">
                <a:solidFill>
                  <a:srgbClr val="D6D8DC"/>
                </a:solidFill>
                <a:latin typeface="Arial"/>
              </a:rPr>
              <a:t>Fewer late surprises; reduced rework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361688"/>
            <a:ext cx="4855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78AF9"/>
                </a:solidFill>
                <a:latin typeface="Arial"/>
              </a:rPr>
              <a:t>› </a:t>
            </a:r>
            <a:r>
              <a:rPr sz="1100" b="0" i="0">
                <a:solidFill>
                  <a:srgbClr val="D6D8DC"/>
                </a:solidFill>
                <a:latin typeface="Arial"/>
              </a:rPr>
              <a:t>Earlier cost awareness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604003"/>
            <a:ext cx="4855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78AF9"/>
                </a:solidFill>
                <a:latin typeface="Arial"/>
              </a:rPr>
              <a:t>› </a:t>
            </a:r>
            <a:r>
              <a:rPr sz="1100" b="0" i="0">
                <a:solidFill>
                  <a:srgbClr val="D6D8DC"/>
                </a:solidFill>
                <a:latin typeface="Arial"/>
              </a:rPr>
              <a:t>Creative intent aligned to business reality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937760"/>
            <a:ext cx="4919472" cy="1143000"/>
          </a:xfrm>
          <a:prstGeom prst="roundRect">
            <a:avLst>
              <a:gd name="adj" fmla="val 6400"/>
            </a:avLst>
          </a:prstGeom>
          <a:solidFill>
            <a:srgbClr val="0F0F0F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508406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A78AF9"/>
                </a:solidFill>
                <a:latin typeface="Consolas"/>
              </a:rPr>
              <a:t>SCOPE / WHERE IT STARTS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5340096"/>
            <a:ext cx="45354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A9FA6"/>
                </a:solidFill>
                <a:latin typeface="Arial"/>
              </a:rPr>
              <a:t>A limited first feature or subsystem, connecting Design geometry, product definitions, engineering, BOM, suppliers, tooling, cost, timing, and historical changes.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1536192"/>
            <a:ext cx="5358384" cy="4754880"/>
          </a:xfrm>
          <a:prstGeom prst="roundRect">
            <a:avLst>
              <a:gd name="adj" fmla="val 2115"/>
            </a:avLst>
          </a:prstGeom>
          <a:solidFill>
            <a:srgbClr val="141414"/>
          </a:solidFill>
          <a:ln w="15240">
            <a:solidFill>
              <a:srgbClr val="A7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7960" y="1792224"/>
            <a:ext cx="402336" cy="402336"/>
          </a:xfrm>
          <a:prstGeom prst="ellipse">
            <a:avLst/>
          </a:prstGeom>
          <a:solidFill>
            <a:srgbClr val="A78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7739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2" b="1" i="0">
                <a:solidFill>
                  <a:srgbClr val="0A0A0A"/>
                </a:solidFill>
                <a:latin typeface="Arial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312" y="1792224"/>
            <a:ext cx="34381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1" i="0">
                <a:solidFill>
                  <a:srgbClr val="FFFFFF"/>
                </a:solidFill>
                <a:latin typeface="Arial"/>
              </a:rPr>
              <a:t>Connected Design Intelligence &amp; Optimization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43032" y="1828800"/>
            <a:ext cx="86868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7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43032" y="1828800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A78AF9"/>
                </a:solidFill>
                <a:latin typeface="Consolas"/>
              </a:rPr>
              <a:t>STAGE C–D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37744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A78AF9"/>
                </a:solidFill>
                <a:latin typeface="Consolas"/>
              </a:rPr>
              <a:t>WHY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615184"/>
            <a:ext cx="485546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9A9FA6"/>
                </a:solidFill>
                <a:latin typeface="Arial"/>
              </a:rPr>
              <a:t>Knowledge and product information are distributed across systems, regions and functions — rarely accessible in the context of an actual Design decision.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01384" y="3547872"/>
            <a:ext cx="4919472" cy="960120"/>
          </a:xfrm>
          <a:prstGeom prst="roundRect">
            <a:avLst>
              <a:gd name="adj" fmla="val 7619"/>
            </a:avLst>
          </a:prstGeom>
          <a:solidFill>
            <a:srgbClr val="140E20"/>
          </a:solidFill>
          <a:ln w="12700">
            <a:solidFill>
              <a:srgbClr val="A7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65976" y="3657600"/>
            <a:ext cx="4626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78AF9"/>
                </a:solidFill>
                <a:latin typeface="Arial"/>
              </a:rPr>
              <a:t>7A · Design Intelligence Fabric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5976" y="3931920"/>
            <a:ext cx="462686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9A9FA6"/>
                </a:solidFill>
                <a:latin typeface="Arial"/>
              </a:rPr>
              <a:t>The governed connective layer linking reviews &amp; decisions, historical programs, package, geometry, materials, engineering, BOM &amp; cost, suppliers, timing, and benchmarks — so many AI products can use consistent, traceable, protected information.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01384" y="4626864"/>
            <a:ext cx="4919472" cy="960120"/>
          </a:xfrm>
          <a:prstGeom prst="roundRect">
            <a:avLst>
              <a:gd name="adj" fmla="val 7619"/>
            </a:avLst>
          </a:prstGeom>
          <a:solidFill>
            <a:srgbClr val="140E20"/>
          </a:solidFill>
          <a:ln w="12700">
            <a:solidFill>
              <a:srgbClr val="A7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65976" y="4736592"/>
            <a:ext cx="4626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78AF9"/>
                </a:solidFill>
                <a:latin typeface="Arial"/>
              </a:rPr>
              <a:t>7B · Closed-Loop Optimization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5976" y="5010912"/>
            <a:ext cx="462686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9A9FA6"/>
                </a:solidFill>
                <a:latin typeface="Arial"/>
              </a:rPr>
              <a:t>Uses the fabric to give earlier feedback on alternatives — evaluated against package, aerodynamics, weight, cost, manufacturing, materials, and regulation. It informs consequences; the team still decides.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510528"/>
            <a:ext cx="182880" cy="100584"/>
          </a:xfrm>
          <a:prstGeom prst="rect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643737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300">
                <a:solidFill>
                  <a:srgbClr val="63666D"/>
                </a:solidFill>
                <a:latin typeface="Consolas"/>
              </a:rPr>
              <a:t>DESIGN AMPLIFIED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>
                <a:solidFill>
                  <a:srgbClr val="63666D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C5F82A"/>
                </a:solidFill>
                <a:latin typeface="Consolas"/>
              </a:rPr>
              <a:t>THE ROADMAP · ONE INTEGRATED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How it progresses:  </a:t>
            </a:r>
            <a:r>
              <a:rPr sz="3000" b="1" i="0">
                <a:solidFill>
                  <a:srgbClr val="C5F82A"/>
                </a:solidFill>
                <a:latin typeface="Arial"/>
              </a:rPr>
              <a:t>A · B · C · D</a:t>
            </a:r>
          </a:p>
        </p:txBody>
      </p:sp>
      <p:sp>
        <p:nvSpPr>
          <p:cNvPr id="4" name="Oval 3"/>
          <p:cNvSpPr/>
          <p:nvPr/>
        </p:nvSpPr>
        <p:spPr>
          <a:xfrm>
            <a:off x="7772400" y="932688"/>
            <a:ext cx="146304" cy="146304"/>
          </a:xfrm>
          <a:prstGeom prst="ellipse">
            <a:avLst/>
          </a:prstGeom>
          <a:noFill/>
          <a:ln w="12700">
            <a:solidFill>
              <a:srgbClr val="63666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73568" y="87782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9A9FA6"/>
                </a:solidFill>
                <a:latin typeface="Consolas"/>
              </a:rPr>
              <a:t>discovery charter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64040" y="914400"/>
            <a:ext cx="219456" cy="146304"/>
          </a:xfrm>
          <a:prstGeom prst="roundRect">
            <a:avLst>
              <a:gd name="adj" fmla="val 31250"/>
            </a:avLst>
          </a:prstGeom>
          <a:noFill/>
          <a:ln w="12700">
            <a:solidFill>
              <a:srgbClr val="6366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38360" y="87782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9A9FA6"/>
                </a:solidFill>
                <a:latin typeface="Consolas"/>
              </a:rPr>
              <a:t>build / pilot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625328" y="1005840"/>
            <a:ext cx="256032" cy="0"/>
          </a:xfrm>
          <a:prstGeom prst="line">
            <a:avLst/>
          </a:prstGeom>
          <a:ln w="12700">
            <a:solidFill>
              <a:srgbClr val="63666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927080" y="877824"/>
            <a:ext cx="120700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9A9FA6"/>
                </a:solidFill>
                <a:latin typeface="Consolas"/>
              </a:rPr>
              <a:t>matures &amp; scales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91640" y="1600200"/>
            <a:ext cx="9966960" cy="3977639"/>
          </a:xfrm>
          <a:prstGeom prst="roundRect">
            <a:avLst>
              <a:gd name="adj" fmla="val 2528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74520" y="1801368"/>
            <a:ext cx="384048" cy="384048"/>
          </a:xfrm>
          <a:prstGeom prst="ellipse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20" y="17830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86" b="1" i="0">
                <a:solidFill>
                  <a:srgbClr val="0A0A0A"/>
                </a:solidFill>
                <a:latin typeface="Arial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8" y="1801368"/>
            <a:ext cx="17602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Scale &amp;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8" y="2020824"/>
            <a:ext cx="17602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 spc="100">
                <a:solidFill>
                  <a:srgbClr val="C5F82A"/>
                </a:solidFill>
                <a:latin typeface="Consolas"/>
              </a:rPr>
              <a:t>NOW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77030" y="1600200"/>
            <a:ext cx="12700" cy="3977639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66260" y="1801368"/>
            <a:ext cx="384048" cy="384048"/>
          </a:xfrm>
          <a:prstGeom prst="ellipse">
            <a:avLst/>
          </a:prstGeom>
          <a:solidFill>
            <a:srgbClr val="38B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6260" y="17830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86" b="1" i="0">
                <a:solidFill>
                  <a:srgbClr val="0A0A0A"/>
                </a:solidFill>
                <a:latin typeface="Arial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1748" y="1801368"/>
            <a:ext cx="17602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Discover &amp; 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1748" y="2020824"/>
            <a:ext cx="17602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 spc="100">
                <a:solidFill>
                  <a:srgbClr val="38BCF8"/>
                </a:solidFill>
                <a:latin typeface="Consolas"/>
              </a:rPr>
              <a:t>BRIDGE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68770" y="1600200"/>
            <a:ext cx="12700" cy="3977639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0" y="1801368"/>
            <a:ext cx="384048" cy="384048"/>
          </a:xfrm>
          <a:prstGeom prst="ellipse">
            <a:avLst/>
          </a:prstGeom>
          <a:solidFill>
            <a:srgbClr val="A78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17830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86" b="1" i="0">
                <a:solidFill>
                  <a:srgbClr val="0A0A0A"/>
                </a:solidFill>
                <a:latin typeface="Arial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3488" y="1801368"/>
            <a:ext cx="17602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Connect &amp; 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2020824"/>
            <a:ext cx="17602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 spc="100">
                <a:solidFill>
                  <a:srgbClr val="A78AF9"/>
                </a:solidFill>
                <a:latin typeface="Consolas"/>
              </a:rPr>
              <a:t>2–4 YEARS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60510" y="1600200"/>
            <a:ext cx="12700" cy="3977639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49740" y="1801368"/>
            <a:ext cx="384048" cy="384048"/>
          </a:xfrm>
          <a:prstGeom prst="ellipse">
            <a:avLst/>
          </a:prstGeom>
          <a:solidFill>
            <a:srgbClr val="FA9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9740" y="17830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86" b="1" i="0">
                <a:solidFill>
                  <a:srgbClr val="0A0A0A"/>
                </a:solidFill>
                <a:latin typeface="Arial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5228" y="1801368"/>
            <a:ext cx="17602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End-state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5228" y="2020824"/>
            <a:ext cx="17602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 spc="100">
                <a:solidFill>
                  <a:srgbClr val="FA923B"/>
                </a:solidFill>
                <a:latin typeface="Consolas"/>
              </a:rPr>
              <a:t>10-YEAR HORIZON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744724"/>
            <a:ext cx="41148" cy="438912"/>
          </a:xfrm>
          <a:prstGeom prst="rect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2689860"/>
            <a:ext cx="1051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C5F82A"/>
                </a:solidFill>
                <a:latin typeface="Consolas"/>
              </a:rPr>
              <a:t>SCALE</a:t>
            </a:r>
          </a:p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C5F82A"/>
                </a:solidFill>
                <a:latin typeface="Consolas"/>
              </a:rPr>
              <a:t>NOW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735324"/>
            <a:ext cx="41148" cy="438912"/>
          </a:xfrm>
          <a:prstGeom prst="rect">
            <a:avLst/>
          </a:prstGeom>
          <a:solidFill>
            <a:srgbClr val="38B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" y="3680460"/>
            <a:ext cx="1051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38BCF8"/>
                </a:solidFill>
                <a:latin typeface="Consolas"/>
              </a:rPr>
              <a:t>DEVELOP</a:t>
            </a:r>
          </a:p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38BCF8"/>
                </a:solidFill>
                <a:latin typeface="Consolas"/>
              </a:rPr>
              <a:t>NEXT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725924"/>
            <a:ext cx="41148" cy="438912"/>
          </a:xfrm>
          <a:prstGeom prst="rect">
            <a:avLst/>
          </a:prstGeom>
          <a:solidFill>
            <a:srgbClr val="A78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" y="4671060"/>
            <a:ext cx="1051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A78AF9"/>
                </a:solidFill>
                <a:latin typeface="Consolas"/>
              </a:rPr>
              <a:t>CONNECT &amp;</a:t>
            </a:r>
          </a:p>
          <a:p>
            <a:pPr algn="l">
              <a:lnSpc>
                <a:spcPct val="100000"/>
              </a:lnSpc>
            </a:pPr>
            <a:r>
              <a:rPr sz="900" b="1" i="0" spc="100">
                <a:solidFill>
                  <a:srgbClr val="A78AF9"/>
                </a:solidFill>
                <a:latin typeface="Consolas"/>
              </a:rPr>
              <a:t>OPTIMIZE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148840" y="2945892"/>
            <a:ext cx="9372600" cy="0"/>
          </a:xfrm>
          <a:prstGeom prst="line">
            <a:avLst/>
          </a:prstGeom>
          <a:ln w="15875">
            <a:solidFill>
              <a:srgbClr val="C5F82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475719" y="2827020"/>
            <a:ext cx="182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5F82A"/>
                </a:solidFill>
                <a:latin typeface="Arial"/>
              </a:rPr>
              <a:t>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20240" y="2598420"/>
            <a:ext cx="2034540" cy="292608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 w="15875">
            <a:solidFill>
              <a:srgbClr val="C5F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20240" y="2598420"/>
            <a:ext cx="20345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Visualization &amp; concept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20240" y="3037331"/>
            <a:ext cx="2034540" cy="292608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 w="15875">
            <a:solidFill>
              <a:srgbClr val="C5F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20240" y="3037331"/>
            <a:ext cx="20345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Training &amp; adoption</a:t>
            </a:r>
          </a:p>
        </p:txBody>
      </p:sp>
      <p:sp>
        <p:nvSpPr>
          <p:cNvPr id="42" name="Oval 41"/>
          <p:cNvSpPr/>
          <p:nvPr/>
        </p:nvSpPr>
        <p:spPr>
          <a:xfrm>
            <a:off x="2836926" y="3854196"/>
            <a:ext cx="201168" cy="201168"/>
          </a:xfrm>
          <a:prstGeom prst="ellipse">
            <a:avLst/>
          </a:prstGeom>
          <a:noFill/>
          <a:ln w="12700">
            <a:solidFill>
              <a:srgbClr val="63666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3074670" y="3936492"/>
            <a:ext cx="8446770" cy="0"/>
          </a:xfrm>
          <a:prstGeom prst="line">
            <a:avLst/>
          </a:prstGeom>
          <a:ln w="15875">
            <a:solidFill>
              <a:srgbClr val="38BCF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1475719" y="3817620"/>
            <a:ext cx="182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8BCF8"/>
                </a:solidFill>
                <a:latin typeface="Arial"/>
              </a:rPr>
              <a:t>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11980" y="3424428"/>
            <a:ext cx="2034540" cy="292608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 w="15875">
            <a:solidFill>
              <a:srgbClr val="38B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11980" y="3424428"/>
            <a:ext cx="20345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Knowledge capture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11980" y="3808476"/>
            <a:ext cx="2034540" cy="292608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 w="15875">
            <a:solidFill>
              <a:srgbClr val="38B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11980" y="3808476"/>
            <a:ext cx="20345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Packaging intelligence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11980" y="4192524"/>
            <a:ext cx="2034540" cy="292608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 w="15875">
            <a:solidFill>
              <a:srgbClr val="38B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11980" y="4192524"/>
            <a:ext cx="20345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Geometry automation</a:t>
            </a:r>
          </a:p>
        </p:txBody>
      </p:sp>
      <p:sp>
        <p:nvSpPr>
          <p:cNvPr id="51" name="Oval 50"/>
          <p:cNvSpPr/>
          <p:nvPr/>
        </p:nvSpPr>
        <p:spPr>
          <a:xfrm>
            <a:off x="5328666" y="4844796"/>
            <a:ext cx="201168" cy="201168"/>
          </a:xfrm>
          <a:prstGeom prst="ellipse">
            <a:avLst/>
          </a:prstGeom>
          <a:noFill/>
          <a:ln w="12700">
            <a:solidFill>
              <a:srgbClr val="63666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5566410" y="4927092"/>
            <a:ext cx="3554730" cy="0"/>
          </a:xfrm>
          <a:prstGeom prst="line">
            <a:avLst/>
          </a:prstGeom>
          <a:ln w="15875">
            <a:solidFill>
              <a:srgbClr val="A78AF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075419" y="4808220"/>
            <a:ext cx="182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A78AF9"/>
                </a:solidFill>
                <a:latin typeface="Arial"/>
              </a:rPr>
              <a:t>›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03720" y="4579620"/>
            <a:ext cx="2034540" cy="292608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 w="15875">
            <a:solidFill>
              <a:srgbClr val="A7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03720" y="4579620"/>
            <a:ext cx="20345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Design-to-BOM &amp; cost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903720" y="5018532"/>
            <a:ext cx="2034540" cy="292608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 w="15875">
            <a:solidFill>
              <a:srgbClr val="A7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03720" y="5018532"/>
            <a:ext cx="20345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Fabric + optimization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395460" y="4799076"/>
            <a:ext cx="2034540" cy="292608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 w="15875">
            <a:solidFill>
              <a:srgbClr val="FA9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95460" y="4799076"/>
            <a:ext cx="20345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End-state system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5806440"/>
            <a:ext cx="11091672" cy="548640"/>
          </a:xfrm>
          <a:prstGeom prst="roundRect">
            <a:avLst>
              <a:gd name="adj" fmla="val 16666"/>
            </a:avLst>
          </a:prstGeom>
          <a:solidFill>
            <a:srgbClr val="12160A"/>
          </a:solidFill>
          <a:ln w="15875">
            <a:solidFill>
              <a:srgbClr val="C5F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" y="580644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 spc="150">
                <a:solidFill>
                  <a:srgbClr val="C5F82A"/>
                </a:solidFill>
                <a:latin typeface="Consolas"/>
              </a:rPr>
              <a:t>FOUNDATION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94560" y="58064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D6D8DC"/>
                </a:solidFill>
                <a:latin typeface="Arial"/>
              </a:rPr>
              <a:t>Governance · Data readiness · Metadata · Ownership · Portfolio discipline  </a:t>
            </a:r>
            <a:r>
              <a:rPr sz="1150" b="0" i="1">
                <a:solidFill>
                  <a:srgbClr val="9A9FA6"/>
                </a:solidFill>
                <a:latin typeface="Arial"/>
              </a:rPr>
              <a:t>— funded now, required for everything above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6510528"/>
            <a:ext cx="182880" cy="100584"/>
          </a:xfrm>
          <a:prstGeom prst="rect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9808" y="643737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300">
                <a:solidFill>
                  <a:srgbClr val="63666D"/>
                </a:solidFill>
                <a:latin typeface="Consolas"/>
              </a:rPr>
              <a:t>DESIGN AMPLIFIED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55680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>
                <a:solidFill>
                  <a:srgbClr val="63666D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C5F82A"/>
                </a:solidFill>
                <a:latin typeface="Consolas"/>
              </a:rPr>
              <a:t>THE ROADMAP · WHAT EACH STAGE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4F4F5"/>
                </a:solidFill>
                <a:latin typeface="Arial"/>
              </a:rPr>
              <a:t>From proven work today </a:t>
            </a:r>
            <a:r>
              <a:rPr sz="3000" b="1" i="1">
                <a:solidFill>
                  <a:srgbClr val="C5F82A"/>
                </a:solidFill>
                <a:latin typeface="Arial"/>
              </a:rPr>
              <a:t>to a system that learns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9A9FA6"/>
                </a:solidFill>
                <a:latin typeface="Arial"/>
              </a:rPr>
              <a:t>Increasing organizational and technical capability. Not every initiative begins and ends in one stage — some start with discovery and mature across stages.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21408"/>
            <a:ext cx="2706624" cy="4206240"/>
          </a:xfrm>
          <a:prstGeom prst="roundRect">
            <a:avLst>
              <a:gd name="adj" fmla="val 3716"/>
            </a:avLst>
          </a:prstGeom>
          <a:solidFill>
            <a:srgbClr val="141414"/>
          </a:solidFill>
          <a:ln w="13970">
            <a:solidFill>
              <a:srgbClr val="C5F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304288"/>
            <a:ext cx="365760" cy="365760"/>
          </a:xfrm>
          <a:prstGeom prst="ellipse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20" b="1" i="0">
                <a:solidFill>
                  <a:srgbClr val="0A0A0A"/>
                </a:solidFill>
                <a:latin typeface="Arial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2322576"/>
            <a:ext cx="197510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 spc="50">
                <a:solidFill>
                  <a:srgbClr val="C5F82A"/>
                </a:solidFill>
                <a:latin typeface="Consolas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24912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Scale &amp; Establish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18687"/>
            <a:ext cx="232257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9A9FA6"/>
                </a:solidFill>
                <a:latin typeface="Arial"/>
              </a:rPr>
              <a:t>Use proven AI to improve work today while establishing governance, team, baselines, and portfolio discipline.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9319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63666D"/>
                </a:solidFill>
                <a:latin typeface="Consolas"/>
              </a:rPr>
              <a:t>ON THE DECK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151376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5F82A"/>
                </a:solidFill>
                <a:latin typeface="Arial"/>
              </a:rPr>
              <a:t>› </a:t>
            </a:r>
            <a:r>
              <a:rPr sz="950" b="0" i="0">
                <a:solidFill>
                  <a:srgbClr val="D6D8DC"/>
                </a:solidFill>
                <a:latin typeface="Arial"/>
              </a:rPr>
              <a:t>AI-supported visualization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320540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5F82A"/>
                </a:solidFill>
                <a:latin typeface="Arial"/>
              </a:rPr>
              <a:t>› </a:t>
            </a:r>
            <a:r>
              <a:rPr sz="950" b="0" i="0">
                <a:solidFill>
                  <a:srgbClr val="D6D8DC"/>
                </a:solidFill>
                <a:latin typeface="Arial"/>
              </a:rPr>
              <a:t>Training &amp; adoption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489703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5F82A"/>
                </a:solidFill>
                <a:latin typeface="Arial"/>
              </a:rPr>
              <a:t>› </a:t>
            </a:r>
            <a:r>
              <a:rPr sz="950" b="0" i="0">
                <a:solidFill>
                  <a:srgbClr val="D6D8DC"/>
                </a:solidFill>
                <a:latin typeface="Arial"/>
              </a:rPr>
              <a:t>Discovery charters for next initiatives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4913122"/>
            <a:ext cx="2304288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99262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63666D"/>
                </a:solidFill>
                <a:latin typeface="Consolas"/>
              </a:rPr>
              <a:t>AITO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212080"/>
            <a:ext cx="23225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3666D"/>
                </a:solidFill>
                <a:latin typeface="Arial"/>
              </a:rPr>
              <a:t>· </a:t>
            </a:r>
            <a:r>
              <a:rPr sz="850" b="0" i="0">
                <a:solidFill>
                  <a:srgbClr val="9A9FA6"/>
                </a:solidFill>
                <a:latin typeface="Arial"/>
              </a:rPr>
              <a:t>Named owners &amp;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362956"/>
            <a:ext cx="23225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3666D"/>
                </a:solidFill>
                <a:latin typeface="Arial"/>
              </a:rPr>
              <a:t>· </a:t>
            </a:r>
            <a:r>
              <a:rPr sz="850" b="0" i="0">
                <a:solidFill>
                  <a:srgbClr val="9A9FA6"/>
                </a:solidFill>
                <a:latin typeface="Arial"/>
              </a:rPr>
              <a:t>Initial baselines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513832"/>
            <a:ext cx="23225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3666D"/>
                </a:solidFill>
                <a:latin typeface="Arial"/>
              </a:rPr>
              <a:t>· </a:t>
            </a:r>
            <a:r>
              <a:rPr sz="850" b="0" i="0">
                <a:solidFill>
                  <a:srgbClr val="9A9FA6"/>
                </a:solidFill>
                <a:latin typeface="Arial"/>
              </a:rPr>
              <a:t>Portfolio registration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664708"/>
            <a:ext cx="23225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3666D"/>
                </a:solidFill>
                <a:latin typeface="Arial"/>
              </a:rPr>
              <a:t>· </a:t>
            </a:r>
            <a:r>
              <a:rPr sz="850" b="0" i="0">
                <a:solidFill>
                  <a:srgbClr val="9A9FA6"/>
                </a:solidFill>
                <a:latin typeface="Arial"/>
              </a:rPr>
              <a:t>Adoption measures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815584"/>
            <a:ext cx="23225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3666D"/>
                </a:solidFill>
                <a:latin typeface="Arial"/>
              </a:rPr>
              <a:t>· </a:t>
            </a:r>
            <a:r>
              <a:rPr sz="850" b="0" i="0">
                <a:solidFill>
                  <a:srgbClr val="9A9FA6"/>
                </a:solidFill>
                <a:latin typeface="Arial"/>
              </a:rPr>
              <a:t>Governance 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966460"/>
            <a:ext cx="23225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3666D"/>
                </a:solidFill>
                <a:latin typeface="Arial"/>
              </a:rPr>
              <a:t>· </a:t>
            </a:r>
            <a:r>
              <a:rPr sz="850" b="0" i="0">
                <a:solidFill>
                  <a:srgbClr val="9A9FA6"/>
                </a:solidFill>
                <a:latin typeface="Arial"/>
              </a:rPr>
              <a:t>Resource plan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01568" y="2121408"/>
            <a:ext cx="2706624" cy="4206240"/>
          </a:xfrm>
          <a:prstGeom prst="roundRect">
            <a:avLst>
              <a:gd name="adj" fmla="val 3716"/>
            </a:avLst>
          </a:prstGeom>
          <a:solidFill>
            <a:srgbClr val="141414"/>
          </a:solidFill>
          <a:ln w="13970">
            <a:solidFill>
              <a:srgbClr val="38B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02736" y="2304288"/>
            <a:ext cx="365760" cy="365760"/>
          </a:xfrm>
          <a:prstGeom prst="ellipse">
            <a:avLst/>
          </a:prstGeom>
          <a:solidFill>
            <a:srgbClr val="38B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02736" y="22860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20" b="1" i="0">
                <a:solidFill>
                  <a:srgbClr val="0A0A0A"/>
                </a:solidFill>
                <a:latin typeface="Arial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41648" y="2322576"/>
            <a:ext cx="197510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 spc="50">
                <a:solidFill>
                  <a:srgbClr val="38BCF8"/>
                </a:solidFill>
                <a:latin typeface="Consolas"/>
              </a:rPr>
              <a:t>BRIDGE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2736" y="2724912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Discover, Prove &amp; 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2736" y="3218687"/>
            <a:ext cx="232257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9A9FA6"/>
                </a:solidFill>
                <a:latin typeface="Arial"/>
              </a:rPr>
              <a:t>Develop targeted intelligence in workflows where value is significant but the solution must be defined and validated.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2736" y="39319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63666D"/>
                </a:solidFill>
                <a:latin typeface="Consolas"/>
              </a:rPr>
              <a:t>ON THE DECK 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2736" y="4151376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8BCF8"/>
                </a:solidFill>
                <a:latin typeface="Arial"/>
              </a:rPr>
              <a:t>› </a:t>
            </a:r>
            <a:r>
              <a:rPr sz="950" b="0" i="0">
                <a:solidFill>
                  <a:srgbClr val="D6D8DC"/>
                </a:solidFill>
                <a:latin typeface="Arial"/>
              </a:rPr>
              <a:t>Knowledge capture &amp; retrieval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2736" y="4320540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8BCF8"/>
                </a:solidFill>
                <a:latin typeface="Arial"/>
              </a:rPr>
              <a:t>› </a:t>
            </a:r>
            <a:r>
              <a:rPr sz="950" b="0" i="0">
                <a:solidFill>
                  <a:srgbClr val="D6D8DC"/>
                </a:solidFill>
                <a:latin typeface="Arial"/>
              </a:rPr>
              <a:t>Packaging 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2736" y="4489703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8BCF8"/>
                </a:solidFill>
                <a:latin typeface="Arial"/>
              </a:rPr>
              <a:t>› </a:t>
            </a:r>
            <a:r>
              <a:rPr sz="950" b="0" i="0">
                <a:solidFill>
                  <a:srgbClr val="D6D8DC"/>
                </a:solidFill>
                <a:latin typeface="Arial"/>
              </a:rPr>
              <a:t>3D geometry automation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02736" y="4913122"/>
            <a:ext cx="2304288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02736" y="499262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63666D"/>
                </a:solidFill>
                <a:latin typeface="Consolas"/>
              </a:rPr>
              <a:t>AITO 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02736" y="5212080"/>
            <a:ext cx="23225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3666D"/>
                </a:solidFill>
                <a:latin typeface="Arial"/>
              </a:rPr>
              <a:t>· </a:t>
            </a:r>
            <a:r>
              <a:rPr sz="850" b="0" i="0">
                <a:solidFill>
                  <a:srgbClr val="9A9FA6"/>
                </a:solidFill>
                <a:latin typeface="Arial"/>
              </a:rPr>
              <a:t>Discovery completion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2736" y="5362956"/>
            <a:ext cx="23225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3666D"/>
                </a:solidFill>
                <a:latin typeface="Arial"/>
              </a:rPr>
              <a:t>· </a:t>
            </a:r>
            <a:r>
              <a:rPr sz="850" b="0" i="0">
                <a:solidFill>
                  <a:srgbClr val="9A9FA6"/>
                </a:solidFill>
                <a:latin typeface="Arial"/>
              </a:rPr>
              <a:t>Data-readiness scores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02736" y="5513832"/>
            <a:ext cx="23225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3666D"/>
                </a:solidFill>
                <a:latin typeface="Arial"/>
              </a:rPr>
              <a:t>· </a:t>
            </a:r>
            <a:r>
              <a:rPr sz="850" b="0" i="0">
                <a:solidFill>
                  <a:srgbClr val="9A9FA6"/>
                </a:solidFill>
                <a:latin typeface="Arial"/>
              </a:rPr>
              <a:t>Product definitions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02736" y="5664708"/>
            <a:ext cx="23225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3666D"/>
                </a:solidFill>
                <a:latin typeface="Arial"/>
              </a:rPr>
              <a:t>· </a:t>
            </a:r>
            <a:r>
              <a:rPr sz="850" b="0" i="0">
                <a:solidFill>
                  <a:srgbClr val="9A9FA6"/>
                </a:solidFill>
                <a:latin typeface="Arial"/>
              </a:rPr>
              <a:t>Technical feasibility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02736" y="5815584"/>
            <a:ext cx="23225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3666D"/>
                </a:solidFill>
                <a:latin typeface="Arial"/>
              </a:rPr>
              <a:t>· </a:t>
            </a:r>
            <a:r>
              <a:rPr sz="850" b="0" i="0">
                <a:solidFill>
                  <a:srgbClr val="9A9FA6"/>
                </a:solidFill>
                <a:latin typeface="Arial"/>
              </a:rPr>
              <a:t>User validation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02736" y="5966460"/>
            <a:ext cx="23225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3666D"/>
                </a:solidFill>
                <a:latin typeface="Arial"/>
              </a:rPr>
              <a:t>· </a:t>
            </a:r>
            <a:r>
              <a:rPr sz="850" b="0" i="0">
                <a:solidFill>
                  <a:srgbClr val="9A9FA6"/>
                </a:solidFill>
                <a:latin typeface="Arial"/>
              </a:rPr>
              <a:t>Scale / stop decisions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4496" y="2121408"/>
            <a:ext cx="2706624" cy="4206240"/>
          </a:xfrm>
          <a:prstGeom prst="roundRect">
            <a:avLst>
              <a:gd name="adj" fmla="val 3716"/>
            </a:avLst>
          </a:prstGeom>
          <a:solidFill>
            <a:srgbClr val="141414"/>
          </a:solidFill>
          <a:ln w="13970">
            <a:solidFill>
              <a:srgbClr val="A7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55664" y="2304288"/>
            <a:ext cx="365760" cy="365760"/>
          </a:xfrm>
          <a:prstGeom prst="ellipse">
            <a:avLst/>
          </a:prstGeom>
          <a:solidFill>
            <a:srgbClr val="A78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55664" y="22860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20" b="1" i="0">
                <a:solidFill>
                  <a:srgbClr val="0A0A0A"/>
                </a:solidFill>
                <a:latin typeface="Arial"/>
              </a:rP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94576" y="2322576"/>
            <a:ext cx="197510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 spc="50">
                <a:solidFill>
                  <a:srgbClr val="A78AF9"/>
                </a:solidFill>
                <a:latin typeface="Consolas"/>
              </a:rPr>
              <a:t>2–4 YEARS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55664" y="2724912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Connect &amp; Scale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55664" y="3218687"/>
            <a:ext cx="232257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9A9FA6"/>
                </a:solidFill>
                <a:latin typeface="Arial"/>
              </a:rPr>
              <a:t>Connect proven workflow capabilities with enterprise information and scale them across programs and regions.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55664" y="39319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63666D"/>
                </a:solidFill>
                <a:latin typeface="Consolas"/>
              </a:rPr>
              <a:t>ON THE DECK HERE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55664" y="4151376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A78AF9"/>
                </a:solidFill>
                <a:latin typeface="Arial"/>
              </a:rPr>
              <a:t>› </a:t>
            </a:r>
            <a:r>
              <a:rPr sz="950" b="0" i="0">
                <a:solidFill>
                  <a:srgbClr val="D6D8DC"/>
                </a:solidFill>
                <a:latin typeface="Arial"/>
              </a:rPr>
              <a:t>Design-to-BOM &amp; cost-of-change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55664" y="4320540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A78AF9"/>
                </a:solidFill>
                <a:latin typeface="Arial"/>
              </a:rPr>
              <a:t>› </a:t>
            </a:r>
            <a:r>
              <a:rPr sz="950" b="0" i="0">
                <a:solidFill>
                  <a:srgbClr val="D6D8DC"/>
                </a:solidFill>
                <a:latin typeface="Arial"/>
              </a:rPr>
              <a:t>Initial Design Intelligence Fabric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55664" y="4489703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A78AF9"/>
                </a:solidFill>
                <a:latin typeface="Arial"/>
              </a:rPr>
              <a:t>› </a:t>
            </a:r>
            <a:r>
              <a:rPr sz="950" b="0" i="0">
                <a:solidFill>
                  <a:srgbClr val="D6D8DC"/>
                </a:solidFill>
                <a:latin typeface="Arial"/>
              </a:rPr>
              <a:t>Optimization pilots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55664" y="4658867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A78AF9"/>
                </a:solidFill>
                <a:latin typeface="Arial"/>
              </a:rPr>
              <a:t>› </a:t>
            </a:r>
            <a:r>
              <a:rPr sz="950" b="0" i="0">
                <a:solidFill>
                  <a:srgbClr val="D6D8DC"/>
                </a:solidFill>
                <a:latin typeface="Arial"/>
              </a:rPr>
              <a:t>Global scale of proven solutions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55664" y="4913122"/>
            <a:ext cx="2304288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55664" y="499262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63666D"/>
                </a:solidFill>
                <a:latin typeface="Consolas"/>
              </a:rPr>
              <a:t>AITO EVIDENCE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55664" y="5212080"/>
            <a:ext cx="23225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3666D"/>
                </a:solidFill>
                <a:latin typeface="Arial"/>
              </a:rPr>
              <a:t>· </a:t>
            </a:r>
            <a:r>
              <a:rPr sz="850" b="0" i="0">
                <a:solidFill>
                  <a:srgbClr val="9A9FA6"/>
                </a:solidFill>
                <a:latin typeface="Arial"/>
              </a:rPr>
              <a:t>Production deployments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55664" y="5362956"/>
            <a:ext cx="23225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3666D"/>
                </a:solidFill>
                <a:latin typeface="Arial"/>
              </a:rPr>
              <a:t>· </a:t>
            </a:r>
            <a:r>
              <a:rPr sz="850" b="0" i="0">
                <a:solidFill>
                  <a:srgbClr val="9A9FA6"/>
                </a:solidFill>
                <a:latin typeface="Arial"/>
              </a:rPr>
              <a:t>Regional adoption &amp; reuse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55664" y="5513832"/>
            <a:ext cx="23225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3666D"/>
                </a:solidFill>
                <a:latin typeface="Arial"/>
              </a:rPr>
              <a:t>· </a:t>
            </a:r>
            <a:r>
              <a:rPr sz="850" b="0" i="0">
                <a:solidFill>
                  <a:srgbClr val="9A9FA6"/>
                </a:solidFill>
                <a:latin typeface="Arial"/>
              </a:rPr>
              <a:t>Verified cycle-time reduction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55664" y="5664708"/>
            <a:ext cx="23225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3666D"/>
                </a:solidFill>
                <a:latin typeface="Arial"/>
              </a:rPr>
              <a:t>· </a:t>
            </a:r>
            <a:r>
              <a:rPr sz="850" b="0" i="0">
                <a:solidFill>
                  <a:srgbClr val="9A9FA6"/>
                </a:solidFill>
                <a:latin typeface="Arial"/>
              </a:rPr>
              <a:t>Avoided cost / rework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55664" y="5815584"/>
            <a:ext cx="23225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3666D"/>
                </a:solidFill>
                <a:latin typeface="Arial"/>
              </a:rPr>
              <a:t>· </a:t>
            </a:r>
            <a:r>
              <a:rPr sz="850" b="0" i="0">
                <a:solidFill>
                  <a:srgbClr val="9A9FA6"/>
                </a:solidFill>
                <a:latin typeface="Arial"/>
              </a:rPr>
              <a:t>Financial value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55664" y="5966460"/>
            <a:ext cx="23225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3666D"/>
                </a:solidFill>
                <a:latin typeface="Arial"/>
              </a:rPr>
              <a:t>· </a:t>
            </a:r>
            <a:r>
              <a:rPr sz="850" b="0" i="0">
                <a:solidFill>
                  <a:srgbClr val="9A9FA6"/>
                </a:solidFill>
                <a:latin typeface="Arial"/>
              </a:rPr>
              <a:t>Data certification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07424" y="2121408"/>
            <a:ext cx="2706624" cy="4206240"/>
          </a:xfrm>
          <a:prstGeom prst="roundRect">
            <a:avLst>
              <a:gd name="adj" fmla="val 3716"/>
            </a:avLst>
          </a:prstGeom>
          <a:solidFill>
            <a:srgbClr val="141414"/>
          </a:solidFill>
          <a:ln w="13970">
            <a:solidFill>
              <a:srgbClr val="FA9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308592" y="2304288"/>
            <a:ext cx="365760" cy="365760"/>
          </a:xfrm>
          <a:prstGeom prst="ellipse">
            <a:avLst/>
          </a:prstGeom>
          <a:solidFill>
            <a:srgbClr val="FA9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08592" y="22860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20" b="1" i="0">
                <a:solidFill>
                  <a:srgbClr val="0A0A0A"/>
                </a:solidFill>
                <a:latin typeface="Arial"/>
              </a:rPr>
              <a:t>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47503" y="2322576"/>
            <a:ext cx="197510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 spc="50">
                <a:solidFill>
                  <a:srgbClr val="FA923B"/>
                </a:solidFill>
                <a:latin typeface="Consolas"/>
              </a:rPr>
              <a:t>10-YEAR HORIZON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08592" y="2724912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Design Amplified End State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08592" y="3218687"/>
            <a:ext cx="232257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9A9FA6"/>
                </a:solidFill>
                <a:latin typeface="Arial"/>
              </a:rPr>
              <a:t>A connected Design-development system that learns from previous programs and gives continuous feedback on the implications of decisions.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08592" y="39319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63666D"/>
                </a:solidFill>
                <a:latin typeface="Consolas"/>
              </a:rPr>
              <a:t>ON THE DECK HERE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08592" y="4151376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A923B"/>
                </a:solidFill>
                <a:latin typeface="Arial"/>
              </a:rPr>
              <a:t>› </a:t>
            </a:r>
            <a:r>
              <a:rPr sz="950" b="0" i="0">
                <a:solidFill>
                  <a:srgbClr val="D6D8DC"/>
                </a:solidFill>
                <a:latin typeface="Arial"/>
              </a:rPr>
              <a:t>Fully connected Design intelligence &amp; optimization across knowledge, package, geometry, BOM, cost &amp; enterprise constraints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308592" y="4913122"/>
            <a:ext cx="2304288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08592" y="499262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63666D"/>
                </a:solidFill>
                <a:latin typeface="Consolas"/>
              </a:rPr>
              <a:t>AITO EVIDENCE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08592" y="5212080"/>
            <a:ext cx="23225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3666D"/>
                </a:solidFill>
                <a:latin typeface="Arial"/>
              </a:rPr>
              <a:t>· </a:t>
            </a:r>
            <a:r>
              <a:rPr sz="850" b="0" i="0">
                <a:solidFill>
                  <a:srgbClr val="9A9FA6"/>
                </a:solidFill>
                <a:latin typeface="Arial"/>
              </a:rPr>
              <a:t>Sustained operating model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08592" y="5362956"/>
            <a:ext cx="23225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3666D"/>
                </a:solidFill>
                <a:latin typeface="Arial"/>
              </a:rPr>
              <a:t>· </a:t>
            </a:r>
            <a:r>
              <a:rPr sz="850" b="0" i="0">
                <a:solidFill>
                  <a:srgbClr val="9A9FA6"/>
                </a:solidFill>
                <a:latin typeface="Arial"/>
              </a:rPr>
              <a:t>Connected knowledge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08592" y="5513832"/>
            <a:ext cx="23225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3666D"/>
                </a:solidFill>
                <a:latin typeface="Arial"/>
              </a:rPr>
              <a:t>· </a:t>
            </a:r>
            <a:r>
              <a:rPr sz="850" b="0" i="0">
                <a:solidFill>
                  <a:srgbClr val="9A9FA6"/>
                </a:solidFill>
                <a:latin typeface="Arial"/>
              </a:rPr>
              <a:t>Higher decision quality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08592" y="5664708"/>
            <a:ext cx="23225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3666D"/>
                </a:solidFill>
                <a:latin typeface="Arial"/>
              </a:rPr>
              <a:t>· </a:t>
            </a:r>
            <a:r>
              <a:rPr sz="850" b="0" i="0">
                <a:solidFill>
                  <a:srgbClr val="9A9FA6"/>
                </a:solidFill>
                <a:latin typeface="Arial"/>
              </a:rPr>
              <a:t>Enterprise reuse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08592" y="5815584"/>
            <a:ext cx="23225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3666D"/>
                </a:solidFill>
                <a:latin typeface="Arial"/>
              </a:rPr>
              <a:t>· </a:t>
            </a:r>
            <a:r>
              <a:rPr sz="850" b="0" i="0">
                <a:solidFill>
                  <a:srgbClr val="9A9FA6"/>
                </a:solidFill>
                <a:latin typeface="Arial"/>
              </a:rPr>
              <a:t>Strategic advantage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2920" y="6510528"/>
            <a:ext cx="182880" cy="100584"/>
          </a:xfrm>
          <a:prstGeom prst="rect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49808" y="643737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300">
                <a:solidFill>
                  <a:srgbClr val="63666D"/>
                </a:solidFill>
                <a:latin typeface="Consolas"/>
              </a:rPr>
              <a:t>DESIGN AMPLIFIED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155680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>
                <a:solidFill>
                  <a:srgbClr val="63666D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C5F82A"/>
                </a:solidFill>
                <a:latin typeface="Consolas"/>
              </a:rPr>
              <a:t>OPERATING MODEL · MEASURABLE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4F4F5"/>
                </a:solidFill>
                <a:latin typeface="Arial"/>
              </a:rPr>
              <a:t>Evidence grows </a:t>
            </a:r>
            <a:r>
              <a:rPr sz="3000" b="1" i="1">
                <a:solidFill>
                  <a:srgbClr val="C5F82A"/>
                </a:solidFill>
                <a:latin typeface="Arial"/>
              </a:rPr>
              <a:t>as capability matures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9A9FA6"/>
                </a:solidFill>
                <a:latin typeface="Arial"/>
              </a:rPr>
              <a:t>The same portfolio is measured differently at each maturity level — moving from problem sizing to proven, realized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C5F82A"/>
                </a:solidFill>
                <a:latin typeface="Consolas"/>
              </a:rPr>
              <a:t>DURING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9463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3666D"/>
                </a:solidFill>
                <a:latin typeface="Consolas"/>
              </a:rPr>
              <a:t>Stage A → B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072384"/>
            <a:ext cx="109728" cy="109728"/>
          </a:xfrm>
          <a:prstGeom prst="ellipse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99008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E4E6E9"/>
                </a:solidFill>
                <a:latin typeface="Arial"/>
              </a:rPr>
              <a:t>Problem size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474720"/>
            <a:ext cx="109728" cy="109728"/>
          </a:xfrm>
          <a:prstGeom prst="ellipse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3924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E4E6E9"/>
                </a:solidFill>
                <a:latin typeface="Arial"/>
              </a:rPr>
              <a:t>Time consumed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877055"/>
            <a:ext cx="109728" cy="109728"/>
          </a:xfrm>
          <a:prstGeom prst="ellipse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79475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E4E6E9"/>
                </a:solidFill>
                <a:latin typeface="Arial"/>
              </a:rPr>
              <a:t>Frequency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79392"/>
            <a:ext cx="109728" cy="109728"/>
          </a:xfrm>
          <a:prstGeom prst="ellipse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419709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E4E6E9"/>
                </a:solidFill>
                <a:latin typeface="Arial"/>
              </a:rPr>
              <a:t>Affected users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681728"/>
            <a:ext cx="109728" cy="109728"/>
          </a:xfrm>
          <a:prstGeom prst="ellipse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5994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E4E6E9"/>
                </a:solidFill>
                <a:latin typeface="Arial"/>
              </a:rPr>
              <a:t>Data readiness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084064"/>
            <a:ext cx="109728" cy="109728"/>
          </a:xfrm>
          <a:prstGeom prst="ellipse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50017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E4E6E9"/>
                </a:solidFill>
                <a:latin typeface="Arial"/>
              </a:rPr>
              <a:t>Feasibility confidence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5486400"/>
            <a:ext cx="109728" cy="109728"/>
          </a:xfrm>
          <a:prstGeom prst="ellipse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540410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E4E6E9"/>
                </a:solidFill>
                <a:latin typeface="Arial"/>
              </a:rPr>
              <a:t>Value potential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297180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45484E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3317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38BCF8"/>
                </a:solidFill>
                <a:latin typeface="Consolas"/>
              </a:rPr>
              <a:t>DURING PILOTS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569463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3666D"/>
                </a:solidFill>
                <a:latin typeface="Consolas"/>
              </a:rPr>
              <a:t>Stage B → C</a:t>
            </a:r>
          </a:p>
        </p:txBody>
      </p:sp>
      <p:sp>
        <p:nvSpPr>
          <p:cNvPr id="24" name="Oval 23"/>
          <p:cNvSpPr/>
          <p:nvPr/>
        </p:nvSpPr>
        <p:spPr>
          <a:xfrm>
            <a:off x="4526280" y="3072384"/>
            <a:ext cx="109728" cy="109728"/>
          </a:xfrm>
          <a:prstGeom prst="ellipse">
            <a:avLst/>
          </a:prstGeom>
          <a:solidFill>
            <a:srgbClr val="38B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64024" y="299008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E4E6E9"/>
                </a:solidFill>
                <a:latin typeface="Arial"/>
              </a:rPr>
              <a:t>Task time</a:t>
            </a:r>
          </a:p>
        </p:txBody>
      </p:sp>
      <p:sp>
        <p:nvSpPr>
          <p:cNvPr id="26" name="Oval 25"/>
          <p:cNvSpPr/>
          <p:nvPr/>
        </p:nvSpPr>
        <p:spPr>
          <a:xfrm>
            <a:off x="4526280" y="3474720"/>
            <a:ext cx="109728" cy="109728"/>
          </a:xfrm>
          <a:prstGeom prst="ellipse">
            <a:avLst/>
          </a:prstGeom>
          <a:solidFill>
            <a:srgbClr val="38B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64024" y="33924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E4E6E9"/>
                </a:solidFill>
                <a:latin typeface="Arial"/>
              </a:rPr>
              <a:t>Quality</a:t>
            </a:r>
          </a:p>
        </p:txBody>
      </p:sp>
      <p:sp>
        <p:nvSpPr>
          <p:cNvPr id="28" name="Oval 27"/>
          <p:cNvSpPr/>
          <p:nvPr/>
        </p:nvSpPr>
        <p:spPr>
          <a:xfrm>
            <a:off x="4526280" y="3877055"/>
            <a:ext cx="109728" cy="109728"/>
          </a:xfrm>
          <a:prstGeom prst="ellipse">
            <a:avLst/>
          </a:prstGeom>
          <a:solidFill>
            <a:srgbClr val="38B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64024" y="379475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E4E6E9"/>
                </a:solidFill>
                <a:latin typeface="Arial"/>
              </a:rPr>
              <a:t>User satisfaction</a:t>
            </a:r>
          </a:p>
        </p:txBody>
      </p:sp>
      <p:sp>
        <p:nvSpPr>
          <p:cNvPr id="30" name="Oval 29"/>
          <p:cNvSpPr/>
          <p:nvPr/>
        </p:nvSpPr>
        <p:spPr>
          <a:xfrm>
            <a:off x="4526280" y="4279392"/>
            <a:ext cx="109728" cy="109728"/>
          </a:xfrm>
          <a:prstGeom prst="ellipse">
            <a:avLst/>
          </a:prstGeom>
          <a:solidFill>
            <a:srgbClr val="38B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64024" y="419709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E4E6E9"/>
                </a:solidFill>
                <a:latin typeface="Arial"/>
              </a:rPr>
              <a:t>Reliability</a:t>
            </a:r>
          </a:p>
        </p:txBody>
      </p:sp>
      <p:sp>
        <p:nvSpPr>
          <p:cNvPr id="32" name="Oval 31"/>
          <p:cNvSpPr/>
          <p:nvPr/>
        </p:nvSpPr>
        <p:spPr>
          <a:xfrm>
            <a:off x="4526280" y="4681728"/>
            <a:ext cx="109728" cy="109728"/>
          </a:xfrm>
          <a:prstGeom prst="ellipse">
            <a:avLst/>
          </a:prstGeom>
          <a:solidFill>
            <a:srgbClr val="38B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64024" y="45994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E4E6E9"/>
                </a:solidFill>
                <a:latin typeface="Arial"/>
              </a:rPr>
              <a:t>Accuracy</a:t>
            </a:r>
          </a:p>
        </p:txBody>
      </p:sp>
      <p:sp>
        <p:nvSpPr>
          <p:cNvPr id="34" name="Oval 33"/>
          <p:cNvSpPr/>
          <p:nvPr/>
        </p:nvSpPr>
        <p:spPr>
          <a:xfrm>
            <a:off x="4526280" y="5084064"/>
            <a:ext cx="109728" cy="109728"/>
          </a:xfrm>
          <a:prstGeom prst="ellipse">
            <a:avLst/>
          </a:prstGeom>
          <a:solidFill>
            <a:srgbClr val="38B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64024" y="50017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E4E6E9"/>
                </a:solidFill>
                <a:latin typeface="Arial"/>
              </a:rPr>
              <a:t>Adoption intent</a:t>
            </a:r>
          </a:p>
        </p:txBody>
      </p:sp>
      <p:sp>
        <p:nvSpPr>
          <p:cNvPr id="36" name="Oval 35"/>
          <p:cNvSpPr/>
          <p:nvPr/>
        </p:nvSpPr>
        <p:spPr>
          <a:xfrm>
            <a:off x="4526280" y="5486400"/>
            <a:ext cx="109728" cy="109728"/>
          </a:xfrm>
          <a:prstGeom prst="ellipse">
            <a:avLst/>
          </a:prstGeom>
          <a:solidFill>
            <a:srgbClr val="38B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64024" y="540410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E4E6E9"/>
                </a:solidFill>
                <a:latin typeface="Arial"/>
              </a:rPr>
              <a:t>Integration effort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80" y="297180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45484E"/>
                </a:solidFill>
                <a:latin typeface="Arial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23317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A78AF9"/>
                </a:solidFill>
                <a:latin typeface="Consolas"/>
              </a:rPr>
              <a:t>DURING SCALE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2569463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3666D"/>
                </a:solidFill>
                <a:latin typeface="Consolas"/>
              </a:rPr>
              <a:t>Stage C → D</a:t>
            </a:r>
          </a:p>
        </p:txBody>
      </p:sp>
      <p:sp>
        <p:nvSpPr>
          <p:cNvPr id="41" name="Oval 40"/>
          <p:cNvSpPr/>
          <p:nvPr/>
        </p:nvSpPr>
        <p:spPr>
          <a:xfrm>
            <a:off x="8412480" y="3072384"/>
            <a:ext cx="109728" cy="109728"/>
          </a:xfrm>
          <a:prstGeom prst="ellipse">
            <a:avLst/>
          </a:prstGeom>
          <a:solidFill>
            <a:srgbClr val="A78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50224" y="299008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E4E6E9"/>
                </a:solidFill>
                <a:latin typeface="Arial"/>
              </a:rPr>
              <a:t>Active use</a:t>
            </a:r>
          </a:p>
        </p:txBody>
      </p:sp>
      <p:sp>
        <p:nvSpPr>
          <p:cNvPr id="43" name="Oval 42"/>
          <p:cNvSpPr/>
          <p:nvPr/>
        </p:nvSpPr>
        <p:spPr>
          <a:xfrm>
            <a:off x="8412480" y="3474720"/>
            <a:ext cx="109728" cy="109728"/>
          </a:xfrm>
          <a:prstGeom prst="ellipse">
            <a:avLst/>
          </a:prstGeom>
          <a:solidFill>
            <a:srgbClr val="A78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50224" y="33924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E4E6E9"/>
                </a:solidFill>
                <a:latin typeface="Arial"/>
              </a:rPr>
              <a:t>Cycle-time reduction</a:t>
            </a:r>
          </a:p>
        </p:txBody>
      </p:sp>
      <p:sp>
        <p:nvSpPr>
          <p:cNvPr id="45" name="Oval 44"/>
          <p:cNvSpPr/>
          <p:nvPr/>
        </p:nvSpPr>
        <p:spPr>
          <a:xfrm>
            <a:off x="8412480" y="3877055"/>
            <a:ext cx="109728" cy="109728"/>
          </a:xfrm>
          <a:prstGeom prst="ellipse">
            <a:avLst/>
          </a:prstGeom>
          <a:solidFill>
            <a:srgbClr val="A78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50224" y="379475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E4E6E9"/>
                </a:solidFill>
                <a:latin typeface="Arial"/>
              </a:rPr>
              <a:t>Hours released</a:t>
            </a:r>
          </a:p>
        </p:txBody>
      </p:sp>
      <p:sp>
        <p:nvSpPr>
          <p:cNvPr id="47" name="Oval 46"/>
          <p:cNvSpPr/>
          <p:nvPr/>
        </p:nvSpPr>
        <p:spPr>
          <a:xfrm>
            <a:off x="8412480" y="4279392"/>
            <a:ext cx="109728" cy="109728"/>
          </a:xfrm>
          <a:prstGeom prst="ellipse">
            <a:avLst/>
          </a:prstGeom>
          <a:solidFill>
            <a:srgbClr val="A78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50224" y="419709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E4E6E9"/>
                </a:solidFill>
                <a:latin typeface="Arial"/>
              </a:rPr>
              <a:t>Rework avoided</a:t>
            </a:r>
          </a:p>
        </p:txBody>
      </p:sp>
      <p:sp>
        <p:nvSpPr>
          <p:cNvPr id="49" name="Oval 48"/>
          <p:cNvSpPr/>
          <p:nvPr/>
        </p:nvSpPr>
        <p:spPr>
          <a:xfrm>
            <a:off x="8412480" y="4681728"/>
            <a:ext cx="109728" cy="109728"/>
          </a:xfrm>
          <a:prstGeom prst="ellipse">
            <a:avLst/>
          </a:prstGeom>
          <a:solidFill>
            <a:srgbClr val="A78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50224" y="45994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E4E6E9"/>
                </a:solidFill>
                <a:latin typeface="Arial"/>
              </a:rPr>
              <a:t>Cost avoided</a:t>
            </a:r>
          </a:p>
        </p:txBody>
      </p:sp>
      <p:sp>
        <p:nvSpPr>
          <p:cNvPr id="51" name="Oval 50"/>
          <p:cNvSpPr/>
          <p:nvPr/>
        </p:nvSpPr>
        <p:spPr>
          <a:xfrm>
            <a:off x="8412480" y="5084064"/>
            <a:ext cx="109728" cy="109728"/>
          </a:xfrm>
          <a:prstGeom prst="ellipse">
            <a:avLst/>
          </a:prstGeom>
          <a:solidFill>
            <a:srgbClr val="A78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50224" y="50017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E4E6E9"/>
                </a:solidFill>
                <a:latin typeface="Arial"/>
              </a:rPr>
              <a:t>Regional reuse</a:t>
            </a:r>
          </a:p>
        </p:txBody>
      </p:sp>
      <p:sp>
        <p:nvSpPr>
          <p:cNvPr id="53" name="Oval 52"/>
          <p:cNvSpPr/>
          <p:nvPr/>
        </p:nvSpPr>
        <p:spPr>
          <a:xfrm>
            <a:off x="8412480" y="5486400"/>
            <a:ext cx="109728" cy="109728"/>
          </a:xfrm>
          <a:prstGeom prst="ellipse">
            <a:avLst/>
          </a:prstGeom>
          <a:solidFill>
            <a:srgbClr val="A78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50224" y="540410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E4E6E9"/>
                </a:solidFill>
                <a:latin typeface="Arial"/>
              </a:rPr>
              <a:t>Financial value realized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6510528"/>
            <a:ext cx="182880" cy="100584"/>
          </a:xfrm>
          <a:prstGeom prst="rect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9808" y="643737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300">
                <a:solidFill>
                  <a:srgbClr val="63666D"/>
                </a:solidFill>
                <a:latin typeface="Consolas"/>
              </a:rPr>
              <a:t>DESIGN AMPLIFIED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0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>
                <a:solidFill>
                  <a:srgbClr val="63666D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C5F82A"/>
                </a:solidFill>
                <a:latin typeface="Consolas"/>
              </a:rPr>
              <a:t>OPERATING MODEL · AITO TRANSLATION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4F4F5"/>
                </a:solidFill>
                <a:latin typeface="Arial"/>
              </a:rPr>
              <a:t>The same story, </a:t>
            </a:r>
            <a:r>
              <a:rPr sz="3000" b="1" i="1">
                <a:solidFill>
                  <a:srgbClr val="C5F82A"/>
                </a:solidFill>
                <a:latin typeface="Arial"/>
              </a:rPr>
              <a:t>two lenses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9A9FA6"/>
                </a:solidFill>
                <a:latin typeface="Arial"/>
              </a:rPr>
              <a:t>Every executive question has an operational counterpart. One deck answers both audiences.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2377440" cy="786384"/>
          </a:xfrm>
          <a:prstGeom prst="roundRect">
            <a:avLst>
              <a:gd name="adj" fmla="val 11627"/>
            </a:avLst>
          </a:prstGeom>
          <a:solidFill>
            <a:srgbClr val="12160A"/>
          </a:solidFill>
          <a:ln w="12700">
            <a:solidFill>
              <a:srgbClr val="C5F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23774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C5F82A"/>
                </a:solidFill>
                <a:latin typeface="Arial"/>
              </a:rPr>
              <a:t>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240280"/>
            <a:ext cx="45720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45484E"/>
                </a:solidFill>
                <a:latin typeface="Arial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33172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Portfolio rationale &amp; priority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65176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9A9FA6"/>
                </a:solidFill>
                <a:latin typeface="Arial"/>
              </a:rPr>
              <a:t>What problem is solved, why it matters, why AI is relevant, and why it deserves priority.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3038602"/>
            <a:ext cx="804672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172968"/>
            <a:ext cx="2377440" cy="786384"/>
          </a:xfrm>
          <a:prstGeom prst="roundRect">
            <a:avLst>
              <a:gd name="adj" fmla="val 11627"/>
            </a:avLst>
          </a:prstGeom>
          <a:solidFill>
            <a:srgbClr val="12160A"/>
          </a:solidFill>
          <a:ln w="12700">
            <a:solidFill>
              <a:srgbClr val="C5F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72968"/>
            <a:ext cx="23774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C5F82A"/>
                </a:solidFill>
                <a:latin typeface="Arial"/>
              </a:rPr>
              <a:t>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172968"/>
            <a:ext cx="45720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45484E"/>
                </a:solidFill>
                <a:latin typeface="Arial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264408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Roadmap commitments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584448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9A9FA6"/>
                </a:solidFill>
                <a:latin typeface="Arial"/>
              </a:rPr>
              <a:t>Milestones, owners, dependencies, resources, decision gates, timing, and scope boundaries.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3971290"/>
            <a:ext cx="804672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4105656"/>
            <a:ext cx="2377440" cy="786384"/>
          </a:xfrm>
          <a:prstGeom prst="roundRect">
            <a:avLst>
              <a:gd name="adj" fmla="val 11627"/>
            </a:avLst>
          </a:prstGeom>
          <a:solidFill>
            <a:srgbClr val="12160A"/>
          </a:solidFill>
          <a:ln w="12700">
            <a:solidFill>
              <a:srgbClr val="C5F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05656"/>
            <a:ext cx="23774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C5F82A"/>
                </a:solidFill>
                <a:latin typeface="Arial"/>
              </a:rPr>
              <a:t>Outcomes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105656"/>
            <a:ext cx="45720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45484E"/>
                </a:solidFill>
                <a:latin typeface="Arial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197096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Value &amp; adoption measures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517136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9A9FA6"/>
                </a:solidFill>
                <a:latin typeface="Arial"/>
              </a:rPr>
              <a:t>Operational KPIs, financial outcomes, behavior change, scale &amp; reuse, evidence against the business case.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4903978"/>
            <a:ext cx="804672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5038344"/>
            <a:ext cx="2377440" cy="786384"/>
          </a:xfrm>
          <a:prstGeom prst="roundRect">
            <a:avLst>
              <a:gd name="adj" fmla="val 11627"/>
            </a:avLst>
          </a:prstGeom>
          <a:solidFill>
            <a:srgbClr val="12160A"/>
          </a:solidFill>
          <a:ln w="12700">
            <a:solidFill>
              <a:srgbClr val="C5F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038344"/>
            <a:ext cx="23774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C5F82A"/>
                </a:solidFill>
                <a:latin typeface="Arial"/>
              </a:rPr>
              <a:t>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038344"/>
            <a:ext cx="45720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45484E"/>
                </a:solidFill>
                <a:latin typeface="Arial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5129783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Delivery definition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5449824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9A9FA6"/>
                </a:solidFill>
                <a:latin typeface="Arial"/>
              </a:rPr>
              <a:t>Target users, workflow &amp; data requirements, architecture, governance, regional implications, production support.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510528"/>
            <a:ext cx="182880" cy="100584"/>
          </a:xfrm>
          <a:prstGeom prst="rect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643737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300">
                <a:solidFill>
                  <a:srgbClr val="63666D"/>
                </a:solidFill>
                <a:latin typeface="Consolas"/>
              </a:rPr>
              <a:t>DESIGN AMPLIFIED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>
                <a:solidFill>
                  <a:srgbClr val="63666D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C5F82A"/>
                </a:solidFill>
                <a:latin typeface="Consolas"/>
              </a:rPr>
              <a:t>OPERATING MODEL · HUB LEADER ACCOUNTABILITIES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4F4F5"/>
                </a:solidFill>
                <a:latin typeface="Arial"/>
              </a:rPr>
              <a:t>Four accountabilities, </a:t>
            </a:r>
            <a:r>
              <a:rPr sz="3000" b="1" i="1">
                <a:solidFill>
                  <a:srgbClr val="C5F82A"/>
                </a:solidFill>
                <a:latin typeface="Arial"/>
              </a:rPr>
              <a:t>end to 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358384" cy="2148840"/>
          </a:xfrm>
          <a:prstGeom prst="roundRect">
            <a:avLst>
              <a:gd name="adj" fmla="val 4680"/>
            </a:avLst>
          </a:prstGeom>
          <a:solidFill>
            <a:srgbClr val="141414"/>
          </a:solidFill>
          <a:ln w="13970">
            <a:solidFill>
              <a:srgbClr val="C5F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7" y="1965960"/>
            <a:ext cx="384048" cy="384048"/>
          </a:xfrm>
          <a:prstGeom prst="ellipse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4767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86" b="1" i="0">
                <a:solidFill>
                  <a:srgbClr val="0A0A0A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965960"/>
            <a:ext cx="43525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Own the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560320"/>
            <a:ext cx="480974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9A9FA6"/>
                </a:solidFill>
                <a:latin typeface="Arial"/>
              </a:rPr>
              <a:t>Define the portfolio, connect initiatives to strategy, set prioritization criteria, sequence discovery and delivery, assign owners as roles are staffed, and manage scale-or-stop decisions.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3328" y="1691640"/>
            <a:ext cx="5358384" cy="2148840"/>
          </a:xfrm>
          <a:prstGeom prst="roundRect">
            <a:avLst>
              <a:gd name="adj" fmla="val 4680"/>
            </a:avLst>
          </a:prstGeom>
          <a:solidFill>
            <a:srgbClr val="141414"/>
          </a:solidFill>
          <a:ln w="13970">
            <a:solidFill>
              <a:srgbClr val="38B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45936" y="1965960"/>
            <a:ext cx="384048" cy="384048"/>
          </a:xfrm>
          <a:prstGeom prst="ellipse">
            <a:avLst/>
          </a:prstGeom>
          <a:solidFill>
            <a:srgbClr val="38B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94767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86" b="1" i="0">
                <a:solidFill>
                  <a:srgbClr val="0A0A0A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4576" y="1965960"/>
            <a:ext cx="43525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Deliver measurable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560320"/>
            <a:ext cx="480974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9A9FA6"/>
                </a:solidFill>
                <a:latin typeface="Arial"/>
              </a:rPr>
              <a:t>Measure problem size and readiness in discovery; task time, quality and reliability in pilots; active use, cycle-time and financial value at scale.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358384" cy="2148840"/>
          </a:xfrm>
          <a:prstGeom prst="roundRect">
            <a:avLst>
              <a:gd name="adj" fmla="val 4680"/>
            </a:avLst>
          </a:prstGeom>
          <a:solidFill>
            <a:srgbClr val="141414"/>
          </a:solidFill>
          <a:ln w="13970">
            <a:solidFill>
              <a:srgbClr val="A7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7" y="4297680"/>
            <a:ext cx="384048" cy="384048"/>
          </a:xfrm>
          <a:prstGeom prst="ellipse">
            <a:avLst/>
          </a:prstGeom>
          <a:solidFill>
            <a:srgbClr val="A78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2793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86" b="1" i="0">
                <a:solidFill>
                  <a:srgbClr val="0A0A0A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4297680"/>
            <a:ext cx="43525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Deliver &amp; sustain adoption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892040"/>
            <a:ext cx="480974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9A9FA6"/>
                </a:solidFill>
                <a:latin typeface="Arial"/>
              </a:rPr>
              <a:t>Track activated users, repeat and in-workflow use, proficiency, retention, regional adoption, champion participation, and workflow-outcome improvement.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53328" y="4023360"/>
            <a:ext cx="5358384" cy="2148840"/>
          </a:xfrm>
          <a:prstGeom prst="roundRect">
            <a:avLst>
              <a:gd name="adj" fmla="val 4680"/>
            </a:avLst>
          </a:prstGeom>
          <a:solidFill>
            <a:srgbClr val="141414"/>
          </a:solidFill>
          <a:ln w="13970">
            <a:solidFill>
              <a:srgbClr val="FA9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45936" y="4297680"/>
            <a:ext cx="384048" cy="384048"/>
          </a:xfrm>
          <a:prstGeom prst="ellipse">
            <a:avLst/>
          </a:prstGeom>
          <a:solidFill>
            <a:srgbClr val="FA9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42793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86" b="1" i="0">
                <a:solidFill>
                  <a:srgbClr val="0A0A0A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4297680"/>
            <a:ext cx="43525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Contribute beyond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4892040"/>
            <a:ext cx="480974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9A9FA6"/>
                </a:solidFill>
                <a:latin typeface="Arial"/>
              </a:rPr>
              <a:t>Share review-capture methods, retrieval patterns, ontology, data-certification practices, intake models, adoption playbooks, platform connections, and regional deployment methods.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10528"/>
            <a:ext cx="182880" cy="100584"/>
          </a:xfrm>
          <a:prstGeom prst="rect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643737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300">
                <a:solidFill>
                  <a:srgbClr val="63666D"/>
                </a:solidFill>
                <a:latin typeface="Consolas"/>
              </a:rPr>
              <a:t>DESIGN AMPLIFIED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>
                <a:solidFill>
                  <a:srgbClr val="63666D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C5F82A"/>
                </a:solidFill>
                <a:latin typeface="Consolas"/>
              </a:rPr>
              <a:t>OPERATING MODEL · CAPABILITIES TO DELIVER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4F4F5"/>
                </a:solidFill>
                <a:latin typeface="Arial"/>
              </a:rPr>
              <a:t>The team </a:t>
            </a:r>
            <a:r>
              <a:rPr sz="3000" b="1" i="1">
                <a:solidFill>
                  <a:srgbClr val="C5F82A"/>
                </a:solidFill>
                <a:latin typeface="Arial"/>
              </a:rPr>
              <a:t>behind the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9A9FA6"/>
                </a:solidFill>
                <a:latin typeface="Arial"/>
              </a:rPr>
              <a:t>Eight capability roles, grouped by the function they carry across the portfolio.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270662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C5F82A"/>
                </a:solidFill>
                <a:latin typeface="Consolas"/>
              </a:rPr>
              <a:t>CONNECT &amp; GOVERN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96896"/>
            <a:ext cx="2706624" cy="1783080"/>
          </a:xfrm>
          <a:prstGeom prst="roundRect">
            <a:avLst>
              <a:gd name="adj" fmla="val 5641"/>
            </a:avLst>
          </a:prstGeom>
          <a:solidFill>
            <a:srgbClr val="141414"/>
          </a:solidFill>
          <a:ln w="12700">
            <a:solidFill>
              <a:srgbClr val="C5F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61488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ICT AI Functional 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55263"/>
            <a:ext cx="234086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0" i="0">
                <a:solidFill>
                  <a:srgbClr val="9A9FA6"/>
                </a:solidFill>
                <a:latin typeface="Arial"/>
              </a:rPr>
              <a:t>Connects the portfolio to enterprise architecture, approved platforms, ICT resources, cybersecurity, and production support.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26279"/>
            <a:ext cx="2706624" cy="1783080"/>
          </a:xfrm>
          <a:prstGeom prst="roundRect">
            <a:avLst>
              <a:gd name="adj" fmla="val 5641"/>
            </a:avLst>
          </a:prstGeom>
          <a:solidFill>
            <a:srgbClr val="141414"/>
          </a:solidFill>
          <a:ln w="12700">
            <a:solidFill>
              <a:srgbClr val="C5F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690871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AI Portfolio &amp; Execution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84647"/>
            <a:ext cx="234086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0" i="0">
                <a:solidFill>
                  <a:srgbClr val="9A9FA6"/>
                </a:solidFill>
                <a:latin typeface="Arial"/>
              </a:rPr>
              <a:t>Owns intake, prioritization, stage gates, portfolio &amp; maturity reporting, value tracking, and governance cadence.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286000"/>
            <a:ext cx="270662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38BCF8"/>
                </a:solidFill>
                <a:latin typeface="Consolas"/>
              </a:rPr>
              <a:t>OWN &amp; DEFINE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2596896"/>
            <a:ext cx="2706624" cy="1783080"/>
          </a:xfrm>
          <a:prstGeom prst="roundRect">
            <a:avLst>
              <a:gd name="adj" fmla="val 5641"/>
            </a:avLst>
          </a:prstGeom>
          <a:solidFill>
            <a:srgbClr val="141414"/>
          </a:solidFill>
          <a:ln w="12700">
            <a:solidFill>
              <a:srgbClr val="38B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2761488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AI Product Owners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255263"/>
            <a:ext cx="234086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0" i="0">
                <a:solidFill>
                  <a:srgbClr val="9A9FA6"/>
                </a:solidFill>
                <a:latin typeface="Arial"/>
              </a:rPr>
              <a:t>Own workflow discovery, problem definition, requirements, product roadmaps, pilot definition, adoption logic, and scale recommendations.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4526279"/>
            <a:ext cx="2706624" cy="1783080"/>
          </a:xfrm>
          <a:prstGeom prst="roundRect">
            <a:avLst>
              <a:gd name="adj" fmla="val 5641"/>
            </a:avLst>
          </a:prstGeom>
          <a:solidFill>
            <a:srgbClr val="141414"/>
          </a:solidFill>
          <a:ln w="12700">
            <a:solidFill>
              <a:srgbClr val="38B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4448" y="4690871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AI &amp; Data 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5184647"/>
            <a:ext cx="234086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0" i="0">
                <a:solidFill>
                  <a:srgbClr val="9A9FA6"/>
                </a:solidFill>
                <a:latin typeface="Arial"/>
              </a:rPr>
              <a:t>Owns trusted-data strategy, semantic consistency, ownership standards, certification, traceability, and data readiness.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2286000"/>
            <a:ext cx="270662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A78AF9"/>
                </a:solidFill>
                <a:latin typeface="Consolas"/>
              </a:rPr>
              <a:t>BUILD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4496" y="2596896"/>
            <a:ext cx="2706624" cy="1783080"/>
          </a:xfrm>
          <a:prstGeom prst="roundRect">
            <a:avLst>
              <a:gd name="adj" fmla="val 5641"/>
            </a:avLst>
          </a:prstGeom>
          <a:solidFill>
            <a:srgbClr val="141414"/>
          </a:solidFill>
          <a:ln w="12700">
            <a:solidFill>
              <a:srgbClr val="A7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2761488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AI Engineers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255263"/>
            <a:ext cx="234086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0" i="0">
                <a:solidFill>
                  <a:srgbClr val="9A9FA6"/>
                </a:solidFill>
                <a:latin typeface="Arial"/>
              </a:rPr>
              <a:t>Own prototyping, experimentation, solution engineering, integration, feasibility, reusable components, and deployment-ready assets.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4496" y="4526279"/>
            <a:ext cx="2706624" cy="1783080"/>
          </a:xfrm>
          <a:prstGeom prst="roundRect">
            <a:avLst>
              <a:gd name="adj" fmla="val 5641"/>
            </a:avLst>
          </a:prstGeom>
          <a:solidFill>
            <a:srgbClr val="141414"/>
          </a:solidFill>
          <a:ln w="12700">
            <a:solidFill>
              <a:srgbClr val="A7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4690871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Senior Data Engineers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5184647"/>
            <a:ext cx="234086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0" i="0">
                <a:solidFill>
                  <a:srgbClr val="9A9FA6"/>
                </a:solidFill>
                <a:latin typeface="Arial"/>
              </a:rPr>
              <a:t>Own data models, pipelines, integrations, transformation logic, quality, lineage, and reusable data assets.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7424" y="2286000"/>
            <a:ext cx="270662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50">
                <a:solidFill>
                  <a:srgbClr val="FA923B"/>
                </a:solidFill>
                <a:latin typeface="Consolas"/>
              </a:rPr>
              <a:t>MEASURE &amp; SCALE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07424" y="2596896"/>
            <a:ext cx="2706624" cy="1783080"/>
          </a:xfrm>
          <a:prstGeom prst="roundRect">
            <a:avLst>
              <a:gd name="adj" fmla="val 5641"/>
            </a:avLst>
          </a:prstGeom>
          <a:solidFill>
            <a:srgbClr val="141414"/>
          </a:solidFill>
          <a:ln w="12700">
            <a:solidFill>
              <a:srgbClr val="FA9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3" y="2761488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Data &amp; AI Analyst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3" y="3255263"/>
            <a:ext cx="234086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0" i="0">
                <a:solidFill>
                  <a:srgbClr val="9A9FA6"/>
                </a:solidFill>
                <a:latin typeface="Arial"/>
              </a:rPr>
              <a:t>Owns workflow baselines, adoption metrics, scorecards, business-case assumptions, value tracking, and outcome reporting.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07424" y="4526279"/>
            <a:ext cx="2706624" cy="1783080"/>
          </a:xfrm>
          <a:prstGeom prst="roundRect">
            <a:avLst>
              <a:gd name="adj" fmla="val 5641"/>
            </a:avLst>
          </a:prstGeom>
          <a:solidFill>
            <a:srgbClr val="141414"/>
          </a:solidFill>
          <a:ln w="12700">
            <a:solidFill>
              <a:srgbClr val="FA9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90303" y="4690871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Regional AI &amp; Data Leads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0303" y="5184647"/>
            <a:ext cx="234086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0" i="0">
                <a:solidFill>
                  <a:srgbClr val="9A9FA6"/>
                </a:solidFill>
                <a:latin typeface="Arial"/>
              </a:rPr>
              <a:t>Own local validation, regional priorities, constraints, pilot support, adoption, reuse, and feedback into the global portfolio.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510528"/>
            <a:ext cx="182880" cy="100584"/>
          </a:xfrm>
          <a:prstGeom prst="rect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643737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300">
                <a:solidFill>
                  <a:srgbClr val="63666D"/>
                </a:solidFill>
                <a:latin typeface="Consolas"/>
              </a:rPr>
              <a:t>DESIGN AMPLIFIED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>
                <a:solidFill>
                  <a:srgbClr val="63666D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78333"/>
            <a:ext cx="310896" cy="11430"/>
          </a:xfrm>
          <a:prstGeom prst="rect">
            <a:avLst/>
          </a:prstGeom>
          <a:solidFill>
            <a:srgbClr val="45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1485" y="384048"/>
            <a:ext cx="11430" cy="310896"/>
          </a:xfrm>
          <a:prstGeom prst="rect">
            <a:avLst/>
          </a:prstGeom>
          <a:solidFill>
            <a:srgbClr val="45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20856" y="378333"/>
            <a:ext cx="310896" cy="11430"/>
          </a:xfrm>
          <a:prstGeom prst="rect">
            <a:avLst/>
          </a:prstGeom>
          <a:solidFill>
            <a:srgbClr val="45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26037" y="384048"/>
            <a:ext cx="11430" cy="310896"/>
          </a:xfrm>
          <a:prstGeom prst="rect">
            <a:avLst/>
          </a:prstGeom>
          <a:solidFill>
            <a:srgbClr val="45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468237"/>
            <a:ext cx="310896" cy="11430"/>
          </a:xfrm>
          <a:prstGeom prst="rect">
            <a:avLst/>
          </a:prstGeom>
          <a:solidFill>
            <a:srgbClr val="45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1485" y="6163056"/>
            <a:ext cx="11430" cy="310896"/>
          </a:xfrm>
          <a:prstGeom prst="rect">
            <a:avLst/>
          </a:prstGeom>
          <a:solidFill>
            <a:srgbClr val="45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20856" y="6468237"/>
            <a:ext cx="310896" cy="11430"/>
          </a:xfrm>
          <a:prstGeom prst="rect">
            <a:avLst/>
          </a:prstGeom>
          <a:solidFill>
            <a:srgbClr val="45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6037" y="6163056"/>
            <a:ext cx="11430" cy="310896"/>
          </a:xfrm>
          <a:prstGeom prst="rect">
            <a:avLst/>
          </a:prstGeom>
          <a:solidFill>
            <a:srgbClr val="45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C5F82A"/>
                </a:solidFill>
                <a:latin typeface="Consolas"/>
              </a:rPr>
              <a:t>LEADERSHIP POSITIONING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5156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We are clear about the future we are building and the strategic areas that matter. We are equally clear that several opportunities require </a:t>
            </a:r>
            <a:r>
              <a:rPr sz="2400" b="1" i="0">
                <a:solidFill>
                  <a:srgbClr val="C5F82A"/>
                </a:solidFill>
                <a:latin typeface="Arial"/>
              </a:rPr>
              <a:t>structured discovery</a:t>
            </a:r>
            <a:r>
              <a:rPr sz="2400" b="1" i="0">
                <a:solidFill>
                  <a:srgbClr val="FFFFFF"/>
                </a:solidFill>
                <a:latin typeface="Arial"/>
              </a:rPr>
              <a:t> before the organization commits to a final solution or investment.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08960"/>
            <a:ext cx="2706624" cy="1920240"/>
          </a:xfrm>
          <a:prstGeom prst="roundRect">
            <a:avLst>
              <a:gd name="adj" fmla="val 5238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8096" y="3346704"/>
            <a:ext cx="329184" cy="329184"/>
          </a:xfrm>
          <a:prstGeom prst="ellipse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32841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88" b="1" i="0">
                <a:solidFill>
                  <a:srgbClr val="0A0A0A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822191"/>
            <a:ext cx="23042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Scale where evidence exists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389120"/>
            <a:ext cx="23042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9A9FA6"/>
                </a:solidFill>
                <a:latin typeface="Arial"/>
              </a:rPr>
              <a:t>Expand what already works into repeatable, measurable capability.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1568" y="3108960"/>
            <a:ext cx="2706624" cy="1920240"/>
          </a:xfrm>
          <a:prstGeom prst="roundRect">
            <a:avLst>
              <a:gd name="adj" fmla="val 5238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3346704"/>
            <a:ext cx="329184" cy="329184"/>
          </a:xfrm>
          <a:prstGeom prst="ellipse">
            <a:avLst/>
          </a:prstGeom>
          <a:solidFill>
            <a:srgbClr val="38B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332841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88" b="1" i="0">
                <a:solidFill>
                  <a:srgbClr val="0A0A0A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3822191"/>
            <a:ext cx="23042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Discover with discipline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1024" y="4389120"/>
            <a:ext cx="23042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9A9FA6"/>
                </a:solidFill>
                <a:latin typeface="Arial"/>
              </a:rPr>
              <a:t>Define the problem, data, and solution where the opportunity is strong but unproven.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4496" y="3108960"/>
            <a:ext cx="2706624" cy="1920240"/>
          </a:xfrm>
          <a:prstGeom prst="roundRect">
            <a:avLst>
              <a:gd name="adj" fmla="val 5238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73952" y="3346704"/>
            <a:ext cx="329184" cy="329184"/>
          </a:xfrm>
          <a:prstGeom prst="ellipse">
            <a:avLst/>
          </a:prstGeom>
          <a:solidFill>
            <a:srgbClr val="A78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332841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88" b="1" i="0">
                <a:solidFill>
                  <a:srgbClr val="0A0A0A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822191"/>
            <a:ext cx="23042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Build the foundation incrementally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389120"/>
            <a:ext cx="23042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9A9FA6"/>
                </a:solidFill>
                <a:latin typeface="Arial"/>
              </a:rPr>
              <a:t>Add trusted data and connected capability as validated use cases become available.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07424" y="3108960"/>
            <a:ext cx="2706624" cy="1920240"/>
          </a:xfrm>
          <a:prstGeom prst="roundRect">
            <a:avLst>
              <a:gd name="adj" fmla="val 5238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26880" y="3346704"/>
            <a:ext cx="329184" cy="329184"/>
          </a:xfrm>
          <a:prstGeom prst="ellipse">
            <a:avLst/>
          </a:prstGeom>
          <a:solidFill>
            <a:srgbClr val="FA9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332841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88" b="1" i="0">
                <a:solidFill>
                  <a:srgbClr val="0A0A0A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3822191"/>
            <a:ext cx="23042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Sharpen as evidence grows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4389120"/>
            <a:ext cx="23042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9A9FA6"/>
                </a:solidFill>
                <a:latin typeface="Arial"/>
              </a:rPr>
              <a:t>An intentional model that protects investment, accelerates learning, and directs resources.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This is not uncertainty without direction. </a:t>
            </a:r>
            <a:r>
              <a:rPr sz="1350" b="0" i="1">
                <a:solidFill>
                  <a:srgbClr val="9A9FA6"/>
                </a:solidFill>
                <a:latin typeface="Arial"/>
              </a:rPr>
              <a:t>It is an intentional transformation model — and the roadmap becomes more precise as the team produces better evidence.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510528"/>
            <a:ext cx="182880" cy="100584"/>
          </a:xfrm>
          <a:prstGeom prst="rect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643737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300">
                <a:solidFill>
                  <a:srgbClr val="63666D"/>
                </a:solidFill>
                <a:latin typeface="Consolas"/>
              </a:rPr>
              <a:t>DESIGN AMPLIFIED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>
                <a:solidFill>
                  <a:srgbClr val="63666D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400">
                <a:solidFill>
                  <a:srgbClr val="C5F82A"/>
                </a:solidFill>
                <a:latin typeface="Consolas"/>
              </a:rPr>
              <a:t>APPENDIX · PER-STRATEGY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4F4F5"/>
                </a:solidFill>
                <a:latin typeface="Arial"/>
              </a:rPr>
              <a:t>The same roadmap, </a:t>
            </a:r>
            <a:r>
              <a:rPr sz="3000" b="1" i="1">
                <a:solidFill>
                  <a:srgbClr val="C5F82A"/>
                </a:solidFill>
                <a:latin typeface="Arial"/>
              </a:rPr>
              <a:t>one strategy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9A9FA6"/>
                </a:solidFill>
                <a:latin typeface="Arial"/>
              </a:rPr>
              <a:t>For operational follow-up — the main deck uses the single integrated view. Each strategy reads left-to-right across the horizon.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286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FFFFFF"/>
                </a:solidFill>
                <a:latin typeface="Consolas"/>
              </a:rPr>
              <a:t>A </a:t>
            </a:r>
            <a:r>
              <a:rPr sz="1100" b="0" i="0" spc="100">
                <a:solidFill>
                  <a:srgbClr val="63666D"/>
                </a:solidFill>
                <a:latin typeface="Consolas"/>
              </a:rPr>
              <a:t> ·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2286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FFFFFF"/>
                </a:solidFill>
                <a:latin typeface="Consolas"/>
              </a:rPr>
              <a:t>B </a:t>
            </a:r>
            <a:r>
              <a:rPr sz="1100" b="0" i="0" spc="100">
                <a:solidFill>
                  <a:srgbClr val="63666D"/>
                </a:solidFill>
                <a:latin typeface="Consolas"/>
              </a:rPr>
              <a:t> · 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286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FFFFFF"/>
                </a:solidFill>
                <a:latin typeface="Consolas"/>
              </a:rPr>
              <a:t>C </a:t>
            </a:r>
            <a:r>
              <a:rPr sz="1100" b="0" i="0" spc="100">
                <a:solidFill>
                  <a:srgbClr val="63666D"/>
                </a:solidFill>
                <a:latin typeface="Consolas"/>
              </a:rPr>
              <a:t> · 2–4 YRS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2286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FFFFFF"/>
                </a:solidFill>
                <a:latin typeface="Consolas"/>
              </a:rPr>
              <a:t>D </a:t>
            </a:r>
            <a:r>
              <a:rPr sz="1100" b="0" i="0" spc="100">
                <a:solidFill>
                  <a:srgbClr val="63666D"/>
                </a:solidFill>
                <a:latin typeface="Consolas"/>
              </a:rPr>
              <a:t> · HORIZON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99689"/>
            <a:ext cx="11091672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9923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100">
                <a:solidFill>
                  <a:srgbClr val="C5F82A"/>
                </a:solidFill>
                <a:latin typeface="Consolas"/>
              </a:rPr>
              <a:t>SCALE NOW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31720" y="3108960"/>
            <a:ext cx="9326880" cy="0"/>
          </a:xfrm>
          <a:prstGeom prst="line">
            <a:avLst/>
          </a:prstGeom>
          <a:ln w="15875">
            <a:solidFill>
              <a:srgbClr val="C5F8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190902" y="2935224"/>
            <a:ext cx="1104595" cy="347472"/>
          </a:xfrm>
          <a:prstGeom prst="roundRect">
            <a:avLst>
              <a:gd name="adj" fmla="val 18421"/>
            </a:avLst>
          </a:prstGeom>
          <a:solidFill>
            <a:srgbClr val="1A1A1A"/>
          </a:solidFill>
          <a:ln w="15875">
            <a:solidFill>
              <a:srgbClr val="C5F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0902" y="2935224"/>
            <a:ext cx="110459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Visualization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84517" y="2935224"/>
            <a:ext cx="1044244" cy="347472"/>
          </a:xfrm>
          <a:prstGeom prst="roundRect">
            <a:avLst>
              <a:gd name="adj" fmla="val 18421"/>
            </a:avLst>
          </a:prstGeom>
          <a:solidFill>
            <a:srgbClr val="1A1A1A"/>
          </a:solidFill>
          <a:ln w="15875">
            <a:solidFill>
              <a:srgbClr val="C5F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84517" y="2935224"/>
            <a:ext cx="104424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Global scale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5361" y="2935224"/>
            <a:ext cx="1345996" cy="347472"/>
          </a:xfrm>
          <a:prstGeom prst="roundRect">
            <a:avLst>
              <a:gd name="adj" fmla="val 18421"/>
            </a:avLst>
          </a:prstGeom>
          <a:solidFill>
            <a:srgbClr val="1A1A1A"/>
          </a:solidFill>
          <a:ln w="15875">
            <a:solidFill>
              <a:srgbClr val="C5F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5361" y="2935224"/>
            <a:ext cx="13459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Reused everywhere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09851" y="3493008"/>
            <a:ext cx="1466697" cy="347472"/>
          </a:xfrm>
          <a:prstGeom prst="roundRect">
            <a:avLst>
              <a:gd name="adj" fmla="val 18421"/>
            </a:avLst>
          </a:prstGeom>
          <a:solidFill>
            <a:srgbClr val="1A1A1A"/>
          </a:solidFill>
          <a:ln w="15875">
            <a:solidFill>
              <a:srgbClr val="C5F8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09851" y="3493008"/>
            <a:ext cx="146669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Training &amp; adoption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651250"/>
            <a:ext cx="11091672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50791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100">
                <a:solidFill>
                  <a:srgbClr val="38BCF8"/>
                </a:solidFill>
                <a:latin typeface="Consolas"/>
              </a:rPr>
              <a:t>DEVELOP NEXT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31720" y="4160520"/>
            <a:ext cx="9326880" cy="0"/>
          </a:xfrm>
          <a:prstGeom prst="line">
            <a:avLst/>
          </a:prstGeom>
          <a:ln w="15875">
            <a:solidFill>
              <a:srgbClr val="38BC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040026" y="3986783"/>
            <a:ext cx="1406347" cy="347472"/>
          </a:xfrm>
          <a:prstGeom prst="roundRect">
            <a:avLst>
              <a:gd name="adj" fmla="val 18421"/>
            </a:avLst>
          </a:prstGeom>
          <a:solidFill>
            <a:srgbClr val="090909"/>
          </a:solidFill>
          <a:ln w="15875">
            <a:solidFill>
              <a:srgbClr val="38BCF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40026" y="3986783"/>
            <a:ext cx="140634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38BCF8"/>
                </a:solidFill>
                <a:latin typeface="Arial"/>
              </a:rPr>
              <a:t>Discovery charters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09644" y="3986783"/>
            <a:ext cx="2130552" cy="347472"/>
          </a:xfrm>
          <a:prstGeom prst="roundRect">
            <a:avLst>
              <a:gd name="adj" fmla="val 18421"/>
            </a:avLst>
          </a:prstGeom>
          <a:solidFill>
            <a:srgbClr val="1A1A1A"/>
          </a:solidFill>
          <a:ln w="15875">
            <a:solidFill>
              <a:srgbClr val="38B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09644" y="3986783"/>
            <a:ext cx="213055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Capture · Packaging · Geometry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4342" y="3986783"/>
            <a:ext cx="1104595" cy="347472"/>
          </a:xfrm>
          <a:prstGeom prst="roundRect">
            <a:avLst>
              <a:gd name="adj" fmla="val 18421"/>
            </a:avLst>
          </a:prstGeom>
          <a:solidFill>
            <a:srgbClr val="1A1A1A"/>
          </a:solidFill>
          <a:ln w="15875">
            <a:solidFill>
              <a:srgbClr val="38B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4342" y="3986783"/>
            <a:ext cx="110459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Prove &amp; scale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67113" y="3986783"/>
            <a:ext cx="742492" cy="347472"/>
          </a:xfrm>
          <a:prstGeom prst="roundRect">
            <a:avLst>
              <a:gd name="adj" fmla="val 18421"/>
            </a:avLst>
          </a:prstGeom>
          <a:solidFill>
            <a:srgbClr val="090909"/>
          </a:solidFill>
          <a:ln w="15875">
            <a:solidFill>
              <a:srgbClr val="38BCF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67113" y="3986783"/>
            <a:ext cx="74249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38BCF8"/>
                </a:solidFill>
                <a:latin typeface="Arial"/>
              </a:rPr>
              <a:t>Matures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702810"/>
            <a:ext cx="11091672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1023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100">
                <a:solidFill>
                  <a:srgbClr val="A78AF9"/>
                </a:solidFill>
                <a:latin typeface="Consolas"/>
              </a:rPr>
              <a:t>CONNECT &amp; OPTIMIZE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331720" y="5212080"/>
            <a:ext cx="9326880" cy="0"/>
          </a:xfrm>
          <a:prstGeom prst="line">
            <a:avLst/>
          </a:prstGeom>
          <a:ln w="15875">
            <a:solidFill>
              <a:srgbClr val="A78A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889150" y="5038344"/>
            <a:ext cx="1708099" cy="347472"/>
          </a:xfrm>
          <a:prstGeom prst="roundRect">
            <a:avLst>
              <a:gd name="adj" fmla="val 18421"/>
            </a:avLst>
          </a:prstGeom>
          <a:solidFill>
            <a:srgbClr val="090909"/>
          </a:solidFill>
          <a:ln w="15875">
            <a:solidFill>
              <a:srgbClr val="A78AF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89150" y="5038344"/>
            <a:ext cx="170809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A78AF9"/>
                </a:solidFill>
                <a:latin typeface="Arial"/>
              </a:rPr>
              <a:t>Discovery: BOM · Fabric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09644" y="5038344"/>
            <a:ext cx="2130552" cy="347472"/>
          </a:xfrm>
          <a:prstGeom prst="roundRect">
            <a:avLst>
              <a:gd name="adj" fmla="val 18421"/>
            </a:avLst>
          </a:prstGeom>
          <a:solidFill>
            <a:srgbClr val="1A1A1A"/>
          </a:solidFill>
          <a:ln w="15875">
            <a:solidFill>
              <a:srgbClr val="A7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09644" y="5038344"/>
            <a:ext cx="213055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Design-to-BOM · Initial Fabric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3291" y="5038344"/>
            <a:ext cx="1466697" cy="347472"/>
          </a:xfrm>
          <a:prstGeom prst="roundRect">
            <a:avLst>
              <a:gd name="adj" fmla="val 18421"/>
            </a:avLst>
          </a:prstGeom>
          <a:solidFill>
            <a:srgbClr val="1A1A1A"/>
          </a:solidFill>
          <a:ln w="15875">
            <a:solidFill>
              <a:srgbClr val="A78A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3291" y="5038344"/>
            <a:ext cx="146669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Optimization pilots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5536" y="5038344"/>
            <a:ext cx="1285646" cy="347472"/>
          </a:xfrm>
          <a:prstGeom prst="roundRect">
            <a:avLst>
              <a:gd name="adj" fmla="val 18421"/>
            </a:avLst>
          </a:prstGeom>
          <a:solidFill>
            <a:srgbClr val="1A1A1A"/>
          </a:solidFill>
          <a:ln w="15875">
            <a:solidFill>
              <a:srgbClr val="FA9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95536" y="5038344"/>
            <a:ext cx="128564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A923B"/>
                </a:solidFill>
                <a:latin typeface="Arial"/>
              </a:rPr>
              <a:t>End-state system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 spc="50">
                <a:solidFill>
                  <a:srgbClr val="63666D"/>
                </a:solidFill>
                <a:latin typeface="Consolas"/>
              </a:rPr>
              <a:t>Solid = build / scale · dashed = discovery. The main-deck roadmap overlays all three of these rails into one integrated view.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510528"/>
            <a:ext cx="182880" cy="100584"/>
          </a:xfrm>
          <a:prstGeom prst="rect">
            <a:avLst/>
          </a:prstGeom>
          <a:solidFill>
            <a:srgbClr val="C5F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" y="643737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300">
                <a:solidFill>
                  <a:srgbClr val="63666D"/>
                </a:solidFill>
                <a:latin typeface="Consolas"/>
              </a:rPr>
              <a:t>DESIGN AMPLIFIED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3737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>
                <a:solidFill>
                  <a:srgbClr val="63666D"/>
                </a:solidFill>
                <a:latin typeface="Consolas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