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Open the keynote: every concept on the CES floor is one portfolio telling one story — the rebirth of Chrysler through technology, simplicity, and attainability. Set an aspirational, confident 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Reveal the full portfolio at once. Emphasize breadth — flagship, family, accessible, electric — all unmistakably Chrysler. Each is expanded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Ground the CES story in the brand vision: the single philosophy every concept serves. This is the same idea that opens the Brand Design Vision deck — keep the two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The four pillars carried over from the brand vision. At CES they become the lens for reading every concept and every innovation.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One Portfolio, One Story: deliver one clear idea. Keep the statement short and let the image carry the feeling. This frames the concepts that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Keynote beat 1: 'The Rebirth of Chrysler'. One cinematic idea, one line, one image. Pause here — this is a story moment, not a data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Keynote beat 2: 'Chrysler Is About Technology'. One cinematic idea, one line, one image. Pause here — this is a story moment, not a data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Keynote beat 3: 'Technology Through Simplicity &amp; Affordability'. One cinematic idea, one line, one image. Pause here — this is a story moment, not a data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Keynote beat 4: 'Technology That Removes Complexity'. One cinematic idea, one line, one image. Pause here — this is a story moment, not a data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Why Our Customer Cares: deliver one clear idea. Keep the statement short and let the image carry the feeling. This frames the concepts that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The technology roadmap in one view: six domains across three horizons. The point for the keynote — the maturity curve is what lets us simplify the vehicle, remove complexity, and bring the price down. Each concept draws from a different point on this map. (Confidential — summarized from the 2025 S2 Executive Technology Roadmap; keep detail at this altitude.)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Connect the roadmap to the customer promise: advanced technology is not about adding — it is about removing. Fewer parts, one compute brain, cleaner surfaces, responsible materials. That is how simplicity becomes affordability.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300: open the concept. State its role in the portfolio and the keynote beat it carries (Rebirth of Chrysler).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Chrysler 300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Pinnacle: open the concept. State its role in the portfolio and the keynote beat it carries (Technology through simplicity).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Pinnacle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Peak: open the concept. State its role in the portfolio and the keynote beat it carries (Simpler and more attainable).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Grizzly Peak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C2U: open the concept. State its role in the portfolio and the keynote beat it carries (Simplicity &amp; affordability).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C2U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C2X: open the concept. State its role in the portfolio and the keynote beat it carries (Simplicity &amp; affordability).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C2X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(C5U): open the concept. State its role in the portfolio and the keynote beat it carries (Chrysler is about technology). One confident line — let the hero image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(C5U) — Exterior: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(C5U) — Exterior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(C5U) — Interior: one immersive image, one short caption. Speak to the design intent and the feeling, not the spec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(C5U) — Interior Innovations: highlight three innovations. For each, name it plainly and say how it simplifies the vehicle, removes complexity, or makes the experience more attainable — the through-line of the keynote.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(C5U) ACM: tell the material story — recycled and traceable content, warm tactility, and finishes that read premium through restraint. Keep it about feeling and responsibility, not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839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5993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3557016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FULL-WIDTH HERO — PORTFOLIO KEY VISUAL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383133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all six concepts together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822960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77240" y="4572000"/>
            <a:ext cx="182880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627632" y="450799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· 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07492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A1A1C"/>
                </a:solidFill>
                <a:latin typeface="Arial"/>
              </a:rPr>
              <a:t>Chrysler at 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43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A4E57"/>
                </a:solidFill>
                <a:latin typeface="Arial"/>
              </a:rPr>
              <a:t>Six concepts. One portfolio. One 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 spc="50">
                <a:solidFill>
                  <a:srgbClr val="868B94"/>
                </a:solidFill>
                <a:latin typeface="Arial"/>
              </a:rPr>
              <a:t>Chrysler 300 · Pacifica Pinnacle · Pacifica Grizzly Peak · C2U · C2X · Airflow (C5U)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One Portfolio at 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Six concepts, designed to complement one another and add up to a single Chrysler story.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810000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047744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810000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47744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110740" y="247345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23394" y="257586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2264359" y="269876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076956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51276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Chrysler 300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13504" y="205740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413504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413504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537704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775448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413504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413504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537704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775448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838444" y="247345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51098" y="257586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>
            <a:off x="5992063" y="269876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3504" y="3076956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3504" y="3351276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3504" y="388620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Pacifica Pinnacle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41208" y="205740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141208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141208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265408" y="20574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503152" y="20574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141208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141208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1265408" y="38404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503152" y="36027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566148" y="247345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678802" y="257586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9719767" y="269876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41208" y="3076956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1208" y="3351276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41208" y="388620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Pacifica Grizzly Peak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420624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85800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85800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810000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47744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85800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85800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3810000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047744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85800" y="4896612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5170932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603504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C2U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13504" y="420624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4413504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413504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7537704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775448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13504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413504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7537704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775448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413504" y="4896612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13504" y="5170932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13504" y="603504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C2X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41208" y="4206240"/>
            <a:ext cx="3361944" cy="17830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8141208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141208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11265408" y="4206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1503152" y="4206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141208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8141208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11265408" y="59893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1503152" y="57515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141208" y="4896612"/>
            <a:ext cx="3361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1208" y="5170932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41208" y="6035040"/>
            <a:ext cx="3361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Airflow (C5U)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686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1C"/>
                </a:solidFill>
                <a:latin typeface="Arial"/>
              </a:rPr>
              <a:t>Why Chrysler?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2286000"/>
            <a:ext cx="512064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514600"/>
            <a:ext cx="5212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4A4E57"/>
                </a:solidFill>
                <a:latin typeface="Arial"/>
              </a:rPr>
              <a:t>Chrysler removes friction from everyday life through thoughtful, people-first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93776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B2A4A"/>
                </a:solidFill>
                <a:latin typeface="Arial"/>
              </a:rPr>
              <a:t>Every concept at CES is evidence of this one idea.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BRAND VISION 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DESIGN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The Four Pillars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The principles behind every Chrysler design decision.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37744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2104" y="252374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685800" y="3108960"/>
            <a:ext cx="2430018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3246120"/>
            <a:ext cx="243001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A1A1C"/>
                </a:solidFill>
                <a:latin typeface="Arial"/>
              </a:rPr>
              <a:t>People First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Every decision begins with the people who use it.</a:t>
            </a:r>
          </a:p>
        </p:txBody>
      </p:sp>
      <p:sp>
        <p:nvSpPr>
          <p:cNvPr id="9" name="Oval 8"/>
          <p:cNvSpPr/>
          <p:nvPr/>
        </p:nvSpPr>
        <p:spPr>
          <a:xfrm>
            <a:off x="3481578" y="237744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27882" y="252374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3481578" y="3108960"/>
            <a:ext cx="2430018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81578" y="3246120"/>
            <a:ext cx="243001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A1A1C"/>
                </a:solidFill>
                <a:latin typeface="Arial"/>
              </a:rPr>
              <a:t>Everyday Ingenuity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Thoughtful solutions that make daily life easier.</a:t>
            </a:r>
          </a:p>
        </p:txBody>
      </p:sp>
      <p:sp>
        <p:nvSpPr>
          <p:cNvPr id="13" name="Oval 12"/>
          <p:cNvSpPr/>
          <p:nvPr/>
        </p:nvSpPr>
        <p:spPr>
          <a:xfrm>
            <a:off x="6277356" y="237744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252374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277356" y="3108960"/>
            <a:ext cx="2430018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277356" y="3246120"/>
            <a:ext cx="243001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A1A1C"/>
                </a:solidFill>
                <a:latin typeface="Arial"/>
              </a:rPr>
              <a:t>Human-Centered Intelligence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Technology that quietly supports.</a:t>
            </a:r>
          </a:p>
        </p:txBody>
      </p:sp>
      <p:sp>
        <p:nvSpPr>
          <p:cNvPr id="17" name="Oval 16"/>
          <p:cNvSpPr/>
          <p:nvPr/>
        </p:nvSpPr>
        <p:spPr>
          <a:xfrm>
            <a:off x="9073134" y="237744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19438" y="252374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9073134" y="3108960"/>
            <a:ext cx="2430018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073134" y="3246120"/>
            <a:ext cx="243001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04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A1A1C"/>
                </a:solidFill>
                <a:latin typeface="Arial"/>
              </a:rPr>
              <a:t>Modern American Design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Confident, optimistic, unmistakably Chrysler.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686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THROUGH-LINE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C"/>
                </a:solidFill>
                <a:latin typeface="Arial"/>
              </a:rPr>
              <a:t>One Portfolio, One Story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2606040"/>
            <a:ext cx="512064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78892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A4E57"/>
                </a:solidFill>
                <a:latin typeface="Arial"/>
              </a:rPr>
              <a:t>Six concepts that complement one another — together they tell the rebirth of Chrysler through technology.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41605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42702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123944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They share a philosophy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One design language across every concept.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4910328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5020056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87375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They share a purpose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Technology in service of simplicity.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5660136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57698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6235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They share a story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Each advances the same keynote arc.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SUPPORTING IMAGE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52160" y="0"/>
            <a:ext cx="6336792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85216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5216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1208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88952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5216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85216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1208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88952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64524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77178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918143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557016"/>
            <a:ext cx="6336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BEAT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31336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story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031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KEYNOTE · STORY 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514600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The Rebirth of Chrysler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2976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48056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4E57"/>
                </a:solidFill>
                <a:latin typeface="Arial"/>
              </a:rPr>
              <a:t>A confident return — Chrysler reintroduced through design and intent.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52160" y="0"/>
            <a:ext cx="6336792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85216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5216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1208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88952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5216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85216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1208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88952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64524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77178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918143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557016"/>
            <a:ext cx="6336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BEAT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31336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story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031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KEYNOTE · STORY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514600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Chrysler Is About Technology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2976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48056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4E57"/>
                </a:solidFill>
                <a:latin typeface="Arial"/>
              </a:rPr>
              <a:t>Technology is the core of the brand — the engine of everything we show.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52160" y="0"/>
            <a:ext cx="6336792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85216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5216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1208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88952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5216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85216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1208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88952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64524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77178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918143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557016"/>
            <a:ext cx="6336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BEAT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31336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story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031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KEYNOTE · STORY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514600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Technology Through Simplicity &amp; Affordability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2976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48056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4E57"/>
                </a:solidFill>
                <a:latin typeface="Arial"/>
              </a:rPr>
              <a:t>Advanced technology, made simple and attainable — not complex or exclusive.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52160" y="0"/>
            <a:ext cx="6336792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85216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85216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1208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88952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5216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85216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1208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88952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64524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77178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918143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557016"/>
            <a:ext cx="6336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BEAT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831336"/>
            <a:ext cx="6336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story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031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KEYNOTE · STORY 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514600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Technology That Removes Complexity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2976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48056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4E57"/>
                </a:solidFill>
                <a:latin typeface="Arial"/>
              </a:rPr>
              <a:t>Technology lets us remove things from the vehicle — making it simpler, cleaner, and more attainable.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686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C"/>
                </a:solidFill>
                <a:latin typeface="Arial"/>
              </a:rPr>
              <a:t>Why Our Customer Cares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2606040"/>
            <a:ext cx="512064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78892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A4E57"/>
                </a:solidFill>
                <a:latin typeface="Arial"/>
              </a:rPr>
              <a:t>Features only matter when they make life easier — we lead with the benefit, not the technology.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4160520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42702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123944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Less to manage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Complexity removed, not added.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4910328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5020056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87375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More attainable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Premium experience, accessible price.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5660136"/>
            <a:ext cx="384048" cy="38404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57698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6235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Designed for real life</a:t>
            </a:r>
          </a:p>
          <a:p>
            <a:pPr algn="l"/>
            <a:r>
              <a:rPr sz="1050" b="0" i="0">
                <a:solidFill>
                  <a:srgbClr val="868B94"/>
                </a:solidFill>
                <a:latin typeface="Arial"/>
              </a:rPr>
              <a:t>Technology that quietly serves people.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SUPPORTING IMAGE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TECHNOLOGY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772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The Technology Behind 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4A4E57"/>
                </a:solidFill>
                <a:latin typeface="Arial"/>
              </a:rPr>
              <a:t>Maturing technology is what makes simplicity, affordability, and attainability 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0" y="1874519"/>
            <a:ext cx="2724912" cy="3657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0" y="1874519"/>
            <a:ext cx="27249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 spc="80">
                <a:solidFill>
                  <a:srgbClr val="FFFFFF"/>
                </a:solidFill>
                <a:latin typeface="Arial"/>
              </a:rPr>
              <a:t>NOW  ·  '25–'27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874519"/>
            <a:ext cx="2724912" cy="3657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27249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 spc="80">
                <a:solidFill>
                  <a:srgbClr val="FFFFFF"/>
                </a:solidFill>
                <a:latin typeface="Arial"/>
              </a:rPr>
              <a:t>NEXT  ·  '28–'30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1874519"/>
            <a:ext cx="2724912" cy="3657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1874519"/>
            <a:ext cx="27249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 spc="80">
                <a:solidFill>
                  <a:srgbClr val="FFFFFF"/>
                </a:solidFill>
                <a:latin typeface="Arial"/>
              </a:rPr>
              <a:t>VISION  ·  '31+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295143"/>
            <a:ext cx="2331720" cy="56692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295143"/>
            <a:ext cx="54864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295143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A1A1C"/>
                </a:solidFill>
                <a:latin typeface="Arial"/>
              </a:rPr>
              <a:t>Electrification &amp; Energy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2295143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6976" y="2295143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LFP / NMC packs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2295143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1616" y="2295143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Semi-solid-state packs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2295143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6256" y="2295143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Solid-state, long-life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916935"/>
            <a:ext cx="2331720" cy="56692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2916935"/>
            <a:ext cx="54864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2916935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A1A1C"/>
                </a:solidFill>
                <a:latin typeface="Arial"/>
              </a:rPr>
              <a:t>Efficient Propulsion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2916935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36976" y="2916935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Heat-pump thermal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2916935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71616" y="2916935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AI-designed, high-speed eMotors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78240" y="2916935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06256" y="2916935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Rare-earth-free motors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3538727"/>
            <a:ext cx="2331720" cy="56692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" y="3538727"/>
            <a:ext cx="54864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3538727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A1A1C"/>
                </a:solidFill>
                <a:latin typeface="Arial"/>
              </a:rPr>
              <a:t>Software-Defined Vehicle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08960" y="3538727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6976" y="3538727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5G, domain controllers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3538727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71616" y="3538727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Centralized compute, Fusion SoC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3538727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6" y="3538727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Zero-edge E/E, 6G &amp; satellite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160519"/>
            <a:ext cx="2331720" cy="56692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" y="4160519"/>
            <a:ext cx="54864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4160519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A1A1C"/>
                </a:solidFill>
                <a:latin typeface="Arial"/>
              </a:rPr>
              <a:t>Autonomy &amp; Safety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160519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36976" y="4160519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ADAS L2+ active safety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4160519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71616" y="4160519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L3 hands-off, ODD expansion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0" y="4160519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6" y="4160519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L4 AD-ready (robotaxi)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5800" y="4782311"/>
            <a:ext cx="2331720" cy="56692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" y="4782311"/>
            <a:ext cx="54864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" y="4782311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A1A1C"/>
                </a:solidFill>
                <a:latin typeface="Arial"/>
              </a:rPr>
              <a:t>Simplified Architecture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08960" y="4782311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36976" y="4782311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e-pedal, active aero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4782311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71616" y="4782311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Brake-by-wire, digital mirrors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778240" y="4782311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06256" y="4782311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Steer-by-wire, active susp.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5800" y="5404103"/>
            <a:ext cx="2331720" cy="56692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5800" y="5404103"/>
            <a:ext cx="54864" cy="56692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6968" y="5404103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A1A1C"/>
                </a:solidFill>
                <a:latin typeface="Arial"/>
              </a:rPr>
              <a:t>Cabin &amp; Materials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08960" y="5404103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36976" y="5404103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Integrated displays, recycled trim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0" y="5404103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71616" y="5404103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Hidden/flexible displays, smart seats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78240" y="5404103"/>
            <a:ext cx="2724912" cy="566928"/>
          </a:xfrm>
          <a:prstGeom prst="rect">
            <a:avLst/>
          </a:prstGeom>
          <a:solidFill>
            <a:srgbClr val="EFF1F3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06256" y="5404103"/>
            <a:ext cx="25054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A4E57"/>
                </a:solidFill>
                <a:latin typeface="Arial"/>
              </a:rPr>
              <a:t>AR-HUD, CO₂-neutral, bio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3550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30">
                <a:solidFill>
                  <a:srgbClr val="C8CCD2"/>
                </a:solidFill>
                <a:latin typeface="Arial"/>
              </a:rPr>
              <a:t>Source: Executive Technology Roadmap 2025 S2 (PDT · PSCE · PUR) — horizons summarized for keynote.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TECHNOLOGY · SIMPLICITY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Technology in Service of Simplicity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Technology lets us remove things from the vehicle — making it simpler, cleaner, and more attainable.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2860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2104" y="24323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685800" y="3017520"/>
            <a:ext cx="2430018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3154680"/>
            <a:ext cx="243001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Fewer Parts, By Wire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Steer- and brake-by-wire remove mechanical links — lighter, simpler, safer.</a:t>
            </a:r>
          </a:p>
        </p:txBody>
      </p:sp>
      <p:sp>
        <p:nvSpPr>
          <p:cNvPr id="9" name="Oval 8"/>
          <p:cNvSpPr/>
          <p:nvPr/>
        </p:nvSpPr>
        <p:spPr>
          <a:xfrm>
            <a:off x="3481578" y="22860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27882" y="24323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3481578" y="3017520"/>
            <a:ext cx="2430018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81578" y="3154680"/>
            <a:ext cx="243001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One Brain, Not Many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Centralized compute turns ~80% of ECUs into smart sensors.</a:t>
            </a:r>
          </a:p>
        </p:txBody>
      </p:sp>
      <p:sp>
        <p:nvSpPr>
          <p:cNvPr id="13" name="Oval 12"/>
          <p:cNvSpPr/>
          <p:nvPr/>
        </p:nvSpPr>
        <p:spPr>
          <a:xfrm>
            <a:off x="6277356" y="22860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24323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277356" y="3017520"/>
            <a:ext cx="2430018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277356" y="3154680"/>
            <a:ext cx="243001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Clean, Integrated Surfaces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Flush exteriors, hidden displays, invisible vents — complexity removed.</a:t>
            </a:r>
          </a:p>
        </p:txBody>
      </p:sp>
      <p:sp>
        <p:nvSpPr>
          <p:cNvPr id="17" name="Oval 16"/>
          <p:cNvSpPr/>
          <p:nvPr/>
        </p:nvSpPr>
        <p:spPr>
          <a:xfrm>
            <a:off x="9073134" y="22860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19438" y="24323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9073134" y="3017520"/>
            <a:ext cx="2430018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073134" y="3154680"/>
            <a:ext cx="243001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04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Responsible by Default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Recycled and bio materials, CO₂-neutral seats, low-carbon process.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577840"/>
            <a:ext cx="10817352" cy="59436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7784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1B2A4A"/>
                </a:solidFill>
                <a:latin typeface="Arial"/>
              </a:rPr>
              <a:t>Removing complexity is what makes Chrysler technology attainable.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Chrysler 300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flagship expression of Chrysler design — composed, commanding, never excessive.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Rebirth of Chrysler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300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Chrysler 300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Commanding, composed proportion — presence without excess.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300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Chrysler 300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Commanding Presence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Architectural proportion, balanced and tailored.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Quiet Power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Confidence expressed through restraint.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Timeless Craftsmanship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Authentic American design, refined.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300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Chrysler 300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An interior sanctuary — crafted, composed, human in scale.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300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Chrysler 300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Crafted Sanctuary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Calm materials, composed and human in scale.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Quiet Technology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Intelligence that recedes into the cabin.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Tailored Detail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Restraint expressed through craft.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CHRYSLER 300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Chrysler 300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Pacifica Pinnacle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evolution of the modern family vehicle — flexible, sophisticated, and designed around people.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Technology through simplicity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PINNACLE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Pinnacle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Refined, confident family form — familiar, elevated.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PINNACLE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Pinnacle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Flexible by Design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Space that adapts to every journey.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Sophisticated Comfort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Refined, calm, effortlessly livable.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Technology Around People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Intelligence that serves the family.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PINNACLE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Pinnacle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family sanctuary — flexible, comfortable, designed around people.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PINNACLE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Pinnacle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Serene Lounge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Comfort and control, made simple.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Adaptive Space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Flexible seating for real family life.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Effortless Control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Technology that quietly serves.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PINNACLE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Pacifica Pinnacle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Pacifica Grizzly Peak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Capable family adventure — attainable capability, thoughtfully packaged.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Simpler and more attainable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GRIZZLY PEAK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Grizzly Peak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Rugged, ready stance — capability with restraint.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GRIZZLY PEAK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Grizzly Peak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simplifies or removes complexity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GRIZZLY PEAK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Grizzly Peak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durable, flexible cabin — built for real life.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GRIZZLY PEAK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Pacifica Grizzly Peak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[ Innovation headline ]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[ how it eases everyday use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 GRIZZLY PEAK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Pacifica Grizzly Peak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C2U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A right-sized utility gateway to Chrysler — dependable, practical, and easy on the wallet. For leading-edge Boomers and matures.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Simplicity &amp; affordability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C2U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C2U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Approachable, right-sized utility — confident and uncomplicated.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C2U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C2U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True Affordability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Attainable entry, low cost of ownership.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Functional &amp; Practical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Right-sized utility for everyday life.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Quality &amp; Reliability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Dependable, safe, built to last.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C2U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C2U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dependable, comfortable cabin — everyday ease, thoughtfully priced.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C2U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C2U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Everyday Comfort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Comfortable, safe, easy to live with.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Simple by Design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Intuitive, uncluttered, low-effort.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Low Cost of Ownership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Value that lasts beyond purchase.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C2U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C2U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C2X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gateway that builds early loyalty — right-sized, affordable, and design-led. For Gen Z and Millennials.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Simplicity &amp; affordability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C2X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C2X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Youthful, right-sized utility — modern and attainable.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C2X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C2X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Gateway to Chrysler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A right-sized entry that builds early loyalty.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True Affordability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Attainable from around $24K.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Design-Led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Modern, functional, unmistakably Chrysler.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C2X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C2X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smart, uncluttered cabin — attainable design for a new generation.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C2X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C2X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Made for a New Generation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Practical, connected, easy to live with.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Simple &amp; Smart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Uncluttered, intuitive, everyday-ready.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Dependable Value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Safe, reliable, easy on the wallet.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C2X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C2X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57200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57200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125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38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279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557016"/>
            <a:ext cx="7619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CONCEPT HERO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831336"/>
            <a:ext cx="7619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signature 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85800" y="1463040"/>
            <a:ext cx="164592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444752" y="139903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645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CONCEPT 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0574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A1A1C"/>
                </a:solidFill>
                <a:latin typeface="Arial"/>
              </a:rPr>
              <a:t>Airflow (C5U)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66160"/>
            <a:ext cx="3611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Chrysler's true middle-ground utility — filling the gap between compact SUV and minivan with elevated design, technology, and real affordability.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212080"/>
            <a:ext cx="3200400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3492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 spc="200">
                <a:solidFill>
                  <a:srgbClr val="868B94"/>
                </a:solidFill>
                <a:latin typeface="Arial"/>
              </a:rPr>
              <a:t>STORY</a:t>
            </a:r>
          </a:p>
          <a:p>
            <a:pPr algn="l"/>
            <a:r>
              <a:rPr sz="1200" b="1" i="0">
                <a:solidFill>
                  <a:srgbClr val="1B2A4A"/>
                </a:solidFill>
                <a:latin typeface="Arial"/>
              </a:rPr>
              <a:t>Chrysler is about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 (C5U)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Airflow (C5U) — Exterior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Right-sized, confident utility — the space between compact SUV and minivan, resolved.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 (C5U) · EXTERIOR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Airflow (C5U) — Exterior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Right-Sized Utility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The versatile middle-ground buyers are missing.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Elevated, Affordable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Premium design and technology, within reach.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Core Identity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Reignites what Chrysler stands for.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 (C5U)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Airflow (C5U) —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Designed around people — flexible, calm, effortlessly useful.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 (C5U) · INTERIOR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Airflow (C5U) — Interior Innovations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6400800" cy="42062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848856" y="1691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086600" y="16916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848856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0866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30168" y="33192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42822" y="34216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783787" y="35445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INNOVATION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call out details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69164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85623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Everyday Practicality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Space and comfort for real life.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15468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0" y="315468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331927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Attainable Technology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Meaningful features, low cost of ownership.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617720"/>
            <a:ext cx="4187952" cy="1298448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4617720"/>
            <a:ext cx="54864" cy="12984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4782312"/>
            <a:ext cx="37307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 spc="15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Confident Simplicity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Clean, human-centered, uncomplicated.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 (C5U) · ACM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C"/>
                </a:solidFill>
                <a:latin typeface="Arial"/>
              </a:rPr>
              <a:t>Advanced Color &amp;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4E57"/>
                </a:solidFill>
                <a:latin typeface="Arial"/>
              </a:rPr>
              <a:t>The color, material, and finish story for Airflow (C5U) — warm, responsible, and quietly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868680"/>
            <a:ext cx="5010912" cy="50292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492240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492240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65408" y="868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503152" y="868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49224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41664" y="29077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318" y="30102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8895283" y="31331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1129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MATERIAL MOOD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CMF / trim mood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80360"/>
            <a:ext cx="1051560" cy="1051560"/>
          </a:xfrm>
          <a:prstGeom prst="rect">
            <a:avLst/>
          </a:prstGeom>
          <a:solidFill>
            <a:srgbClr val="B9B4AB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Warm Grey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1952" y="2880360"/>
            <a:ext cx="1051560" cy="1051560"/>
          </a:xfrm>
          <a:prstGeom prst="rect">
            <a:avLst/>
          </a:prstGeom>
          <a:solidFill>
            <a:srgbClr val="1B2A4A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01952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Recycled Slate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18104" y="2880360"/>
            <a:ext cx="1051560" cy="1051560"/>
          </a:xfrm>
          <a:prstGeom prst="rect">
            <a:avLst/>
          </a:prstGeom>
          <a:solidFill>
            <a:srgbClr val="E7E2D8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8104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Natural Linen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4256" y="2880360"/>
            <a:ext cx="1051560" cy="1051560"/>
          </a:xfrm>
          <a:prstGeom prst="rect">
            <a:avLst/>
          </a:prstGeom>
          <a:solidFill>
            <a:srgbClr val="4A4E57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Graphite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50408" y="2880360"/>
            <a:ext cx="1051560" cy="1051560"/>
          </a:xfrm>
          <a:prstGeom prst="rect">
            <a:avLst/>
          </a:prstGeom>
          <a:solidFill>
            <a:srgbClr val="F2F3F4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402336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50">
                <a:solidFill>
                  <a:srgbClr val="868B94"/>
                </a:solidFill>
                <a:latin typeface="Arial"/>
              </a:rPr>
              <a:t>Pearl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8CCD2"/>
                </a:solidFill>
                <a:latin typeface="Arial"/>
              </a:rPr>
              <a:t>Swatches are placeholders — replace with the approved ACM palette and trim samples.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CES CONCEPT PORTFOLIO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