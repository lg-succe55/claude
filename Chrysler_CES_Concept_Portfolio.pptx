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Open the keynote: every concept on the CES floor is one portfolio telling one story — the rebirth of Chrysler through technology, simplicity, and attainability. Set an aspirational, confident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Reveal the full portfolio at once. Emphasize breadth — flagship, family, accessible, electric — all unmistakably Chrysler. Each is expanded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Ground the CES story in the brand vision: the single philosophy every concept serves. This is the same idea that opens the Brand Design Vision deck — keep the two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The four pillars carried over from the brand vision. At CES they become the lens for reading every concept and every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One Portfolio, One Story: deliver one clear idea. Keep the statement short and let the image carry the feeling. This frames the concepts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Keynote beat 1: 'The Rebirth of Chrysler'. One cinematic idea, one line, one image. Pause here — this is a story moment, not a data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Keynote beat 2: 'Chrysler Is About Technology'. One cinematic idea, one line, one image. Pause here — this is a story moment, not a data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Keynote beat 3: 'Technology Through Simplicity &amp; Affordability'. One cinematic idea, one line, one image. Pause here — this is a story moment, not a data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Keynote beat 4: 'Technology That Removes Complexity'. One cinematic idea, one line, one image. Pause here — this is a story moment, not a data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Why Our Customer Cares: deliver one clear idea. Keep the statement short and let the image carry the feeling. This frames the concepts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Tie the design narrative to the technology roadmap: the exterior and interior stories are not styling exercises — they visualize where the technology is heading and when. Plot each concept along Today →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Chrysler 300: open the concept. State its role in the portfolio and the keynote beat it carries (Rebirth of Chrysler). One confident line — let the hero image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Chrysler 300 — Exterior: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Chrysler 300 — Exterior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Chrysler 300 — Interior: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Chrysler 300 — Interior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Chrysler 300 ACM: tell the material story — recycled and traceable content, warm tactility, and finishes that read premium through restraint. Keep it about feeling and responsibility, not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Pinnacle: open the concept. State its role in the portfolio and the keynote beat it carries (Technology through simplicity). One confident line — let the hero image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Pinnacle — Exterior: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Pinnacle — Exterior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Pinnacle — Interior: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Pinnacle — Interior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Pinnacle ACM: tell the material story — recycled and traceable content, warm tactility, and finishes that read premium through restraint. Keep it about feeling and responsibility, not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Grizzly Peak: open the concept. State its role in the portfolio and the keynote beat it carries (Simpler and more attainable). One confident line — let the hero image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Grizzly Peak — Exterior: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Grizzly Peak — Exterior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Grizzly Peak — Interior: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Grizzly Peak — Interior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Pacifica Grizzly Peak ACM: tell the material story — recycled and traceable content, warm tactility, and finishes that read premium through restraint. Keep it about feeling and responsibility, not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C2U: open the concept. State its role in the portfolio and the keynote beat it carries (Simplicity &amp; affordability). One confident line — let the hero image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C2U — Exterior: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C2U — Exterior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C2U — Interior: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C2U — Interior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C2U ACM: tell the material story — recycled and traceable content, warm tactility, and finishes that read premium through restraint. Keep it about feeling and responsibility, not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C2X: open the concept. State its role in the portfolio and the keynote beat it carries (Simplicity &amp; affordability). One confident line — let the hero image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C2X — Exterior: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C2X — Exterior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C2X — Interior: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C2X — Interior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C2X ACM: tell the material story — recycled and traceable content, warm tactility, and finishes that read premium through restraint. Keep it about feeling and responsibility, not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Airflow: open the concept. State its role in the portfolio and the keynote beat it carries (Chrysler is about technology). One confident line — let the hero image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Airflow — Exterior: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Airflow — Exterior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Airflow — Interior: one immersive image, one short caption. Speak to the design intent and the feeling, not the spec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Airflow — Interior Innovations: highlight three innovations. For each, name it plainly and say how it simplifies the vehicle, removes complexity, or makes the experience more attainable — the through-line of the keynote.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(placeholder) — Airflow ACM: tell the material story — recycled and traceable content, warm tactility, and finishes that read premium through restraint. Keep it about feeling and responsibility, not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39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52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993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3557016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FULL-WIDTH HERO — PORTFOLIO KEY VISUAL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831336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all six concepts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160520"/>
            <a:ext cx="822960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77240" y="4572000"/>
            <a:ext cx="182880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627632" y="450799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CHRYSLER · 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749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A1A1C"/>
                </a:solidFill>
                <a:latin typeface="Arial"/>
              </a:rPr>
              <a:t>Chrysler at 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E57"/>
                </a:solidFill>
                <a:latin typeface="Arial"/>
              </a:rPr>
              <a:t>Six concepts. One portfolio. One 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50">
                <a:solidFill>
                  <a:srgbClr val="868B94"/>
                </a:solidFill>
                <a:latin typeface="Arial"/>
              </a:rPr>
              <a:t>Chrysler 300 · Pacifica Pinnacle · Pacifica Grizzly Peak · C2U · C2X ·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C"/>
                </a:solidFill>
                <a:latin typeface="Arial"/>
              </a:rPr>
              <a:t>One Portfolio at 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E57"/>
                </a:solidFill>
                <a:latin typeface="Arial"/>
              </a:rPr>
              <a:t>Six concepts, designed to complement one another and add up to a single Chrysler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3361944" cy="1783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85800" y="20574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205740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810000" y="20574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47744" y="205740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" y="38404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" y="36027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810000" y="38404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47744" y="36027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10740" y="247345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23394" y="257586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2264359" y="269876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76956"/>
            <a:ext cx="3361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51276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C"/>
                </a:solidFill>
                <a:latin typeface="Arial"/>
              </a:rPr>
              <a:t>Chrysler 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3504" y="2057400"/>
            <a:ext cx="3361944" cy="1783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413504" y="20574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13504" y="205740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537704" y="20574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5448" y="205740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13504" y="38404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13504" y="36027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537704" y="38404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75448" y="36027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838444" y="247345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51098" y="257586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5992063" y="269876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3504" y="3076956"/>
            <a:ext cx="3361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3504" y="3351276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3504" y="3886200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C"/>
                </a:solidFill>
                <a:latin typeface="Arial"/>
              </a:rPr>
              <a:t>Pacifica Pinnacle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2057400"/>
            <a:ext cx="3361944" cy="1783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141208" y="20574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141208" y="205740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1265408" y="20574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03152" y="205740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41208" y="38404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141208" y="36027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1265408" y="38404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503152" y="36027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566148" y="247345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78802" y="257586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9719767" y="269876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1208" y="3076956"/>
            <a:ext cx="3361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1208" y="3351276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1208" y="3886200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C"/>
                </a:solidFill>
                <a:latin typeface="Arial"/>
              </a:rPr>
              <a:t>Pacifica Grizzly Peak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4206240"/>
            <a:ext cx="3361944" cy="1783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85800" y="42062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5800" y="42062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810000" y="42062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47744" y="42062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85800" y="5989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85800" y="575157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810000" y="5989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047744" y="575157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896612"/>
            <a:ext cx="3361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170932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6035040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C"/>
                </a:solidFill>
                <a:latin typeface="Arial"/>
              </a:rPr>
              <a:t>C2U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13504" y="4206240"/>
            <a:ext cx="3361944" cy="1783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4413504" y="42062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413504" y="42062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537704" y="42062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775448" y="42062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413504" y="5989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413504" y="575157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537704" y="5989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775448" y="575157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413504" y="4896612"/>
            <a:ext cx="3361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13504" y="5170932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13504" y="6035040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C"/>
                </a:solidFill>
                <a:latin typeface="Arial"/>
              </a:rPr>
              <a:t>C2X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41208" y="4206240"/>
            <a:ext cx="3361944" cy="1783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8141208" y="42062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141208" y="42062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1265408" y="42062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503152" y="42062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141208" y="5989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141208" y="575157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1265408" y="5989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1503152" y="575157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141208" y="4896612"/>
            <a:ext cx="3361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41208" y="5170932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41208" y="6035040"/>
            <a:ext cx="336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C"/>
                </a:solidFill>
                <a:latin typeface="Arial"/>
              </a:rPr>
              <a:t>Airflow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1C"/>
                </a:solidFill>
                <a:latin typeface="Arial"/>
              </a:rPr>
              <a:t>Why Chrysler?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228600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514600"/>
            <a:ext cx="5212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4A4E57"/>
                </a:solidFill>
                <a:latin typeface="Arial"/>
              </a:rPr>
              <a:t>Chrysler removes friction from everyday life through thoughtful, people-first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B2A4A"/>
                </a:solidFill>
                <a:latin typeface="Arial"/>
              </a:rPr>
              <a:t>Every concept at CES is evidence of this one idea.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BRAND VISION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C"/>
                </a:solidFill>
                <a:latin typeface="Arial"/>
              </a:rPr>
              <a:t>The Four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E57"/>
                </a:solidFill>
                <a:latin typeface="Arial"/>
              </a:rPr>
              <a:t>The principles behind every Chrysler design decision.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" y="2523744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85800" y="3108960"/>
            <a:ext cx="2430018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246120"/>
            <a:ext cx="24300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0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A1A1C"/>
                </a:solidFill>
                <a:latin typeface="Arial"/>
              </a:rPr>
              <a:t>People First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68B94"/>
                </a:solidFill>
                <a:latin typeface="Arial"/>
              </a:rPr>
              <a:t>Every decision begins with the people who use it.</a:t>
            </a:r>
          </a:p>
        </p:txBody>
      </p:sp>
      <p:sp>
        <p:nvSpPr>
          <p:cNvPr id="9" name="Oval 8"/>
          <p:cNvSpPr/>
          <p:nvPr/>
        </p:nvSpPr>
        <p:spPr>
          <a:xfrm>
            <a:off x="3481578" y="2377440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7882" y="2523744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481578" y="3108960"/>
            <a:ext cx="2430018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81578" y="3246120"/>
            <a:ext cx="24300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0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A1A1C"/>
                </a:solidFill>
                <a:latin typeface="Arial"/>
              </a:rPr>
              <a:t>Everyday Ingenuity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68B94"/>
                </a:solidFill>
                <a:latin typeface="Arial"/>
              </a:rPr>
              <a:t>Thoughtful solutions that make daily life easier.</a:t>
            </a:r>
          </a:p>
        </p:txBody>
      </p:sp>
      <p:sp>
        <p:nvSpPr>
          <p:cNvPr id="13" name="Oval 12"/>
          <p:cNvSpPr/>
          <p:nvPr/>
        </p:nvSpPr>
        <p:spPr>
          <a:xfrm>
            <a:off x="6277356" y="2377440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2523744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277356" y="3108960"/>
            <a:ext cx="2430018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77356" y="3246120"/>
            <a:ext cx="24300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0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A1A1C"/>
                </a:solidFill>
                <a:latin typeface="Arial"/>
              </a:rPr>
              <a:t>Human-Centered Intelligence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68B94"/>
                </a:solidFill>
                <a:latin typeface="Arial"/>
              </a:rPr>
              <a:t>Technology that quietly supports.</a:t>
            </a:r>
          </a:p>
        </p:txBody>
      </p:sp>
      <p:sp>
        <p:nvSpPr>
          <p:cNvPr id="17" name="Oval 16"/>
          <p:cNvSpPr/>
          <p:nvPr/>
        </p:nvSpPr>
        <p:spPr>
          <a:xfrm>
            <a:off x="9073134" y="2377440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19438" y="2523744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073134" y="3108960"/>
            <a:ext cx="2430018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73134" y="3246120"/>
            <a:ext cx="24300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00">
                <a:solidFill>
                  <a:srgbClr val="A9AEB5"/>
                </a:solidFill>
                <a:latin typeface="Arial"/>
              </a:rPr>
              <a:t>04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A1A1C"/>
                </a:solidFill>
                <a:latin typeface="Arial"/>
              </a:rPr>
              <a:t>Modern American Design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68B94"/>
                </a:solidFill>
                <a:latin typeface="Arial"/>
              </a:rPr>
              <a:t>Confident, optimistic, unmistakably Chrysler.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THE THROUGH-LINE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C"/>
                </a:solidFill>
                <a:latin typeface="Arial"/>
              </a:rPr>
              <a:t>One Portfolio, One 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260604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78892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E57"/>
                </a:solidFill>
                <a:latin typeface="Arial"/>
              </a:rPr>
              <a:t>Six concepts that complement one another — together they tell the rebirth of Chrysler through technology.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4160520"/>
            <a:ext cx="384048" cy="384048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4270248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123944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They share a philosophy</a:t>
            </a:r>
          </a:p>
          <a:p>
            <a:pPr algn="l"/>
            <a:r>
              <a:rPr sz="1050" b="0" i="0">
                <a:solidFill>
                  <a:srgbClr val="868B94"/>
                </a:solidFill>
                <a:latin typeface="Arial"/>
              </a:rPr>
              <a:t>One design language across every concept.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910328"/>
            <a:ext cx="384048" cy="384048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5020056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873752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They share a purpose</a:t>
            </a:r>
          </a:p>
          <a:p>
            <a:pPr algn="l"/>
            <a:r>
              <a:rPr sz="1050" b="0" i="0">
                <a:solidFill>
                  <a:srgbClr val="868B94"/>
                </a:solidFill>
                <a:latin typeface="Arial"/>
              </a:rPr>
              <a:t>Technology in service of simplicity.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5660136"/>
            <a:ext cx="384048" cy="384048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5769864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6235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They share a story</a:t>
            </a:r>
          </a:p>
          <a:p>
            <a:pPr algn="l"/>
            <a:r>
              <a:rPr sz="1050" b="0" i="0">
                <a:solidFill>
                  <a:srgbClr val="868B94"/>
                </a:solidFill>
                <a:latin typeface="Arial"/>
              </a:rPr>
              <a:t>Each advances the same keynote arc.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SUPPORTING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2160" y="0"/>
            <a:ext cx="6336792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5216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5216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1208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88952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5216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85216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1208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88952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64524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7178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8143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557016"/>
            <a:ext cx="6336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BEAT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831336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story visual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031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KEYNOTE · STORY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5146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The Rebirth of Chrysler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2976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48056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4E57"/>
                </a:solidFill>
                <a:latin typeface="Arial"/>
              </a:rPr>
              <a:t>A confident return — Chrysler reintroduced through design and intent.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2160" y="0"/>
            <a:ext cx="6336792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5216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5216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1208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88952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5216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85216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1208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88952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64524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7178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8143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557016"/>
            <a:ext cx="6336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BEAT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831336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story visual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031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KEYNOTE · STORY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5146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Chrysler Is About Technology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2976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48056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4E57"/>
                </a:solidFill>
                <a:latin typeface="Arial"/>
              </a:rPr>
              <a:t>Technology is the core of the brand — the engine of everything we show.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2160" y="0"/>
            <a:ext cx="6336792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5216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5216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1208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88952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5216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85216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1208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88952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64524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7178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8143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557016"/>
            <a:ext cx="6336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BEAT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831336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story visual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031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KEYNOTE · STORY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5146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Technology Through Simplicity &amp; Affordability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2976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48056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4E57"/>
                </a:solidFill>
                <a:latin typeface="Arial"/>
              </a:rPr>
              <a:t>Advanced technology, made simple and attainable — not complex or exclusive.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2160" y="0"/>
            <a:ext cx="6336792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5216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5216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1208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88952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5216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85216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1208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88952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64524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7178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8143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557016"/>
            <a:ext cx="6336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BEAT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831336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story visual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031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KEYNOTE · STORY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5146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Technology That Removes Complexity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2976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48056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4E57"/>
                </a:solidFill>
                <a:latin typeface="Arial"/>
              </a:rPr>
              <a:t>Technology lets us remove things from the vehicle — making it simpler, cleaner, and more attainable.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C"/>
                </a:solidFill>
                <a:latin typeface="Arial"/>
              </a:rPr>
              <a:t>Why Our Customer Cares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260604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78892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E57"/>
                </a:solidFill>
                <a:latin typeface="Arial"/>
              </a:rPr>
              <a:t>Features only matter when they make life easier — we lead with the benefit, not the technology.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4160520"/>
            <a:ext cx="384048" cy="384048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4270248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123944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Less to manage</a:t>
            </a:r>
          </a:p>
          <a:p>
            <a:pPr algn="l"/>
            <a:r>
              <a:rPr sz="1050" b="0" i="0">
                <a:solidFill>
                  <a:srgbClr val="868B94"/>
                </a:solidFill>
                <a:latin typeface="Arial"/>
              </a:rPr>
              <a:t>Complexity removed, not added.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910328"/>
            <a:ext cx="384048" cy="384048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5020056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873752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More attainable</a:t>
            </a:r>
          </a:p>
          <a:p>
            <a:pPr algn="l"/>
            <a:r>
              <a:rPr sz="1050" b="0" i="0">
                <a:solidFill>
                  <a:srgbClr val="868B94"/>
                </a:solidFill>
                <a:latin typeface="Arial"/>
              </a:rPr>
              <a:t>Premium experience, accessible price.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5660136"/>
            <a:ext cx="384048" cy="384048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5769864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6235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Designed for real life</a:t>
            </a:r>
          </a:p>
          <a:p>
            <a:pPr algn="l"/>
            <a:r>
              <a:rPr sz="1050" b="0" i="0">
                <a:solidFill>
                  <a:srgbClr val="868B94"/>
                </a:solidFill>
                <a:latin typeface="Arial"/>
              </a:rPr>
              <a:t>Technology that quietly serves people.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SUPPORTING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STORY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Concept Story Meets Technology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E57"/>
                </a:solidFill>
                <a:latin typeface="Arial"/>
              </a:rPr>
              <a:t>How the exterior and interior story lines up with the technology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330952" cy="15544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85800" y="2011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2011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779008" y="2011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16752" y="2011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" y="356616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" y="332841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779008" y="356616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016752" y="332841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87752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EXTERIOR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6207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5330952" cy="15544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3703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" y="37033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79008" y="37033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16752" y="37033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" y="52578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5800" y="50200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779008" y="52578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16752" y="50200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279392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INTERIOR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5371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3657600"/>
            <a:ext cx="5102352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327648" y="3584448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3063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C"/>
                </a:solidFill>
                <a:latin typeface="Arial"/>
              </a:rPr>
              <a:t>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886200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868B94"/>
                </a:solidFill>
                <a:latin typeface="Arial"/>
              </a:rPr>
              <a:t>[ milestone ]</a:t>
            </a:r>
          </a:p>
        </p:txBody>
      </p:sp>
      <p:sp>
        <p:nvSpPr>
          <p:cNvPr id="31" name="Oval 30"/>
          <p:cNvSpPr/>
          <p:nvPr/>
        </p:nvSpPr>
        <p:spPr>
          <a:xfrm>
            <a:off x="8028432" y="3584448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3063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C"/>
                </a:solidFill>
                <a:latin typeface="Arial"/>
              </a:rPr>
              <a:t>Near-Term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3886200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868B94"/>
                </a:solidFill>
                <a:latin typeface="Arial"/>
              </a:rPr>
              <a:t>[ milestone ]</a:t>
            </a:r>
          </a:p>
        </p:txBody>
      </p:sp>
      <p:sp>
        <p:nvSpPr>
          <p:cNvPr id="34" name="Oval 33"/>
          <p:cNvSpPr/>
          <p:nvPr/>
        </p:nvSpPr>
        <p:spPr>
          <a:xfrm>
            <a:off x="9729216" y="3584448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2288" y="3063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C"/>
                </a:solidFill>
                <a:latin typeface="Arial"/>
              </a:rPr>
              <a:t>Mid-Term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3886200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868B94"/>
                </a:solidFill>
                <a:latin typeface="Arial"/>
              </a:rPr>
              <a:t>[ milestone ]</a:t>
            </a:r>
          </a:p>
        </p:txBody>
      </p:sp>
      <p:sp>
        <p:nvSpPr>
          <p:cNvPr id="37" name="Oval 36"/>
          <p:cNvSpPr/>
          <p:nvPr/>
        </p:nvSpPr>
        <p:spPr>
          <a:xfrm>
            <a:off x="11430000" y="3584448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63072" y="3063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C"/>
                </a:solidFill>
                <a:latin typeface="Arial"/>
              </a:rP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63072" y="3886200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868B94"/>
                </a:solidFill>
                <a:latin typeface="Arial"/>
              </a:rPr>
              <a:t>[ milestone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14884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4E57"/>
                </a:solidFill>
                <a:latin typeface="Arial"/>
              </a:rPr>
              <a:t>Each concept plots against the roadmap — showing how design intent and technology maturity advance together.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25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79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57016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3133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signature 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463040"/>
            <a:ext cx="164592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444752" y="13990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CONCEPT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Chrysler 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flagship expression of Chrysler design — composed, commanding, never excessive.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2120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spc="200">
                <a:solidFill>
                  <a:srgbClr val="868B94"/>
                </a:solidFill>
                <a:latin typeface="Arial"/>
              </a:rPr>
              <a:t>STORY</a:t>
            </a:r>
          </a:p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Rebirth of Chrysler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CHRYSLER 300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Chrysler 300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EXTERIOR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Commanding, composed proportion — presence without excess.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CHRYSLER 300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Chrysler 300 — Exterior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Commanding Presence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Architectural proportion, balanced and tailored.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Quiet Power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Confidence expressed through restraint.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Timeless Craftsmanship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Authentic American design, refined.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CHRYSLER 300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Chrysler 300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INTERIOR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An interior sanctuary — crafted, composed, human in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CHRYSLER 300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Chrysler 300 — Interior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Crafted Sanctuary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Calm materials, composed and human in 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Quiet Technology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Intelligence that recedes into the cabin.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Tailored Detail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Restraint expressed through craft.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CHRYSLER 300 · ACM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Advanced Color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color, material, and finish story for Chrysler 300 — warm, responsible, and quietly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CMF / trim mood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solidFill>
            <a:srgbClr val="B9B4AB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Warm 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2880360"/>
            <a:ext cx="1051560" cy="105156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Recycled Slate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4" y="2880360"/>
            <a:ext cx="1051560" cy="105156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Natural Linen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2880360"/>
            <a:ext cx="1051560" cy="105156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80360"/>
            <a:ext cx="1051560" cy="105156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CCD2"/>
                </a:solidFill>
                <a:latin typeface="Arial"/>
              </a:rPr>
              <a:t>Swatches are placeholders — replace with the approved ACM palette and trim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25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79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57016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3133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signature 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463040"/>
            <a:ext cx="164592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444752" y="13990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CONCEPT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Pacifica Pinnacle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evolution of the modern family vehicle — flexible, sophisticated, and designed around people.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2120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spc="200">
                <a:solidFill>
                  <a:srgbClr val="868B94"/>
                </a:solidFill>
                <a:latin typeface="Arial"/>
              </a:rPr>
              <a:t>STORY</a:t>
            </a:r>
          </a:p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Technology through simplicity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PINNACLE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Pinnacle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EXTERIOR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Refined, confident family form — familiar, elevated.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PINNACLE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Pinnacle — Exterior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Flexible by Design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Space that adapts to every journey.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Sophisticated Comfort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Refined, calm, effortlessly livable.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Technology Around People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Intelligence that serves the family.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PINNACLE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Pinnacle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INTERIOR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A family sanctuary — flexible, comfortable, designed around people.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PINNACLE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Pinnacle — Interior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Serene Lounge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Comfort and control, made simple.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Adaptive Space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Flexible seating for real family life.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Effortless Control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Technology that quietly serves.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PINNACLE · ACM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Advanced Color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color, material, and finish story for Pacifica Pinnacle — warm, responsible, and quietly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CMF / trim mood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solidFill>
            <a:srgbClr val="B9B4AB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Warm 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2880360"/>
            <a:ext cx="1051560" cy="105156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Recycled Slate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4" y="2880360"/>
            <a:ext cx="1051560" cy="105156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Natural Linen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2880360"/>
            <a:ext cx="1051560" cy="105156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80360"/>
            <a:ext cx="1051560" cy="105156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CCD2"/>
                </a:solidFill>
                <a:latin typeface="Arial"/>
              </a:rPr>
              <a:t>Swatches are placeholders — replace with the approved ACM palette and trim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25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79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57016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3133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signature 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463040"/>
            <a:ext cx="164592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444752" y="13990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CONCEPT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Pacifica Grizzly Peak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Capable family adventure — attainable capability, thoughtfully packaged.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2120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spc="200">
                <a:solidFill>
                  <a:srgbClr val="868B94"/>
                </a:solidFill>
                <a:latin typeface="Arial"/>
              </a:rPr>
              <a:t>STORY</a:t>
            </a:r>
          </a:p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Simpler and more attainable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GRIZZLY PEAK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Grizzly Peak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EXTERIOR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Rugged, ready stance — capability with restraint.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GRIZZLY PEAK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Grizzly Peak — Exterior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GRIZZLY PEAK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Grizzly Peak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INTERIOR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A durable, flexible cabin — built for real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GRIZZLY PEAK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Pacifica Grizzly Peak — Interior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PACIFICA GRIZZLY PEAK · ACM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Advanced Color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color, material, and finish story for Pacifica Grizzly Peak — warm, responsible, and quietly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CMF / trim mood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solidFill>
            <a:srgbClr val="B9B4AB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Warm 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2880360"/>
            <a:ext cx="1051560" cy="105156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Recycled Slate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4" y="2880360"/>
            <a:ext cx="1051560" cy="105156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Natural Linen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2880360"/>
            <a:ext cx="1051560" cy="105156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80360"/>
            <a:ext cx="1051560" cy="105156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CCD2"/>
                </a:solidFill>
                <a:latin typeface="Arial"/>
              </a:rPr>
              <a:t>Swatches are placeholders — replace with the approved ACM palette and trim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25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79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57016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3133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signature 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463040"/>
            <a:ext cx="164592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444752" y="13990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CONCEPT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C2U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[ Concept role placeholder ] — accessible, urban, and design-led.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2120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spc="200">
                <a:solidFill>
                  <a:srgbClr val="868B94"/>
                </a:solidFill>
                <a:latin typeface="Arial"/>
              </a:rPr>
              <a:t>STORY</a:t>
            </a:r>
          </a:p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Simplicity &amp; affordability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C2U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C2U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EXTERIOR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Compact, confident urban form — approachable design.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C2U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C2U — Exterior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C2U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C2U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INTERIOR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A smart, uncluttered cabin — attainable by design.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C2U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C2U — Interior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C2U · ACM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Advanced Color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color, material, and finish story for C2U — warm, responsible, and quietly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CMF / trim mood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solidFill>
            <a:srgbClr val="B9B4AB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Warm 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2880360"/>
            <a:ext cx="1051560" cy="105156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Recycled Slate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4" y="2880360"/>
            <a:ext cx="1051560" cy="105156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Natural Linen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2880360"/>
            <a:ext cx="1051560" cy="105156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80360"/>
            <a:ext cx="1051560" cy="105156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CCD2"/>
                </a:solidFill>
                <a:latin typeface="Arial"/>
              </a:rPr>
              <a:t>Swatches are placeholders — replace with the approved ACM palette and trim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25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79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57016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3133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signature 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463040"/>
            <a:ext cx="164592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444752" y="13990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CONCEPT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C2X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[ Concept role placeholder ] — versatile, attainable, and modern.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2120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spc="200">
                <a:solidFill>
                  <a:srgbClr val="868B94"/>
                </a:solidFill>
                <a:latin typeface="Arial"/>
              </a:rPr>
              <a:t>STORY</a:t>
            </a:r>
          </a:p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Simplicity &amp; affordability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C2X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C2X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EXTERIOR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Versatile crossover form — capable and clean.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C2X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C2X — Exterior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simplifies or removes complexity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C2X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C2X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INTERIOR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A flexible, thoughtful interior — space made simple.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C2X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C2X — Interior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[ Innovation headline ]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[ how it eases everyday use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C2X · ACM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Advanced Color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color, material, and finish story for C2X — warm, responsible, and quietly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CMF / trim mood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solidFill>
            <a:srgbClr val="B9B4AB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Warm 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2880360"/>
            <a:ext cx="1051560" cy="105156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Recycled Slate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4" y="2880360"/>
            <a:ext cx="1051560" cy="105156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Natural Linen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2880360"/>
            <a:ext cx="1051560" cy="105156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80360"/>
            <a:ext cx="1051560" cy="105156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CCD2"/>
                </a:solidFill>
                <a:latin typeface="Arial"/>
              </a:rPr>
              <a:t>Swatches are placeholders — replace with the approved ACM palette and trim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53951" y="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53951" y="685800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2025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25815" y="29535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38469" y="30559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79434" y="31788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57016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CONCEPT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31336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signature 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463040"/>
            <a:ext cx="164592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444752" y="13990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CONCEPT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C"/>
                </a:solidFill>
                <a:latin typeface="Arial"/>
              </a:rPr>
              <a:t>Airflow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Airflow introduces Chrysler's philosophy: innovative practicality, designed around people.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21208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spc="200">
                <a:solidFill>
                  <a:srgbClr val="868B94"/>
                </a:solidFill>
                <a:latin typeface="Arial"/>
              </a:rPr>
              <a:t>STORY</a:t>
            </a:r>
          </a:p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Chrysler is about 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AIRFLOW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Airflow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EXTERIOR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Aerodynamic, future-forward silhouette — technology as 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AIRFLOW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Airflow — Exterior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Spacious &amp; Adaptive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Versatile space for everyday life.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Technology With Purpose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Intelligence that serves, then disappears.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Confident Simplicity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Clean, logical, human-centered form.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AIRFLOW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Airflow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2519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65408" y="164592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4592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38444" y="329641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51098" y="339882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92063" y="352172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99916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LARGE INTERIOR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423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50">
                <a:solidFill>
                  <a:srgbClr val="868B94"/>
                </a:solidFill>
                <a:latin typeface="Arial"/>
              </a:rPr>
              <a:t>Designed around people — flexible, calm, effortlessly useful.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AIRFLOW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Airflow — Interior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6400800" cy="42062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48856" y="169164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69164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48856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8660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0168" y="331927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2822" y="342168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83787" y="354458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INNOVATION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call out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5623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Calm &amp; Connected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An intelligent cabin that stays quiet.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5468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31927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Effortless Interface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Technology that recedes into use.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617720"/>
            <a:ext cx="4187952" cy="1298448"/>
          </a:xfrm>
          <a:prstGeom prst="rect">
            <a:avLst/>
          </a:prstGeom>
          <a:solidFill>
            <a:srgbClr val="F7F8F9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54864" cy="12984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782312"/>
            <a:ext cx="3730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spc="150">
                <a:solidFill>
                  <a:srgbClr val="A9AEB5"/>
                </a:solidFill>
                <a:latin typeface="Arial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C"/>
                </a:solidFill>
                <a:latin typeface="Arial"/>
              </a:rPr>
              <a:t>Human-Centered Space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68B94"/>
                </a:solidFill>
                <a:latin typeface="Arial"/>
              </a:rPr>
              <a:t>Designed around people, not features.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B2A4A"/>
                </a:solidFill>
                <a:latin typeface="Arial"/>
              </a:rPr>
              <a:t>AIRFLOW · ACM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C"/>
                </a:solidFill>
                <a:latin typeface="Arial"/>
              </a:rPr>
              <a:t>Advanced Color &amp;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E57"/>
                </a:solidFill>
                <a:latin typeface="Arial"/>
              </a:rPr>
              <a:t>The color, material, and finish story for Airflow — warm, responsible, and quietly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10912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265408" y="8686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3152" y="868680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265408" y="5897880"/>
            <a:ext cx="237744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03152" y="5660136"/>
            <a:ext cx="0" cy="237744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1664" y="2907792"/>
            <a:ext cx="512064" cy="512064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4318" y="3010204"/>
            <a:ext cx="100584" cy="100584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895283" y="3133100"/>
            <a:ext cx="274320" cy="164592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11296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20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80">
                <a:solidFill>
                  <a:srgbClr val="C8CCD2"/>
                </a:solidFill>
                <a:latin typeface="Arial"/>
              </a:rPr>
              <a:t>Replace · CMF / trim mood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solidFill>
            <a:srgbClr val="B9B4AB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Warm 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2880360"/>
            <a:ext cx="1051560" cy="105156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Recycled Slate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4" y="2880360"/>
            <a:ext cx="1051560" cy="105156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Natural Linen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2880360"/>
            <a:ext cx="1051560" cy="105156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2880360"/>
            <a:ext cx="1051560" cy="105156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40233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CCD2"/>
                </a:solidFill>
                <a:latin typeface="Arial"/>
              </a:rPr>
              <a:t>Swatches are placeholders — replace with the approved ACM palette and trim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868B94"/>
                </a:solidFill>
                <a:latin typeface="Arial"/>
              </a:rPr>
              <a:t>CHRYSLER  ·  CES CONCEPT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68B94"/>
                </a:solidFill>
                <a:latin typeface="Arial"/>
              </a:rPr>
              <a:t>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